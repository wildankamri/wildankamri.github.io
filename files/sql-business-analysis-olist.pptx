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omments/comment2.xml" ContentType="application/vnd.openxmlformats-officedocument.presentationml.comment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dan Khoirul Amri" initials="WK" lastIdx="2" clrIdx="0">
    <p:extLst>
      <p:ext uri="{19B8F6BF-5375-455C-9EA6-DF929625EA0E}">
        <p15:presenceInfo xmlns:p15="http://schemas.microsoft.com/office/powerpoint/2012/main" userId="8c8890b7a4b0a95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2F0"/>
    <a:srgbClr val="9E90DA"/>
    <a:srgbClr val="90C3DA"/>
    <a:srgbClr val="1C3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ID" sz="1200" b="1" i="0" u="none" strike="noStrike" baseline="0" dirty="0"/>
              <a:t>Item </a:t>
            </a:r>
            <a:r>
              <a:rPr lang="en-ID" sz="1200" b="1" i="0" u="none" strike="noStrike" baseline="0" dirty="0" err="1"/>
              <a:t>dengan</a:t>
            </a:r>
            <a:r>
              <a:rPr lang="en-ID" sz="1200" b="1" i="0" u="none" strike="noStrike" baseline="0" dirty="0"/>
              <a:t> exception </a:t>
            </a:r>
            <a:r>
              <a:rPr lang="en-ID" sz="1200" b="1" i="0" u="none" strike="noStrike" baseline="0" dirty="0" err="1"/>
              <a:t>kategori</a:t>
            </a:r>
            <a:endParaRPr lang="en-ID" sz="1200" dirty="0"/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Item</c:v>
                </c:pt>
              </c:strCache>
            </c:strRef>
          </c:tx>
          <c:spPr>
            <a:solidFill>
              <a:srgbClr val="DC8537"/>
            </a:solidFill>
            <a:ln>
              <a:solidFill>
                <a:srgbClr val="DC8537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Kategori belum diterjemahkan</c:v>
                </c:pt>
                <c:pt idx="1">
                  <c:v>Tanpa kategori produk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22</c:v>
                </c:pt>
                <c:pt idx="1">
                  <c:v>1537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C853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268-4A88-A104-43F3C03CC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AE1E8"/>
              </a:solidFill>
            </a:ln>
          </c:spPr>
        </c:majorGridlines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200" b="1" i="0" u="none" strike="noStrike" baseline="0" dirty="0" err="1"/>
              <a:t>Perbandingan</a:t>
            </a:r>
            <a:r>
              <a:rPr lang="en-ID" sz="1200" b="1" i="0" u="none" strike="noStrike" baseline="0" dirty="0"/>
              <a:t> Revenue Produk dan Volume Item </a:t>
            </a:r>
            <a:r>
              <a:rPr lang="en-ID" sz="1200" b="1" i="0" u="none" strike="noStrike" baseline="0" dirty="0" err="1"/>
              <a:t>Bulanan</a:t>
            </a:r>
            <a:endParaRPr lang="en-ID" sz="12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product_revenue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Sheet1!$A$2:$A$24</c:f>
              <c:strCache>
                <c:ptCount val="23"/>
                <c:pt idx="0">
                  <c:v>2016-09</c:v>
                </c:pt>
                <c:pt idx="1">
                  <c:v>2016-10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134.97</c:v>
                </c:pt>
                <c:pt idx="1">
                  <c:v>40325.11</c:v>
                </c:pt>
                <c:pt idx="2">
                  <c:v>10.9</c:v>
                </c:pt>
                <c:pt idx="3">
                  <c:v>111798.36</c:v>
                </c:pt>
                <c:pt idx="4">
                  <c:v>234223.4</c:v>
                </c:pt>
                <c:pt idx="5">
                  <c:v>359198.85</c:v>
                </c:pt>
                <c:pt idx="6">
                  <c:v>340669.68</c:v>
                </c:pt>
                <c:pt idx="7">
                  <c:v>489338.25</c:v>
                </c:pt>
                <c:pt idx="8">
                  <c:v>421923.37</c:v>
                </c:pt>
                <c:pt idx="9">
                  <c:v>481604.52</c:v>
                </c:pt>
                <c:pt idx="10">
                  <c:v>554699.69999999995</c:v>
                </c:pt>
                <c:pt idx="11">
                  <c:v>607399.67000000004</c:v>
                </c:pt>
                <c:pt idx="12">
                  <c:v>648247.65</c:v>
                </c:pt>
                <c:pt idx="13">
                  <c:v>987765.37</c:v>
                </c:pt>
                <c:pt idx="14">
                  <c:v>726033.19</c:v>
                </c:pt>
                <c:pt idx="15">
                  <c:v>924645</c:v>
                </c:pt>
                <c:pt idx="16">
                  <c:v>826437.13</c:v>
                </c:pt>
                <c:pt idx="17">
                  <c:v>953356.25</c:v>
                </c:pt>
                <c:pt idx="18">
                  <c:v>973534.09</c:v>
                </c:pt>
                <c:pt idx="19">
                  <c:v>977544.69</c:v>
                </c:pt>
                <c:pt idx="20">
                  <c:v>856077.86</c:v>
                </c:pt>
                <c:pt idx="21">
                  <c:v>867953.46</c:v>
                </c:pt>
                <c:pt idx="22">
                  <c:v>838576.64000000001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DB-4DB5-A58F-6A06FC666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28867663"/>
        <c:axId val="228860463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total_items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2016-09</c:v>
                </c:pt>
                <c:pt idx="1">
                  <c:v>2016-10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3</c:v>
                </c:pt>
                <c:pt idx="1">
                  <c:v>313</c:v>
                </c:pt>
                <c:pt idx="2">
                  <c:v>1</c:v>
                </c:pt>
                <c:pt idx="3">
                  <c:v>913</c:v>
                </c:pt>
                <c:pt idx="4">
                  <c:v>1858</c:v>
                </c:pt>
                <c:pt idx="5">
                  <c:v>2897</c:v>
                </c:pt>
                <c:pt idx="6">
                  <c:v>2569</c:v>
                </c:pt>
                <c:pt idx="7">
                  <c:v>4004</c:v>
                </c:pt>
                <c:pt idx="8">
                  <c:v>3489</c:v>
                </c:pt>
                <c:pt idx="9">
                  <c:v>4416</c:v>
                </c:pt>
                <c:pt idx="10">
                  <c:v>4797</c:v>
                </c:pt>
                <c:pt idx="11">
                  <c:v>4737</c:v>
                </c:pt>
                <c:pt idx="12">
                  <c:v>5214</c:v>
                </c:pt>
                <c:pt idx="13">
                  <c:v>8475</c:v>
                </c:pt>
                <c:pt idx="14">
                  <c:v>6187</c:v>
                </c:pt>
                <c:pt idx="15">
                  <c:v>8037</c:v>
                </c:pt>
                <c:pt idx="16">
                  <c:v>7518</c:v>
                </c:pt>
                <c:pt idx="17">
                  <c:v>8017</c:v>
                </c:pt>
                <c:pt idx="18">
                  <c:v>7827</c:v>
                </c:pt>
                <c:pt idx="19">
                  <c:v>7810</c:v>
                </c:pt>
                <c:pt idx="20">
                  <c:v>7010</c:v>
                </c:pt>
                <c:pt idx="21">
                  <c:v>6963</c:v>
                </c:pt>
                <c:pt idx="22">
                  <c:v>7142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DB-4DB5-A58F-6A06FC666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0814063"/>
        <c:axId val="270813103"/>
      </c:lineChart>
      <c:valAx>
        <c:axId val="27081310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 sz="1000" b="0" i="0" u="none" strike="noStrike" baseline="0" dirty="0" err="1"/>
                  <a:t>Jumlah</a:t>
                </a:r>
                <a:r>
                  <a:rPr lang="en-ID" sz="1000" b="0" i="0" u="none" strike="noStrike" baseline="0" dirty="0"/>
                  <a:t> item</a:t>
                </a:r>
                <a:endParaRPr lang="en-ID" sz="10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814063"/>
        <c:crosses val="max"/>
        <c:crossBetween val="between"/>
      </c:valAx>
      <c:catAx>
        <c:axId val="27081406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813103"/>
        <c:crosses val="autoZero"/>
        <c:auto val="1"/>
        <c:lblAlgn val="ctr"/>
        <c:lblOffset val="100"/>
        <c:noMultiLvlLbl val="0"/>
      </c:catAx>
      <c:valAx>
        <c:axId val="22886046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 sz="1000" b="0" i="0" u="none" strike="noStrike" baseline="0" dirty="0"/>
                  <a:t>Revenue </a:t>
                </a:r>
                <a:r>
                  <a:rPr lang="en-ID" sz="1000" b="0" i="0" u="none" strike="noStrike" baseline="0" dirty="0" err="1"/>
                  <a:t>produk</a:t>
                </a:r>
                <a:r>
                  <a:rPr lang="en-ID" sz="1000" b="0" i="0" u="none" strike="noStrike" baseline="0" dirty="0"/>
                  <a:t> (R$)</a:t>
                </a:r>
                <a:endParaRPr lang="en-ID" sz="10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8867663"/>
        <c:crossBetween val="between"/>
      </c:valAx>
      <c:catAx>
        <c:axId val="2288676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28860463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100" b="1" i="0" u="none" strike="noStrike" baseline="0" dirty="0"/>
              <a:t>Top 15 </a:t>
            </a:r>
            <a:r>
              <a:rPr lang="en-ID" sz="1100" b="1" i="0" u="none" strike="noStrike" baseline="0" dirty="0" err="1"/>
              <a:t>Kategori</a:t>
            </a:r>
            <a:r>
              <a:rPr lang="en-ID" sz="1100" b="1" i="0" u="none" strike="noStrike" baseline="0" dirty="0"/>
              <a:t> Produk </a:t>
            </a:r>
            <a:r>
              <a:rPr lang="en-ID" sz="1100" b="1" i="0" u="none" strike="noStrike" baseline="0" dirty="0" err="1"/>
              <a:t>Berdasarkan</a:t>
            </a:r>
            <a:r>
              <a:rPr lang="en-ID" sz="1100" b="1" i="0" u="none" strike="noStrike" baseline="0" dirty="0"/>
              <a:t> Revenue</a:t>
            </a:r>
            <a:endParaRPr lang="en-ID" sz="11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office_furniture</c:v>
                </c:pt>
                <c:pt idx="1">
                  <c:v>telephony</c:v>
                </c:pt>
                <c:pt idx="2">
                  <c:v>perfumery</c:v>
                </c:pt>
                <c:pt idx="3">
                  <c:v>baby</c:v>
                </c:pt>
                <c:pt idx="4">
                  <c:v>garden_tools</c:v>
                </c:pt>
                <c:pt idx="5">
                  <c:v>toys</c:v>
                </c:pt>
                <c:pt idx="6">
                  <c:v>auto</c:v>
                </c:pt>
                <c:pt idx="7">
                  <c:v>cool_stuff</c:v>
                </c:pt>
                <c:pt idx="8">
                  <c:v>housewares</c:v>
                </c:pt>
                <c:pt idx="9">
                  <c:v>furniture_decor</c:v>
                </c:pt>
                <c:pt idx="10">
                  <c:v>computers_accessories</c:v>
                </c:pt>
                <c:pt idx="11">
                  <c:v>sports_leisure</c:v>
                </c:pt>
                <c:pt idx="12">
                  <c:v>bed_bath_table</c:v>
                </c:pt>
                <c:pt idx="13">
                  <c:v>watches_gifts</c:v>
                </c:pt>
                <c:pt idx="14">
                  <c:v>health_beauty</c:v>
                </c:pt>
              </c:strCache>
            </c:strRef>
          </c:cat>
          <c:val>
            <c:numRef>
              <c:f>Sheet1!$B$2:$B$16</c:f>
              <c:numCache>
                <c:formatCode>#,##0.00</c:formatCode>
                <c:ptCount val="15"/>
                <c:pt idx="0">
                  <c:v>268154.31</c:v>
                </c:pt>
                <c:pt idx="1">
                  <c:v>309860.23</c:v>
                </c:pt>
                <c:pt idx="2">
                  <c:v>390144.65</c:v>
                </c:pt>
                <c:pt idx="3">
                  <c:v>400421.84</c:v>
                </c:pt>
                <c:pt idx="4">
                  <c:v>470495.28</c:v>
                </c:pt>
                <c:pt idx="5">
                  <c:v>471286.48</c:v>
                </c:pt>
                <c:pt idx="6">
                  <c:v>578966.65</c:v>
                </c:pt>
                <c:pt idx="7">
                  <c:v>610204.1</c:v>
                </c:pt>
                <c:pt idx="8">
                  <c:v>615628.68999999994</c:v>
                </c:pt>
                <c:pt idx="9">
                  <c:v>711927.69</c:v>
                </c:pt>
                <c:pt idx="10">
                  <c:v>888724.61</c:v>
                </c:pt>
                <c:pt idx="11">
                  <c:v>954852.55</c:v>
                </c:pt>
                <c:pt idx="12">
                  <c:v>1023434.76</c:v>
                </c:pt>
                <c:pt idx="13">
                  <c:v>1166176.98</c:v>
                </c:pt>
                <c:pt idx="14">
                  <c:v>1233131.72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F0-44A2-8922-B885693F8C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64043167"/>
        <c:axId val="264063327"/>
      </c:barChart>
      <c:catAx>
        <c:axId val="26404316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 sz="1100" dirty="0" err="1"/>
                  <a:t>Kategori</a:t>
                </a:r>
                <a:endParaRPr lang="en-ID" sz="11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D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4063327"/>
        <c:crosses val="autoZero"/>
        <c:auto val="1"/>
        <c:lblAlgn val="ctr"/>
        <c:lblOffset val="100"/>
        <c:noMultiLvlLbl val="0"/>
      </c:catAx>
      <c:valAx>
        <c:axId val="26406332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 sz="1100" b="0" i="0" u="none" strike="noStrike" baseline="0" dirty="0"/>
                  <a:t>Revenue Produk (R$)</a:t>
                </a:r>
                <a:endParaRPr lang="en-ID" sz="11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D"/>
            </a:p>
          </c:txPr>
        </c:title>
        <c:numFmt formatCode="#,##0.00" sourceLinked="1"/>
        <c:majorTickMark val="out"/>
        <c:minorTickMark val="none"/>
        <c:tickLblPos val="nextTo"/>
        <c:crossAx val="264043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>
                <a:latin typeface="Aptos"/>
              </a:defRPr>
            </a:pPr>
            <a:r>
              <a:rPr lang="en-ID" sz="1200" b="1" i="0" u="none" strike="noStrike" baseline="0" dirty="0" err="1"/>
              <a:t>Komposisi</a:t>
            </a:r>
            <a:r>
              <a:rPr lang="en-ID" sz="1200" b="1" i="0" u="none" strike="noStrike" baseline="0" dirty="0"/>
              <a:t> </a:t>
            </a:r>
            <a:r>
              <a:rPr lang="en-ID" sz="1200" b="1" i="0" u="none" strike="noStrike" baseline="0" dirty="0" err="1"/>
              <a:t>Pelanggan</a:t>
            </a:r>
            <a:r>
              <a:rPr lang="en-ID" sz="1200" b="1" i="0" u="none" strike="noStrike" baseline="0" dirty="0"/>
              <a:t> </a:t>
            </a:r>
            <a:r>
              <a:rPr lang="en-ID" sz="1200" b="1" i="0" u="none" strike="noStrike" baseline="0" dirty="0" err="1"/>
              <a:t>Berdasarkan</a:t>
            </a:r>
            <a:r>
              <a:rPr lang="en-ID" sz="1200" b="1" i="0" u="none" strike="noStrike" baseline="0" dirty="0"/>
              <a:t> </a:t>
            </a:r>
            <a:r>
              <a:rPr lang="en-ID" sz="1200" b="1" i="0" u="none" strike="noStrike" baseline="0" dirty="0" err="1"/>
              <a:t>Frekuensi</a:t>
            </a:r>
            <a:r>
              <a:rPr lang="en-ID" sz="1200" b="1" i="0" u="none" strike="noStrike" baseline="0" dirty="0"/>
              <a:t> </a:t>
            </a:r>
            <a:r>
              <a:rPr lang="en-ID" sz="1200" b="1" i="0" u="none" strike="noStrike" baseline="0" dirty="0" err="1"/>
              <a:t>Pesanan</a:t>
            </a:r>
            <a:endParaRPr lang="en-ID" dirty="0"/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dLbls>
            <c:dLbl>
              <c:idx val="0"/>
              <c:layout>
                <c:manualLayout>
                  <c:x val="0.20759193357058126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66C-4C01-BB7B-82C9C6495F06}"/>
                </c:ext>
              </c:extLst>
            </c:dLbl>
            <c:dLbl>
              <c:idx val="1"/>
              <c:layout>
                <c:manualLayout>
                  <c:x val="0.18287860814551207"/>
                  <c:y val="-3.3333333333333361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66C-4C01-BB7B-82C9C6495F06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Pembeli satu kali</c:v>
                </c:pt>
                <c:pt idx="1">
                  <c:v>Pembeli berulang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90549</c:v>
                </c:pt>
                <c:pt idx="1">
                  <c:v>2801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67-4BAD-9A04-F73055333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>
                <a:latin typeface="Aptos"/>
              </a:defRPr>
            </a:pPr>
            <a:r>
              <a:rPr lang="en-ID" sz="1200" b="1" i="0" u="none" strike="noStrike" baseline="0" dirty="0"/>
              <a:t>Status </a:t>
            </a:r>
            <a:r>
              <a:rPr lang="en-ID" sz="1200" b="1" i="0" u="none" strike="noStrike" baseline="0" dirty="0" err="1"/>
              <a:t>Ketepatan</a:t>
            </a:r>
            <a:r>
              <a:rPr lang="en-ID" sz="1200" b="1" i="0" u="none" strike="noStrike" baseline="0" dirty="0"/>
              <a:t> Waktu </a:t>
            </a:r>
            <a:r>
              <a:rPr lang="en-ID" sz="1200" b="1" i="0" u="none" strike="noStrike" baseline="0" dirty="0" err="1"/>
              <a:t>Pengiriman</a:t>
            </a:r>
            <a:endParaRPr lang="en-ID" dirty="0"/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</c:v>
                </c:pt>
              </c:strCache>
            </c:strRef>
          </c:tx>
          <c:dLbls>
            <c:dLbl>
              <c:idx val="0"/>
              <c:layout>
                <c:manualLayout>
                  <c:x val="0.24456521739130435"/>
                  <c:y val="3.8888888888888785E-2"/>
                </c:manualLayout>
              </c:layout>
              <c:numFmt formatCode="0.00%" sourceLinked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100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34E-4D31-8F0E-64EE34FDA7BA}"/>
                </c:ext>
              </c:extLst>
            </c:dLbl>
            <c:dLbl>
              <c:idx val="1"/>
              <c:layout>
                <c:manualLayout>
                  <c:x val="0.28079710144927539"/>
                  <c:y val="-2.7777777777777828E-2"/>
                </c:manualLayout>
              </c:layout>
              <c:numFmt formatCode="0.00%" sourceLinked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100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34E-4D31-8F0E-64EE34FDA7B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Tepat waktu</c:v>
                </c:pt>
                <c:pt idx="1">
                  <c:v>Terlambat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88644</c:v>
                </c:pt>
                <c:pt idx="1">
                  <c:v>7826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34-46F6-B7D3-D7B1A8D63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3T20:16:17.742" idx="1">
    <p:pos x="2680" y="1067"/>
    <p:text>WITH monthly_sales AS (
    SELECT
        DATE_TRUNC('month', o.order_purchase_timestamp)::date AS sales_month,
        COUNT(DISTINCT o.order_id) AS total_orders,
        SUM(i.price::numeric) AS product_revenue
    FROM staging.orders_raw o
    JOIN staging.order_items_raw i
        ON o.order_id = i.order_id
    WHERE o.order_status = 'delivered'
      AND o.order_purchase_timestamp IS NOT NULL
    GROUP BY 1
),
month_calendar AS (
    SELECT GENERATE_SERIES(
        (SELECT MIN(sales_month) FROM monthly_sales),
        (SELECT MAX(sales_month) FROM monthly_sales),
        INTERVAL '1 month'
    )::date AS sales_month
),
complete_monthly_sales AS (
    SELECT
        c.sales_month,
        COALESCE(m.total_orders, 0) AS total_orders,
        COALESCE(m.product_revenue, 0) AS product_revenue
    FROM month_calendar c
    LEFT JOIN monthly_sales m
        ON c.sales_month = m.sales_month
),
monthly_comparison AS (
    SELECT
        TO_CHAR(sales_month, 'YYYY-MM') AS sales_month,
        total_orders,
        product_revenue,
        LAG(total_orders) OVER (ORDER BY sales_month) AS previous_month_orders,
        LAG(product_revenue) OVER (ORDER BY sales_month) AS previous_month_revenue
    FROM complete_monthly_sales
)
SELECT
    sales_month,
    total_orders,
    ROUND(product_revenue, 2) AS product_revenue,
    previous_month_orders,
    ROUND(previous_month_revenue, 2) AS previous_month_revenue,
    ROUND(
        (product_revenue - previous_month_revenue) * 100.0
        / NULLIF(previous_month_revenue, 0),
        2
    ) AS revenue_growth_pct,
    ROUND(
        (total_orders - previous_month_orders)::numeric * 100
        / NULLIF(previous_month_orders, 0),
        2
    ) AS order_growth_pct
FROM monthly_comparison
ORDER BY sales_month;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3T21:55:58.404" idx="2">
    <p:pos x="4818" y="968"/>
    <p:text>WITH category_revenue AS (
    SELECT
        COALESCE(
            t.product_category_name_english,
            p.product_category_name,
            'Unknown / Unclassified'
        ) AS product_category,
        SUM(i.price::numeric) AS product_revenue
    FROM staging.orders_raw o
    JOIN staging.order_items_raw i
        ON o.order_id = i.order_id
    LEFT JOIN staging.products_raw p
        ON i.product_id = p.product_id
    LEFT JOIN staging.category_translation_raw t
        ON p.product_category_name = t.product_category_name
    WHERE o.order_status = 'delivered'
    GROUP BY 1
),
baseline AS (
    SELECT SUM(i.price::numeric) AS product_revenue
    FROM staging.orders_raw o
    JOIN staging.order_items_raw i
        ON o.order_id = i.order_id
    WHERE o.order_status = 'delivered'
)
SELECT
    COUNT(*) AS total_categories,
    ROUND(SUM(c.product_revenue), 2) AS total_category_revenue,
    ROUND(SUM(c.product_revenue) - MAX(b.product_revenue), 2) AS difference_from_baseline,
    ROUND(SUM(c.product_revenue) FILTER (
        WHERE c.product_category = 'Unknown / Unclassified'
    ), 2) AS unknown_category_revenue
FROM category_revenue c
CROSS JOIN baseline b;</p:text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5F960-90BA-4C0A-9EE5-69D5DDC54DFB}" type="datetimeFigureOut">
              <a:rPr lang="en-ID" smtClean="0"/>
              <a:t>24/10/2026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C08BC-4CF2-411D-B698-5DB028105B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641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C08BC-4CF2-411D-B698-5DB028105B3F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27814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olistbr/brazilian-ecommerce?resource=download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1C3048"/>
          </a:solidFill>
          <a:ln>
            <a:solidFill>
              <a:srgbClr val="1C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6217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68A1"/>
                </a:solidFill>
                <a:latin typeface="Aptos"/>
              </a:rPr>
              <a:t>PORTFOLIO PROJECT  / 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676656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C3048"/>
                </a:solidFill>
                <a:latin typeface="Aptos"/>
              </a:rPr>
              <a:t>SQL Business
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65836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D3641"/>
                </a:solidFill>
                <a:latin typeface="Aptos"/>
              </a:rPr>
              <a:t>Analisis transaksi e-commerce Olist
untuk insight penjualan, pelanggan, dan pengiriman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62179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636E7A"/>
                </a:solidFill>
                <a:latin typeface="Aptos"/>
              </a:rPr>
              <a:t>Wildan </a:t>
            </a:r>
            <a:r>
              <a:rPr lang="en-US" sz="1200" b="1" i="0" dirty="0">
                <a:solidFill>
                  <a:srgbClr val="636E7A"/>
                </a:solidFill>
                <a:latin typeface="Aptos"/>
              </a:rPr>
              <a:t>Khoirul </a:t>
            </a:r>
            <a:r>
              <a:rPr sz="1200" b="1" i="0" dirty="0">
                <a:solidFill>
                  <a:srgbClr val="636E7A"/>
                </a:solidFill>
                <a:latin typeface="Aptos"/>
              </a:rPr>
              <a:t>Amri  •  Data Analyst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914400"/>
            <a:ext cx="30175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DATA → QUERY → INSIGHT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94192" y="1645920"/>
            <a:ext cx="3200400" cy="749808"/>
          </a:xfrm>
          <a:prstGeom prst="roundRect">
            <a:avLst>
              <a:gd name="adj" fmla="val 8000"/>
            </a:avLst>
          </a:prstGeom>
          <a:solidFill>
            <a:srgbClr val="273F59"/>
          </a:solidFill>
          <a:ln>
            <a:solidFill>
              <a:srgbClr val="415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7072" y="1755648"/>
            <a:ext cx="548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ED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3736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011680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9"/>
                </a:solidFill>
                <a:latin typeface="Aptos"/>
              </a:rPr>
              <a:t>Validasi data &amp; relasi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2697480"/>
            <a:ext cx="3200400" cy="749808"/>
          </a:xfrm>
          <a:prstGeom prst="roundRect">
            <a:avLst>
              <a:gd name="adj" fmla="val 8000"/>
            </a:avLst>
          </a:prstGeom>
          <a:solidFill>
            <a:srgbClr val="273F59"/>
          </a:solidFill>
          <a:ln>
            <a:solidFill>
              <a:srgbClr val="415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77072" y="2807208"/>
            <a:ext cx="548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ED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78892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063240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9"/>
                </a:solidFill>
                <a:latin typeface="Aptos"/>
              </a:rPr>
              <a:t>Tren dan pertumbuhan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3749039"/>
            <a:ext cx="3200400" cy="749808"/>
          </a:xfrm>
          <a:prstGeom prst="roundRect">
            <a:avLst>
              <a:gd name="adj" fmla="val 8000"/>
            </a:avLst>
          </a:prstGeom>
          <a:solidFill>
            <a:srgbClr val="273F59"/>
          </a:solidFill>
          <a:ln>
            <a:solidFill>
              <a:srgbClr val="415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7072" y="3858768"/>
            <a:ext cx="548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ED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840479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14800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9"/>
                </a:solidFill>
                <a:latin typeface="Aptos"/>
              </a:rPr>
              <a:t>Segmentasi &amp; wilayah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94192" y="4800600"/>
            <a:ext cx="3200400" cy="749808"/>
          </a:xfrm>
          <a:prstGeom prst="roundRect">
            <a:avLst>
              <a:gd name="adj" fmla="val 8000"/>
            </a:avLst>
          </a:prstGeom>
          <a:solidFill>
            <a:srgbClr val="273F59"/>
          </a:solidFill>
          <a:ln>
            <a:solidFill>
              <a:srgbClr val="415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4910328"/>
            <a:ext cx="548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BED7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89204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166360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8E1E9"/>
                </a:solidFill>
                <a:latin typeface="Aptos"/>
              </a:rPr>
              <a:t>KPI ketepatan waktu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98932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8E1E9"/>
                </a:solidFill>
                <a:latin typeface="Aptos"/>
              </a:rPr>
              <a:t>PostgreSQL  |  Retail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KONTEKS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3048"/>
                </a:solidFill>
                <a:latin typeface="Aptos"/>
              </a:rPr>
              <a:t>Dari data transaksi ke pertanyaan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Analisis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transaksi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Olist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memahami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tren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revenue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kontribusi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pembelian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berulang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ketepatan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pengiriman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383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68A1"/>
                </a:solidFill>
                <a:latin typeface="Aptos"/>
              </a:rPr>
              <a:t>PERTANYAAN BISNIS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3291840" cy="210519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6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Bagaimana</a:t>
            </a:r>
            <a:r>
              <a:rPr dirty="0"/>
              <a:t> </a:t>
            </a:r>
            <a:r>
              <a:rPr dirty="0" err="1"/>
              <a:t>tren</a:t>
            </a:r>
            <a:r>
              <a:rPr dirty="0"/>
              <a:t> </a:t>
            </a:r>
            <a:r>
              <a:rPr dirty="0" err="1"/>
              <a:t>penjualan</a:t>
            </a:r>
            <a:r>
              <a:rPr dirty="0"/>
              <a:t> </a:t>
            </a:r>
            <a:r>
              <a:rPr dirty="0" err="1"/>
              <a:t>produk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?</a:t>
            </a:r>
          </a:p>
          <a:p>
            <a:pPr>
              <a:spcAft>
                <a:spcPts val="800"/>
              </a:spcAft>
              <a:defRPr sz="1400">
                <a:solidFill>
                  <a:srgbClr val="2D3641"/>
                </a:solidFill>
                <a:latin typeface="Aptos"/>
              </a:defRPr>
            </a:pPr>
            <a:r>
              <a:rPr dirty="0"/>
              <a:t>•  </a:t>
            </a:r>
            <a:r>
              <a:rPr lang="en-US" noProof="1"/>
              <a:t>Kategori apa yang berkontribusi besar terhadap revenue produk?</a:t>
            </a:r>
          </a:p>
          <a:p>
            <a:pPr>
              <a:spcAft>
                <a:spcPts val="800"/>
              </a:spcAft>
              <a:defRPr sz="1400">
                <a:solidFill>
                  <a:srgbClr val="2D36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Seberapa</a:t>
            </a:r>
            <a:r>
              <a:rPr dirty="0"/>
              <a:t>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indikasi</a:t>
            </a:r>
            <a:r>
              <a:rPr dirty="0"/>
              <a:t> </a:t>
            </a:r>
            <a:r>
              <a:rPr dirty="0" err="1"/>
              <a:t>pembelian</a:t>
            </a:r>
            <a:r>
              <a:rPr dirty="0"/>
              <a:t> </a:t>
            </a:r>
            <a:r>
              <a:rPr dirty="0" err="1"/>
              <a:t>berulang</a:t>
            </a:r>
            <a:r>
              <a:rPr dirty="0"/>
              <a:t>?</a:t>
            </a:r>
          </a:p>
          <a:p>
            <a:pPr>
              <a:spcAft>
                <a:spcPts val="800"/>
              </a:spcAft>
              <a:defRPr sz="1400">
                <a:solidFill>
                  <a:srgbClr val="2D36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Bagaimana</a:t>
            </a:r>
            <a:r>
              <a:rPr dirty="0"/>
              <a:t> </a:t>
            </a:r>
            <a:r>
              <a:rPr dirty="0" err="1"/>
              <a:t>performa</a:t>
            </a:r>
            <a:r>
              <a:rPr dirty="0"/>
              <a:t> </a:t>
            </a:r>
            <a:r>
              <a:rPr dirty="0" err="1"/>
              <a:t>pengiriman</a:t>
            </a:r>
            <a:r>
              <a:rPr dirty="0"/>
              <a:t> </a:t>
            </a:r>
            <a:r>
              <a:rPr dirty="0" err="1"/>
              <a:t>terhadap</a:t>
            </a:r>
            <a:r>
              <a:rPr dirty="0"/>
              <a:t> </a:t>
            </a:r>
            <a:r>
              <a:rPr dirty="0" err="1"/>
              <a:t>estimasi</a:t>
            </a:r>
            <a:r>
              <a:rPr dirty="0"/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240280"/>
            <a:ext cx="1508760" cy="1234440"/>
          </a:xfrm>
          <a:prstGeom prst="roundRect">
            <a:avLst>
              <a:gd name="adj" fmla="val 8000"/>
            </a:avLst>
          </a:prstGeom>
          <a:solidFill>
            <a:srgbClr val="E7EFF8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487168"/>
            <a:ext cx="1325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3048"/>
                </a:solidFill>
                <a:latin typeface="Aptos"/>
              </a:rPr>
              <a:t>Raw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907792"/>
            <a:ext cx="1325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36E7A"/>
                </a:solidFill>
                <a:latin typeface="Aptos"/>
              </a:rPr>
              <a:t>9 tabel sumber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26700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C853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40280"/>
            <a:ext cx="1508760" cy="1234440"/>
          </a:xfrm>
          <a:prstGeom prst="roundRect">
            <a:avLst>
              <a:gd name="adj" fmla="val 8000"/>
            </a:avLst>
          </a:prstGeom>
          <a:solidFill>
            <a:srgbClr val="E7EFF8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487168"/>
            <a:ext cx="1325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3048"/>
                </a:solidFill>
                <a:latin typeface="Aptos"/>
              </a:rPr>
              <a:t>SQL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07792"/>
            <a:ext cx="1325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36E7A"/>
                </a:solidFill>
                <a:latin typeface="Aptos"/>
              </a:rPr>
              <a:t>JOIN • CTE • window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6700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C853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240280"/>
            <a:ext cx="1508760" cy="1234440"/>
          </a:xfrm>
          <a:prstGeom prst="roundRect">
            <a:avLst>
              <a:gd name="adj" fmla="val 8000"/>
            </a:avLst>
          </a:prstGeom>
          <a:solidFill>
            <a:srgbClr val="E7EFF8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2487168"/>
            <a:ext cx="1325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3048"/>
                </a:solidFill>
                <a:latin typeface="Aptos"/>
              </a:rPr>
              <a:t>Validated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1325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36E7A"/>
                </a:solidFill>
                <a:latin typeface="Aptos"/>
              </a:rPr>
              <a:t>Tabel dan 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6700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C853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240280"/>
            <a:ext cx="1508760" cy="1234440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2487168"/>
            <a:ext cx="1325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3048"/>
                </a:solidFill>
                <a:latin typeface="Aptos"/>
              </a:rPr>
              <a:t>Business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907792"/>
            <a:ext cx="1325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36E7A"/>
                </a:solidFill>
                <a:latin typeface="Aptos"/>
              </a:rPr>
              <a:t>Temuan + batasan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4069080"/>
            <a:ext cx="7132320" cy="1040802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4" y="4178808"/>
            <a:ext cx="6858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dirty="0" err="1">
                <a:solidFill>
                  <a:srgbClr val="1F7E80"/>
                </a:solidFill>
                <a:latin typeface="Aptos"/>
              </a:rPr>
              <a:t>Fokus</a:t>
            </a:r>
            <a:r>
              <a:rPr sz="1200" b="1" i="0" dirty="0">
                <a:solidFill>
                  <a:srgbClr val="1F7E80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7E80"/>
                </a:solidFill>
                <a:latin typeface="Aptos"/>
              </a:rPr>
              <a:t>analisis</a:t>
            </a:r>
            <a:endParaRPr sz="1200" b="1" i="0" dirty="0">
              <a:solidFill>
                <a:srgbClr val="1F7E8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43984" y="4462272"/>
            <a:ext cx="6858000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noProof="1">
                <a:solidFill>
                  <a:srgbClr val="2D3641"/>
                </a:solidFill>
                <a:latin typeface="Aptos"/>
              </a:rPr>
              <a:t>Revenue dihitung dari harga item pada pesanan berstatus delivered. Analisis pelanggan dan pengiriman menggunakan populasi sesuai ketersediaan data dan definisi metrik masing-masing. Hasil agregasi divalidasi melalui pemeriksaan kualitas data dan rekonsiliasi.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3048"/>
                </a:solidFill>
                <a:latin typeface="Aptos"/>
              </a:rPr>
              <a:t>Sembilan tabel sumber, dengan peran berbeda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Database: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retail_analytics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(PostgreSQL) • Schema: staging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025217"/>
              </p:ext>
            </p:extLst>
          </p:nvPr>
        </p:nvGraphicFramePr>
        <p:xfrm>
          <a:off x="621792" y="1627632"/>
          <a:ext cx="109270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Tabel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Peran analitis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/ atribut penting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orders_raw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Header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dan status </a:t>
                      </a:r>
                      <a:r>
                        <a:rPr lang="en-ID" dirty="0" err="1"/>
                        <a:t>transaksi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order_id, customer_id, status, timestamp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order_items_raw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sv-SE" dirty="0"/>
                        <a:t>Detail produk dalam setiap pesanan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order_id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order_item_id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product_id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seller_id</a:t>
                      </a:r>
                      <a:r>
                        <a:rPr lang="en-US" dirty="0"/>
                        <a:t>, price, </a:t>
                      </a:r>
                      <a:r>
                        <a:rPr lang="en-US" dirty="0" err="1"/>
                        <a:t>freight_value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customers_raw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noProof="1"/>
                        <a:t>Identitas dan lokasi pelanggan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 err="1"/>
                        <a:t>customer_id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customer_unique_id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customer_state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products_raw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Atribut dan </a:t>
                      </a:r>
                      <a:r>
                        <a:rPr lang="en-ID" dirty="0" err="1"/>
                        <a:t>kategori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produk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product_id, product_category_name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sellers_raw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noProof="1"/>
                        <a:t>Identitas dan lokasi penjual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seller_id, seller_state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order_payments_raw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Rincian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metode</a:t>
                      </a:r>
                      <a:r>
                        <a:rPr lang="en-ID" dirty="0"/>
                        <a:t> dan </a:t>
                      </a:r>
                      <a:r>
                        <a:rPr lang="en-ID" dirty="0" err="1"/>
                        <a:t>nilai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pembayaran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order_id, payment_type, payment_value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order_reviews_raw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Ulasan dan </a:t>
                      </a:r>
                      <a:r>
                        <a:rPr lang="en-ID" dirty="0" err="1"/>
                        <a:t>skor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pelanggan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order_id, review_score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category_translation_raw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fi-FI" dirty="0"/>
                        <a:t>Pemetaan nama kategori ke bahasa Inggris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noProof="1"/>
                        <a:t>product_category_name, product_category_name_english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geolocation_raw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Lookup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lokasi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geografi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geolocation_zip_code_prefix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geolocation_state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geolocation_state_name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144768"/>
            <a:ext cx="10789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00" i="1" dirty="0" err="1">
                <a:solidFill>
                  <a:srgbClr val="636E7A"/>
                </a:solidFill>
                <a:latin typeface="Aptos"/>
              </a:rPr>
              <a:t>Sumber</a:t>
            </a:r>
            <a:r>
              <a:rPr lang="en-US" sz="1000" i="1" dirty="0">
                <a:solidFill>
                  <a:srgbClr val="636E7A"/>
                </a:solidFill>
                <a:latin typeface="Aptos"/>
              </a:rPr>
              <a:t> data: </a:t>
            </a:r>
            <a:r>
              <a:rPr lang="en-US" sz="1000" i="1" dirty="0">
                <a:solidFill>
                  <a:srgbClr val="636E7A"/>
                </a:solidFill>
                <a:latin typeface="Aptos"/>
                <a:hlinkClick r:id="rId2"/>
              </a:rPr>
              <a:t>https://www.kaggle.com/datasets/olistbr/brazilian-ecommerce?resource=download</a:t>
            </a:r>
            <a:r>
              <a:rPr lang="en-US" sz="1000" i="1" dirty="0">
                <a:solidFill>
                  <a:srgbClr val="636E7A"/>
                </a:solidFill>
                <a:latin typeface="Aptos"/>
              </a:rPr>
              <a:t>  </a:t>
            </a:r>
            <a:endParaRPr lang="en-US" sz="1000" b="0" i="1" dirty="0">
              <a:solidFill>
                <a:srgbClr val="636E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MODEL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600" b="1" i="0" dirty="0">
                <a:solidFill>
                  <a:srgbClr val="1C3048"/>
                </a:solidFill>
                <a:latin typeface="Aptos"/>
              </a:rPr>
              <a:t>Entity Relationship Diagram (</a:t>
            </a:r>
            <a:r>
              <a:rPr sz="2600" b="1" i="0" dirty="0">
                <a:solidFill>
                  <a:srgbClr val="1C3048"/>
                </a:solidFill>
                <a:latin typeface="Aptos"/>
              </a:rPr>
              <a:t>ERD</a:t>
            </a:r>
            <a:r>
              <a:rPr lang="en-US" sz="2600" b="1" i="0" dirty="0">
                <a:solidFill>
                  <a:srgbClr val="1C3048"/>
                </a:solidFill>
                <a:latin typeface="Aptos"/>
              </a:rPr>
              <a:t>)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Struktur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tabel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dan key join yang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digunakan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analisis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transaksi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pelanggan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pembayaran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ulasan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pengiriman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208CDCB-895D-832C-E17F-B00540A677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C3048"/>
              </a:clrFrom>
              <a:clrTo>
                <a:srgbClr val="1C304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360" y="1594702"/>
            <a:ext cx="9143999" cy="4195995"/>
          </a:xfrm>
          <a:prstGeom prst="rect">
            <a:avLst/>
          </a:prstGeom>
        </p:spPr>
      </p:pic>
      <p:sp>
        <p:nvSpPr>
          <p:cNvPr id="58" name="Rounded Rectangle 27">
            <a:extLst>
              <a:ext uri="{FF2B5EF4-FFF2-40B4-BE49-F238E27FC236}">
                <a16:creationId xmlns:a16="http://schemas.microsoft.com/office/drawing/2014/main" id="{3D7E1354-205C-5325-3B2E-2F088E4A812A}"/>
              </a:ext>
            </a:extLst>
          </p:cNvPr>
          <p:cNvSpPr/>
          <p:nvPr/>
        </p:nvSpPr>
        <p:spPr>
          <a:xfrm>
            <a:off x="9861176" y="1594702"/>
            <a:ext cx="2216434" cy="3551742"/>
          </a:xfrm>
          <a:prstGeom prst="roundRect">
            <a:avLst>
              <a:gd name="adj" fmla="val 8000"/>
            </a:avLst>
          </a:prstGeom>
          <a:solidFill>
            <a:srgbClr val="E7EFF8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70E944-DD01-50EF-3E68-17B00116470B}"/>
              </a:ext>
            </a:extLst>
          </p:cNvPr>
          <p:cNvSpPr txBox="1"/>
          <p:nvPr/>
        </p:nvSpPr>
        <p:spPr>
          <a:xfrm>
            <a:off x="9888607" y="1594701"/>
            <a:ext cx="2159602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dirty="0">
                <a:solidFill>
                  <a:srgbClr val="2D68A1"/>
                </a:solidFill>
                <a:latin typeface="Aptos"/>
              </a:rPr>
              <a:t>Cara </a:t>
            </a:r>
            <a:r>
              <a:rPr lang="en-US" sz="1200" b="1" i="0" dirty="0" err="1">
                <a:solidFill>
                  <a:srgbClr val="2D68A1"/>
                </a:solidFill>
                <a:latin typeface="Aptos"/>
              </a:rPr>
              <a:t>Membaca</a:t>
            </a:r>
            <a:r>
              <a:rPr lang="en-US" sz="1200" b="1" i="0" dirty="0">
                <a:solidFill>
                  <a:srgbClr val="2D68A1"/>
                </a:solidFill>
                <a:latin typeface="Aptos"/>
              </a:rPr>
              <a:t> ERD</a:t>
            </a:r>
            <a:endParaRPr sz="1200" b="1" i="0" dirty="0">
              <a:solidFill>
                <a:srgbClr val="2D68A1"/>
              </a:solidFill>
              <a:latin typeface="Apto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2F34DA-0464-1DEA-FFB9-BC7D7211F193}"/>
              </a:ext>
            </a:extLst>
          </p:cNvPr>
          <p:cNvSpPr txBox="1"/>
          <p:nvPr/>
        </p:nvSpPr>
        <p:spPr>
          <a:xfrm>
            <a:off x="9888607" y="1869514"/>
            <a:ext cx="2159602" cy="35517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rgbClr val="2D3641"/>
                </a:solidFill>
                <a:latin typeface="Aptos"/>
              </a:rPr>
              <a:t>Sembilan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tabel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sumber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dihubungkan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melalui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key yang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digunakan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dalam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query 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rgbClr val="2D3641"/>
                </a:solidFill>
                <a:latin typeface="Aptos"/>
              </a:rPr>
              <a:t>Relasi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mendukung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analisis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transaksi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pelanggan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produk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pembayaran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ulasan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, dan wilayah.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rgbClr val="2D3641"/>
                </a:solidFill>
                <a:latin typeface="Aptos"/>
              </a:rPr>
              <a:t>Garis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menunjukkan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relasi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untuk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kebutuhan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analisis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bukan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selalu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foreign key constraint database.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rgbClr val="2D3641"/>
                </a:solidFill>
                <a:latin typeface="Aptos"/>
              </a:rPr>
              <a:t>geolocation_raw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dapat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memiliki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banyak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baris per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kode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pos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sehingga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perlu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penanganan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khusus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200" dirty="0" err="1">
                <a:solidFill>
                  <a:srgbClr val="2D3641"/>
                </a:solidFill>
                <a:latin typeface="Aptos"/>
              </a:rPr>
              <a:t>saat</a:t>
            </a:r>
            <a:r>
              <a:rPr lang="en-ID" sz="1200" dirty="0">
                <a:solidFill>
                  <a:srgbClr val="2D3641"/>
                </a:solidFill>
                <a:latin typeface="Aptos"/>
              </a:rPr>
              <a:t> lookup wilayah.</a:t>
            </a:r>
          </a:p>
          <a:p>
            <a:pPr>
              <a:buNone/>
            </a:pPr>
            <a:endParaRPr lang="en-ID" sz="1100" dirty="0">
              <a:solidFill>
                <a:srgbClr val="2D3641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657AE3F9-CAE0-19D7-1976-A9DE2A3FF45B}"/>
              </a:ext>
            </a:extLst>
          </p:cNvPr>
          <p:cNvSpPr/>
          <p:nvPr/>
        </p:nvSpPr>
        <p:spPr>
          <a:xfrm>
            <a:off x="640080" y="5484247"/>
            <a:ext cx="10789920" cy="916554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01 •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3048"/>
                </a:solidFill>
                <a:latin typeface="Aptos"/>
              </a:rPr>
              <a:t>Validasi data sebelum menghitung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Pemeriksaan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mencakup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jumlah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baris,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keunikan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key,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referensi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antarentitas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nilai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hilang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validitas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numerik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sebelum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agregasi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9222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D68A1"/>
                </a:solidFill>
                <a:latin typeface="Aptos"/>
              </a:rPr>
              <a:t>99.441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3113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C3048"/>
                </a:solidFill>
                <a:latin typeface="Aptos"/>
              </a:rPr>
              <a:t>Baris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pesanan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79222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7E80"/>
                </a:solidFill>
                <a:latin typeface="Aptos"/>
              </a:rPr>
              <a:t>112.650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23113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C3048"/>
                </a:solidFill>
                <a:latin typeface="Aptos"/>
              </a:rPr>
              <a:t>Baris 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item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pesanan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1645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6207" y="179222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77C58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23113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C3048"/>
                </a:solidFill>
                <a:latin typeface="Aptos"/>
              </a:rPr>
              <a:t>Harga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tidak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valid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36207" y="2560320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36E7A"/>
                </a:solidFill>
                <a:latin typeface="Aptos"/>
              </a:rPr>
              <a:t>NULL / negatif / nol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645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8" y="179222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77C58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23113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Ongkos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kirim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tidak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valid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33688" y="2560320"/>
            <a:ext cx="2194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36E7A"/>
                </a:solidFill>
                <a:latin typeface="Aptos"/>
              </a:rPr>
              <a:t>NULL / negatif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24612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3337560"/>
            <a:ext cx="5266944" cy="18189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SELECT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(SELECT COUNT(*) FROM </a:t>
            </a:r>
            <a:r>
              <a:rPr lang="en-US" sz="900" dirty="0" err="1"/>
              <a:t>staging.orders_raw</a:t>
            </a:r>
            <a:r>
              <a:rPr lang="en-US" sz="900" dirty="0"/>
              <a:t>) AS </a:t>
            </a:r>
            <a:r>
              <a:rPr lang="en-US" sz="900" dirty="0" err="1"/>
              <a:t>total_orders_rows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AS </a:t>
            </a:r>
            <a:r>
              <a:rPr lang="en-US" sz="900" dirty="0" err="1"/>
              <a:t>total_order_items_rows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WHERE price IS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OR price &lt; 0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OR price = 0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invalid_price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WHERE </a:t>
            </a:r>
            <a:r>
              <a:rPr lang="en-US" sz="900" dirty="0" err="1"/>
              <a:t>freight_value</a:t>
            </a:r>
            <a:r>
              <a:rPr lang="en-US" sz="900" dirty="0"/>
              <a:t> IS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OR </a:t>
            </a:r>
            <a:r>
              <a:rPr lang="en-US" sz="900" dirty="0" err="1"/>
              <a:t>freight_value</a:t>
            </a:r>
            <a:r>
              <a:rPr lang="en-US" sz="900" dirty="0"/>
              <a:t> &lt; 0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invalid_freight</a:t>
            </a:r>
            <a:endParaRPr lang="en-US" sz="900" dirty="0"/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FROM </a:t>
            </a:r>
            <a:r>
              <a:rPr lang="en-US" sz="900" dirty="0" err="1"/>
              <a:t>staging.order_items_raw</a:t>
            </a:r>
            <a:r>
              <a:rPr lang="en-US" sz="900" dirty="0"/>
              <a:t>;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46520" y="3246120"/>
          <a:ext cx="4983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Validasi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/ interpretasi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Primary keys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Bandingkan total vs unique IDs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Composite key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order_id + order_item_id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Missing references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Customer, product, seller, status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Numeric checks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price dan freight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68096" y="5551303"/>
            <a:ext cx="10424159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200" b="1" dirty="0">
                <a:solidFill>
                  <a:srgbClr val="1F7E80"/>
                </a:solidFill>
                <a:latin typeface="Aptos"/>
              </a:rPr>
              <a:t>Insight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834767"/>
            <a:ext cx="10552176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Kualitas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data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hanya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ditentukan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oleh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nilai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hilang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atau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valid.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Keunikan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key,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konsistensi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referensi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, dan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definisi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grain juga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menentukan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apakah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agregasi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menghitung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transaksi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secara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akurat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01 •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fi-FI" sz="2600" b="1" i="0" dirty="0">
                <a:solidFill>
                  <a:srgbClr val="1C3048"/>
                </a:solidFill>
                <a:latin typeface="Aptos"/>
              </a:rPr>
              <a:t>Validasi Relasi dan Kelengkapan Kategori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LEFT JOIN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digunakan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mengidentifikasi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item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tanpa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kecocokan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kosong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belum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memiliki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terjemahan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5623560" cy="354428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5404104" cy="334245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SELECT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AS </a:t>
            </a:r>
            <a:r>
              <a:rPr lang="en-US" sz="900" dirty="0" err="1"/>
              <a:t>total_delivered_items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WHERE </a:t>
            </a:r>
            <a:r>
              <a:rPr lang="en-US" sz="900" dirty="0" err="1"/>
              <a:t>p.product_id</a:t>
            </a:r>
            <a:r>
              <a:rPr lang="en-US" sz="900" dirty="0"/>
              <a:t> IS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items_without_product_match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WHERE </a:t>
            </a:r>
            <a:r>
              <a:rPr lang="en-US" sz="900" dirty="0" err="1"/>
              <a:t>p.product_category_name</a:t>
            </a:r>
            <a:r>
              <a:rPr lang="en-US" sz="900" dirty="0"/>
              <a:t> IS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items_without_category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WHERE </a:t>
            </a:r>
            <a:r>
              <a:rPr lang="en-US" sz="900" dirty="0" err="1"/>
              <a:t>p.product_category_name</a:t>
            </a:r>
            <a:r>
              <a:rPr lang="en-US" sz="900" dirty="0"/>
              <a:t> IS NOT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AND </a:t>
            </a:r>
            <a:r>
              <a:rPr lang="en-US" sz="900" dirty="0" err="1"/>
              <a:t>t.product_category_name</a:t>
            </a:r>
            <a:r>
              <a:rPr lang="en-US" sz="900" dirty="0"/>
              <a:t> IS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items_with_untranslated_category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COUNT(DISTINCT </a:t>
            </a:r>
            <a:r>
              <a:rPr lang="en-US" sz="900" dirty="0" err="1"/>
              <a:t>p.product_category_name</a:t>
            </a:r>
            <a:r>
              <a:rPr lang="en-US" sz="900" dirty="0"/>
              <a:t>) FILTER (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WHERE </a:t>
            </a:r>
            <a:r>
              <a:rPr lang="en-US" sz="900" dirty="0" err="1"/>
              <a:t>p.product_category_name</a:t>
            </a:r>
            <a:r>
              <a:rPr lang="en-US" sz="900" dirty="0"/>
              <a:t> IS NOT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AND </a:t>
            </a:r>
            <a:r>
              <a:rPr lang="en-US" sz="900" dirty="0" err="1"/>
              <a:t>t.product_category_name</a:t>
            </a:r>
            <a:r>
              <a:rPr lang="en-US" sz="900" dirty="0"/>
              <a:t> IS NULL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distinct_untranslated_categories</a:t>
            </a:r>
            <a:endParaRPr lang="en-US" sz="900" dirty="0"/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FROM </a:t>
            </a:r>
            <a:r>
              <a:rPr lang="en-US" sz="900" dirty="0" err="1"/>
              <a:t>staging.orders_raw</a:t>
            </a:r>
            <a:r>
              <a:rPr lang="en-US" sz="900" dirty="0"/>
              <a:t> o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JOIN </a:t>
            </a:r>
            <a:r>
              <a:rPr lang="en-US" sz="900" dirty="0" err="1"/>
              <a:t>staging.order_items_raw</a:t>
            </a:r>
            <a:r>
              <a:rPr lang="en-US" sz="900" dirty="0"/>
              <a:t> </a:t>
            </a:r>
            <a:r>
              <a:rPr lang="en-US" sz="900" dirty="0" err="1"/>
              <a:t>i</a:t>
            </a:r>
            <a:endParaRPr lang="en-US" sz="900" dirty="0"/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ON </a:t>
            </a:r>
            <a:r>
              <a:rPr lang="en-US" sz="900" dirty="0" err="1"/>
              <a:t>o.order_id</a:t>
            </a:r>
            <a:r>
              <a:rPr lang="en-US" sz="900" dirty="0"/>
              <a:t> = </a:t>
            </a:r>
            <a:r>
              <a:rPr lang="en-US" sz="900" dirty="0" err="1"/>
              <a:t>i.order_id</a:t>
            </a:r>
            <a:endParaRPr lang="en-US" sz="900" dirty="0"/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LEFT JOIN </a:t>
            </a:r>
            <a:r>
              <a:rPr lang="en-US" sz="900" dirty="0" err="1"/>
              <a:t>staging.products_raw</a:t>
            </a:r>
            <a:r>
              <a:rPr lang="en-US" sz="900" dirty="0"/>
              <a:t> p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ON </a:t>
            </a:r>
            <a:r>
              <a:rPr lang="en-US" sz="900" dirty="0" err="1"/>
              <a:t>i.product_id</a:t>
            </a:r>
            <a:r>
              <a:rPr lang="en-US" sz="900" dirty="0"/>
              <a:t> = </a:t>
            </a:r>
            <a:r>
              <a:rPr lang="en-US" sz="900" dirty="0" err="1"/>
              <a:t>p.product_id</a:t>
            </a:r>
            <a:endParaRPr lang="en-US" sz="900" dirty="0"/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LEFT JOIN </a:t>
            </a:r>
            <a:r>
              <a:rPr lang="en-US" sz="900" dirty="0" err="1"/>
              <a:t>staging.category_translation_raw</a:t>
            </a:r>
            <a:r>
              <a:rPr lang="en-US" sz="900" dirty="0"/>
              <a:t> t</a:t>
            </a:r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ON </a:t>
            </a:r>
            <a:r>
              <a:rPr lang="en-US" sz="900" dirty="0" err="1"/>
              <a:t>p.product_category_name</a:t>
            </a:r>
            <a:r>
              <a:rPr lang="en-US" sz="900" dirty="0"/>
              <a:t> = </a:t>
            </a:r>
            <a:r>
              <a:rPr lang="en-US" sz="900" dirty="0" err="1"/>
              <a:t>t.product_category_name</a:t>
            </a:r>
            <a:endParaRPr lang="en-US" sz="900" dirty="0"/>
          </a:p>
          <a:p>
            <a:pPr>
              <a:spcAft>
                <a:spcPts val="0"/>
              </a:spcAft>
              <a:defRPr sz="11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WHERE </a:t>
            </a:r>
            <a:r>
              <a:rPr lang="en-US" sz="900" dirty="0" err="1"/>
              <a:t>o.order_status</a:t>
            </a:r>
            <a:r>
              <a:rPr lang="en-US" sz="900" dirty="0"/>
              <a:t> = 'delivered';</a:t>
            </a:r>
            <a:endParaRPr sz="9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977030"/>
              </p:ext>
            </p:extLst>
          </p:nvPr>
        </p:nvGraphicFramePr>
        <p:xfrm>
          <a:off x="6537960" y="1737360"/>
          <a:ext cx="4800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Pemeriksaan kategori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Item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delivered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110.197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Tanpa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kecocokan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produk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Tanpa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kategori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produk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1.537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sv-SE" dirty="0"/>
                        <a:t>Item dengan kategori belum diterjemahkan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22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Kategori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sumber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unik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belum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diterjemahkan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95426"/>
              </p:ext>
            </p:extLst>
          </p:nvPr>
        </p:nvGraphicFramePr>
        <p:xfrm>
          <a:off x="6492240" y="4455547"/>
          <a:ext cx="48463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484246"/>
            <a:ext cx="5623560" cy="1099433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5593975"/>
            <a:ext cx="49377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1F7E80"/>
                </a:solidFill>
                <a:latin typeface="Aptos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877438"/>
            <a:ext cx="5477256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Terdapat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1.537 item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tanpa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dan 22 item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dengan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belum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diterjemahkan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.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Kedua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kelompok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perlu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tetap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dipertahankan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sebagai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exception agar revenue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hilang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dari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agregasi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02 •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600" b="1" i="0" dirty="0">
                <a:solidFill>
                  <a:srgbClr val="1C3048"/>
                </a:solidFill>
                <a:latin typeface="Aptos"/>
              </a:rPr>
              <a:t>Tren Revenue Produk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Bulanan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pada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Pesanan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Delivered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Total revenue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mencapai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R$13,22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juta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dari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item pada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pesanan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berstatus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delivered,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dikelompokkan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berdasarkan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bulan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pembelian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1944000" cy="7975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TextBox 8"/>
          <p:cNvSpPr txBox="1"/>
          <p:nvPr/>
        </p:nvSpPr>
        <p:spPr>
          <a:xfrm>
            <a:off x="754761" y="1746504"/>
            <a:ext cx="1695405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2D68A1"/>
                </a:solidFill>
                <a:latin typeface="Aptos"/>
              </a:rPr>
              <a:t>R$13,22 </a:t>
            </a:r>
            <a:r>
              <a:rPr sz="1600" b="1" i="0" dirty="0" err="1">
                <a:solidFill>
                  <a:srgbClr val="2D68A1"/>
                </a:solidFill>
                <a:latin typeface="Aptos"/>
              </a:rPr>
              <a:t>jt</a:t>
            </a:r>
            <a:endParaRPr sz="1600" b="1" i="0" dirty="0">
              <a:solidFill>
                <a:srgbClr val="2D68A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4761" y="2079233"/>
            <a:ext cx="1763544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dirty="0">
                <a:solidFill>
                  <a:srgbClr val="1C3048"/>
                </a:solidFill>
                <a:latin typeface="Aptos"/>
              </a:rPr>
              <a:t>Product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6001" y="1600200"/>
            <a:ext cx="1943728" cy="7975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2994290" y="1746504"/>
            <a:ext cx="169634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F7E80"/>
                </a:solidFill>
                <a:latin typeface="Aptos"/>
              </a:rPr>
              <a:t>23 </a:t>
            </a:r>
            <a:r>
              <a:rPr sz="1600" b="1" i="0" dirty="0" err="1">
                <a:solidFill>
                  <a:srgbClr val="1F7E80"/>
                </a:solidFill>
                <a:latin typeface="Aptos"/>
              </a:rPr>
              <a:t>bulan</a:t>
            </a:r>
            <a:endParaRPr sz="1600" b="1" i="0" dirty="0">
              <a:solidFill>
                <a:srgbClr val="1F7E8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94289" y="2079233"/>
            <a:ext cx="1805439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900" b="1" i="0" dirty="0">
                <a:solidFill>
                  <a:srgbClr val="1C3048"/>
                </a:solidFill>
                <a:latin typeface="Aptos"/>
              </a:rPr>
              <a:t>Bulan </a:t>
            </a:r>
            <a:r>
              <a:rPr lang="en-ID" sz="900" b="1" i="0" dirty="0" err="1">
                <a:solidFill>
                  <a:srgbClr val="1C3048"/>
                </a:solidFill>
                <a:latin typeface="Aptos"/>
              </a:rPr>
              <a:t>dengan</a:t>
            </a:r>
            <a:r>
              <a:rPr lang="en-ID" sz="9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900" b="1" i="0" dirty="0" err="1">
                <a:solidFill>
                  <a:srgbClr val="1C3048"/>
                </a:solidFill>
                <a:latin typeface="Aptos"/>
              </a:rPr>
              <a:t>pesanan</a:t>
            </a:r>
            <a:r>
              <a:rPr lang="en-ID" sz="900" b="1" i="0" dirty="0">
                <a:solidFill>
                  <a:srgbClr val="1C3048"/>
                </a:solidFill>
                <a:latin typeface="Aptos"/>
              </a:rPr>
              <a:t> delivered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544086"/>
            <a:ext cx="4141361" cy="269596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2783268"/>
            <a:ext cx="3958989" cy="22652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SELECT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TO_CHAR(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DATE_TRUNC('month', </a:t>
            </a:r>
            <a:r>
              <a:rPr lang="en-ID" sz="900" dirty="0" err="1"/>
              <a:t>o.order_purchase_timestamp</a:t>
            </a:r>
            <a:r>
              <a:rPr lang="en-ID" sz="900" dirty="0"/>
              <a:t>),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'YYYY-MM'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) AS </a:t>
            </a:r>
            <a:r>
              <a:rPr lang="en-ID" sz="900" dirty="0" err="1"/>
              <a:t>sales_month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COUNT(DISTINCT </a:t>
            </a:r>
            <a:r>
              <a:rPr lang="en-ID" sz="900" dirty="0" err="1"/>
              <a:t>o.order_id</a:t>
            </a:r>
            <a:r>
              <a:rPr lang="en-ID" sz="900" dirty="0"/>
              <a:t>) AS </a:t>
            </a:r>
            <a:r>
              <a:rPr lang="en-ID" sz="900" dirty="0" err="1"/>
              <a:t>total_orders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COUNT(*) AS </a:t>
            </a:r>
            <a:r>
              <a:rPr lang="en-ID" sz="900" dirty="0" err="1"/>
              <a:t>total_items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ROUND(SUM(</a:t>
            </a:r>
            <a:r>
              <a:rPr lang="en-ID" sz="900" dirty="0" err="1"/>
              <a:t>i.price</a:t>
            </a:r>
            <a:r>
              <a:rPr lang="en-ID" sz="900" dirty="0"/>
              <a:t>::numeric), 2) AS </a:t>
            </a:r>
            <a:r>
              <a:rPr lang="en-ID" sz="900" dirty="0" err="1"/>
              <a:t>product_revenue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ROUND(AVG(</a:t>
            </a:r>
            <a:r>
              <a:rPr lang="en-ID" sz="900" dirty="0" err="1"/>
              <a:t>i.price</a:t>
            </a:r>
            <a:r>
              <a:rPr lang="en-ID" sz="900" dirty="0"/>
              <a:t>::numeric), 2) AS </a:t>
            </a:r>
            <a:r>
              <a:rPr lang="en-ID" sz="900" dirty="0" err="1"/>
              <a:t>avg_item_price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FROM </a:t>
            </a:r>
            <a:r>
              <a:rPr lang="en-ID" sz="900" dirty="0" err="1"/>
              <a:t>staging.orders_raw</a:t>
            </a:r>
            <a:r>
              <a:rPr lang="en-ID" sz="900" dirty="0"/>
              <a:t> o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JOIN </a:t>
            </a:r>
            <a:r>
              <a:rPr lang="en-ID" sz="900" dirty="0" err="1"/>
              <a:t>staging.order_items_raw</a:t>
            </a:r>
            <a:r>
              <a:rPr lang="en-ID" sz="900" dirty="0"/>
              <a:t> </a:t>
            </a:r>
            <a:r>
              <a:rPr lang="en-ID" sz="900" dirty="0" err="1"/>
              <a:t>i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ON </a:t>
            </a:r>
            <a:r>
              <a:rPr lang="en-ID" sz="900" dirty="0" err="1"/>
              <a:t>o.order_id</a:t>
            </a:r>
            <a:r>
              <a:rPr lang="en-ID" sz="900" dirty="0"/>
              <a:t> = </a:t>
            </a:r>
            <a:r>
              <a:rPr lang="en-ID" sz="900" dirty="0" err="1"/>
              <a:t>i.order_id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WHERE </a:t>
            </a:r>
            <a:r>
              <a:rPr lang="en-ID" sz="900" dirty="0" err="1"/>
              <a:t>o.order_status</a:t>
            </a:r>
            <a:r>
              <a:rPr lang="en-ID" sz="900" dirty="0"/>
              <a:t> = 'delivered'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AND </a:t>
            </a:r>
            <a:r>
              <a:rPr lang="en-ID" sz="900" dirty="0" err="1"/>
              <a:t>o.order_purchase_timestamp</a:t>
            </a:r>
            <a:r>
              <a:rPr lang="en-ID" sz="900" dirty="0"/>
              <a:t> IS NOT NULL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GROUP BY 1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ORDER BY 1;</a:t>
            </a:r>
            <a:endParaRPr sz="900" dirty="0"/>
          </a:p>
        </p:txBody>
      </p:sp>
      <p:sp>
        <p:nvSpPr>
          <p:cNvPr id="19" name="Rounded Rectangle 18"/>
          <p:cNvSpPr/>
          <p:nvPr/>
        </p:nvSpPr>
        <p:spPr>
          <a:xfrm>
            <a:off x="685800" y="5467844"/>
            <a:ext cx="11196230" cy="888625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5451013"/>
            <a:ext cx="4008443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dirty="0">
                <a:solidFill>
                  <a:srgbClr val="1F7E80"/>
                </a:solidFill>
                <a:latin typeface="Aptos"/>
              </a:rPr>
              <a:t>Insight</a:t>
            </a:r>
            <a:endParaRPr sz="1200" b="1" i="0" dirty="0">
              <a:solidFill>
                <a:srgbClr val="1F7E8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" y="5687189"/>
            <a:ext cx="11049926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D" sz="1100" dirty="0"/>
              <a:t>Revenue </a:t>
            </a:r>
            <a:r>
              <a:rPr lang="en-ID" sz="1100" dirty="0" err="1"/>
              <a:t>produk</a:t>
            </a:r>
            <a:r>
              <a:rPr lang="en-ID" sz="1100" dirty="0"/>
              <a:t> dan </a:t>
            </a:r>
            <a:r>
              <a:rPr lang="en-ID" sz="1100" dirty="0" err="1"/>
              <a:t>jumlah</a:t>
            </a:r>
            <a:r>
              <a:rPr lang="en-ID" sz="1100" dirty="0"/>
              <a:t> item </a:t>
            </a:r>
            <a:r>
              <a:rPr lang="en-ID" sz="1100" dirty="0" err="1"/>
              <a:t>cenderung</a:t>
            </a:r>
            <a:r>
              <a:rPr lang="en-ID" sz="1100" dirty="0"/>
              <a:t> </a:t>
            </a:r>
            <a:r>
              <a:rPr lang="en-ID" sz="1100" dirty="0" err="1"/>
              <a:t>meningkat</a:t>
            </a:r>
            <a:r>
              <a:rPr lang="en-ID" sz="1100" dirty="0"/>
              <a:t> </a:t>
            </a:r>
            <a:r>
              <a:rPr lang="en-ID" sz="1100" dirty="0" err="1"/>
              <a:t>sepanjang</a:t>
            </a:r>
            <a:r>
              <a:rPr lang="en-ID" sz="1100" dirty="0"/>
              <a:t> 2017 </a:t>
            </a:r>
            <a:r>
              <a:rPr lang="en-ID" sz="1100" dirty="0" err="1"/>
              <a:t>hingga</a:t>
            </a:r>
            <a:r>
              <a:rPr lang="en-ID" sz="1100" dirty="0"/>
              <a:t> </a:t>
            </a:r>
            <a:r>
              <a:rPr lang="en-ID" sz="1100" dirty="0" err="1"/>
              <a:t>awal</a:t>
            </a:r>
            <a:r>
              <a:rPr lang="en-ID" sz="1100" dirty="0"/>
              <a:t> 2018, </a:t>
            </a:r>
            <a:r>
              <a:rPr lang="en-ID" sz="1100" dirty="0" err="1"/>
              <a:t>kemudian</a:t>
            </a:r>
            <a:r>
              <a:rPr lang="en-ID" sz="1100" dirty="0"/>
              <a:t> </a:t>
            </a:r>
            <a:r>
              <a:rPr lang="en-ID" sz="1100" dirty="0" err="1"/>
              <a:t>berfluktuasi</a:t>
            </a:r>
            <a:r>
              <a:rPr lang="en-ID" sz="110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D" sz="1100" dirty="0"/>
              <a:t>Revenue </a:t>
            </a:r>
            <a:r>
              <a:rPr lang="en-ID" sz="1100" dirty="0" err="1"/>
              <a:t>tertinggi</a:t>
            </a:r>
            <a:r>
              <a:rPr lang="en-ID" sz="1100" dirty="0"/>
              <a:t> </a:t>
            </a:r>
            <a:r>
              <a:rPr lang="en-ID" sz="1100" dirty="0" err="1"/>
              <a:t>terlihat</a:t>
            </a:r>
            <a:r>
              <a:rPr lang="en-ID" sz="1100" dirty="0"/>
              <a:t> pada </a:t>
            </a:r>
            <a:r>
              <a:rPr lang="en-ID" sz="1100" dirty="0" err="1"/>
              <a:t>akhir</a:t>
            </a:r>
            <a:r>
              <a:rPr lang="en-ID" sz="1100" dirty="0"/>
              <a:t> 2017 </a:t>
            </a:r>
            <a:r>
              <a:rPr lang="en-ID" sz="1100" dirty="0" err="1"/>
              <a:t>hingga</a:t>
            </a:r>
            <a:r>
              <a:rPr lang="en-ID" sz="1100" dirty="0"/>
              <a:t> </a:t>
            </a:r>
            <a:r>
              <a:rPr lang="en-ID" sz="1100" dirty="0" err="1"/>
              <a:t>pertengahan</a:t>
            </a:r>
            <a:r>
              <a:rPr lang="en-ID" sz="1100" dirty="0"/>
              <a:t> 2018; </a:t>
            </a:r>
            <a:r>
              <a:rPr lang="en-ID" sz="1100" dirty="0" err="1"/>
              <a:t>pergerakan</a:t>
            </a:r>
            <a:r>
              <a:rPr lang="en-ID" sz="1100" dirty="0"/>
              <a:t> revenue </a:t>
            </a:r>
            <a:r>
              <a:rPr lang="en-ID" sz="1100" dirty="0" err="1"/>
              <a:t>perlu</a:t>
            </a:r>
            <a:r>
              <a:rPr lang="en-ID" sz="1100" dirty="0"/>
              <a:t> </a:t>
            </a:r>
            <a:r>
              <a:rPr lang="en-ID" sz="1100" dirty="0" err="1"/>
              <a:t>dibaca</a:t>
            </a:r>
            <a:r>
              <a:rPr lang="en-ID" sz="1100" dirty="0"/>
              <a:t> </a:t>
            </a:r>
            <a:r>
              <a:rPr lang="en-ID" sz="1100" dirty="0" err="1"/>
              <a:t>bersama</a:t>
            </a:r>
            <a:r>
              <a:rPr lang="en-ID" sz="1100" dirty="0"/>
              <a:t> </a:t>
            </a:r>
            <a:r>
              <a:rPr lang="en-ID" sz="1100" dirty="0" err="1"/>
              <a:t>jumlah</a:t>
            </a:r>
            <a:r>
              <a:rPr lang="en-ID" sz="1100" dirty="0"/>
              <a:t> item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melihat</a:t>
            </a:r>
            <a:r>
              <a:rPr lang="en-ID" sz="1100" dirty="0"/>
              <a:t> </a:t>
            </a:r>
            <a:r>
              <a:rPr lang="en-ID" sz="1100" dirty="0" err="1"/>
              <a:t>apakah</a:t>
            </a:r>
            <a:r>
              <a:rPr lang="en-ID" sz="1100" dirty="0"/>
              <a:t> </a:t>
            </a:r>
            <a:r>
              <a:rPr lang="en-ID" sz="1100" dirty="0" err="1"/>
              <a:t>perubahan</a:t>
            </a:r>
            <a:r>
              <a:rPr lang="en-ID" sz="1100" dirty="0"/>
              <a:t> </a:t>
            </a:r>
            <a:r>
              <a:rPr lang="en-ID" sz="1100" dirty="0" err="1"/>
              <a:t>sejalan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volume.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D" sz="1100" dirty="0" err="1"/>
              <a:t>Grafik</a:t>
            </a:r>
            <a:r>
              <a:rPr lang="en-ID" sz="1100" dirty="0"/>
              <a:t> </a:t>
            </a:r>
            <a:r>
              <a:rPr lang="en-ID" sz="1100" dirty="0" err="1"/>
              <a:t>mencakup</a:t>
            </a:r>
            <a:r>
              <a:rPr lang="en-ID" sz="1100" dirty="0"/>
              <a:t> September 2016–Agustus 2018. </a:t>
            </a:r>
            <a:r>
              <a:rPr lang="en-ID" sz="1100" dirty="0" err="1"/>
              <a:t>Terdapat</a:t>
            </a:r>
            <a:r>
              <a:rPr lang="en-ID" sz="1100" dirty="0"/>
              <a:t> 23 </a:t>
            </a:r>
            <a:r>
              <a:rPr lang="en-ID" sz="1100" dirty="0" err="1"/>
              <a:t>bulan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pesanan</a:t>
            </a:r>
            <a:r>
              <a:rPr lang="en-ID" sz="1100" dirty="0"/>
              <a:t> delivered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rentang</a:t>
            </a:r>
            <a:r>
              <a:rPr lang="en-ID" sz="1100" dirty="0"/>
              <a:t> 24 </a:t>
            </a:r>
            <a:r>
              <a:rPr lang="en-ID" sz="1100" dirty="0" err="1"/>
              <a:t>bulan</a:t>
            </a:r>
            <a:r>
              <a:rPr lang="en-ID" sz="1100" dirty="0"/>
              <a:t> </a:t>
            </a:r>
            <a:r>
              <a:rPr lang="en-ID" sz="1100" dirty="0" err="1"/>
              <a:t>kalender</a:t>
            </a:r>
            <a:r>
              <a:rPr lang="en-ID" sz="1100" dirty="0"/>
              <a:t>.</a:t>
            </a: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E98A449B-C3D7-A11E-8FB1-57B74770B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4876171"/>
              </p:ext>
            </p:extLst>
          </p:nvPr>
        </p:nvGraphicFramePr>
        <p:xfrm>
          <a:off x="5053363" y="1604766"/>
          <a:ext cx="6828668" cy="3652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1B2B03D8-55E5-7FC6-F748-70E29A6ED04C}"/>
              </a:ext>
            </a:extLst>
          </p:cNvPr>
          <p:cNvSpPr/>
          <p:nvPr/>
        </p:nvSpPr>
        <p:spPr>
          <a:xfrm>
            <a:off x="658369" y="6015697"/>
            <a:ext cx="4227668" cy="69588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02 •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600" b="1" i="0" dirty="0">
                <a:solidFill>
                  <a:srgbClr val="1C3048"/>
                </a:solidFill>
                <a:latin typeface="Aptos"/>
              </a:rPr>
              <a:t>Kalender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Bulanan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dan LAG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untuk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Perhitungan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MoM yang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Lebih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Akurat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Kalender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bulan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menjaga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perbandingan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MoM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tetap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berurutan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 Jika revenue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bulan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sebelumnya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nol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persentase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pertumbuhan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terdefinisi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9" y="1627631"/>
            <a:ext cx="4227668" cy="4261827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479" y="1825362"/>
            <a:ext cx="4552049" cy="38964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WITH </a:t>
            </a:r>
            <a:r>
              <a:rPr lang="en-US" sz="900" dirty="0" err="1"/>
              <a:t>monthly_sales</a:t>
            </a:r>
            <a:r>
              <a:rPr lang="en-US" sz="900" dirty="0"/>
              <a:t> AS (...),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 err="1"/>
              <a:t>monthly_comparison</a:t>
            </a:r>
            <a:r>
              <a:rPr lang="en-US" sz="900" dirty="0"/>
              <a:t> AS (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SELECT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</a:t>
            </a:r>
            <a:r>
              <a:rPr lang="en-US" sz="900" dirty="0" err="1"/>
              <a:t>sales_month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</a:t>
            </a:r>
            <a:r>
              <a:rPr lang="en-US" sz="900" dirty="0" err="1"/>
              <a:t>total_orders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</a:t>
            </a:r>
            <a:r>
              <a:rPr lang="en-US" sz="900" dirty="0" err="1"/>
              <a:t>product_revenue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LAG(</a:t>
            </a:r>
            <a:r>
              <a:rPr lang="en-US" sz="900" dirty="0" err="1"/>
              <a:t>total_orders</a:t>
            </a:r>
            <a:r>
              <a:rPr lang="en-US" sz="900" dirty="0"/>
              <a:t>) OVER (ORDER BY </a:t>
            </a:r>
            <a:r>
              <a:rPr lang="en-US" sz="900" dirty="0" err="1"/>
              <a:t>sales_month</a:t>
            </a:r>
            <a:r>
              <a:rPr lang="en-US" sz="900" dirty="0"/>
              <a:t>) AS </a:t>
            </a:r>
            <a:r>
              <a:rPr lang="en-US" sz="900" dirty="0" err="1"/>
              <a:t>previous_month_orders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LAG(</a:t>
            </a:r>
            <a:r>
              <a:rPr lang="en-US" sz="900" dirty="0" err="1"/>
              <a:t>product_revenue</a:t>
            </a:r>
            <a:r>
              <a:rPr lang="en-US" sz="900" dirty="0"/>
              <a:t>) OVER (ORDER BY </a:t>
            </a:r>
            <a:r>
              <a:rPr lang="en-US" sz="900" dirty="0" err="1"/>
              <a:t>sales_month</a:t>
            </a:r>
            <a:r>
              <a:rPr lang="en-US" sz="900" dirty="0"/>
              <a:t>) AS </a:t>
            </a:r>
            <a:r>
              <a:rPr lang="en-US" sz="900" dirty="0" err="1"/>
              <a:t>previous_month_revenue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FROM </a:t>
            </a:r>
            <a:r>
              <a:rPr lang="en-US" sz="900" dirty="0" err="1"/>
              <a:t>complete_monthly_sales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)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SELECT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TO_CHAR(sales_month, 'YYYY-MM') AS sales_month,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</a:t>
            </a:r>
            <a:r>
              <a:rPr lang="en-US" sz="900" dirty="0" err="1"/>
              <a:t>total_orders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</a:t>
            </a:r>
            <a:r>
              <a:rPr lang="en-US" sz="900" dirty="0" err="1"/>
              <a:t>product_revenue</a:t>
            </a:r>
            <a:r>
              <a:rPr lang="en-US" sz="900" dirty="0"/>
              <a:t>, 2) AS </a:t>
            </a:r>
            <a:r>
              <a:rPr lang="en-US" sz="900" dirty="0" err="1"/>
              <a:t>product_revenue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</a:t>
            </a:r>
            <a:r>
              <a:rPr lang="en-US" sz="900" dirty="0" err="1"/>
              <a:t>previous_month_orders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</a:t>
            </a:r>
            <a:r>
              <a:rPr lang="en-US" sz="900" dirty="0" err="1"/>
              <a:t>previous_month_revenue</a:t>
            </a:r>
            <a:r>
              <a:rPr lang="en-US" sz="900" dirty="0"/>
              <a:t>, 2) AS </a:t>
            </a:r>
            <a:r>
              <a:rPr lang="en-US" sz="900" dirty="0" err="1"/>
              <a:t>previous_month_revenue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(</a:t>
            </a:r>
            <a:r>
              <a:rPr lang="en-US" sz="900" dirty="0" err="1"/>
              <a:t>product_revenue</a:t>
            </a:r>
            <a:r>
              <a:rPr lang="en-US" sz="900" dirty="0"/>
              <a:t> - </a:t>
            </a:r>
            <a:r>
              <a:rPr lang="en-US" sz="900" dirty="0" err="1"/>
              <a:t>previous_month_revenue</a:t>
            </a:r>
            <a:r>
              <a:rPr lang="en-US" sz="900" dirty="0"/>
              <a:t>) * 100.0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/ NULLIF(</a:t>
            </a:r>
            <a:r>
              <a:rPr lang="en-US" sz="900" dirty="0" err="1"/>
              <a:t>previous_month_revenue</a:t>
            </a:r>
            <a:r>
              <a:rPr lang="en-US" sz="900" dirty="0"/>
              <a:t>, 0), 2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revenue_growth_pct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(</a:t>
            </a:r>
            <a:r>
              <a:rPr lang="en-US" sz="900" dirty="0" err="1"/>
              <a:t>total_orders</a:t>
            </a:r>
            <a:r>
              <a:rPr lang="en-US" sz="900" dirty="0"/>
              <a:t> - </a:t>
            </a:r>
            <a:r>
              <a:rPr lang="en-US" sz="900" dirty="0" err="1"/>
              <a:t>previous_month_orders</a:t>
            </a:r>
            <a:r>
              <a:rPr lang="en-US" sz="900" dirty="0"/>
              <a:t>)::numeric * 100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/ NULLIF(</a:t>
            </a:r>
            <a:r>
              <a:rPr lang="en-US" sz="900" dirty="0" err="1"/>
              <a:t>previous_month_orders</a:t>
            </a:r>
            <a:r>
              <a:rPr lang="en-US" sz="900" dirty="0"/>
              <a:t>, 0), 2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order_growth_pct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FROM </a:t>
            </a:r>
            <a:r>
              <a:rPr lang="en-US" sz="900" dirty="0" err="1"/>
              <a:t>monthly_comparison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ORDER BY </a:t>
            </a:r>
            <a:r>
              <a:rPr lang="en-US" sz="900" dirty="0" err="1"/>
              <a:t>sales_month</a:t>
            </a:r>
            <a:r>
              <a:rPr lang="en-US" sz="900" dirty="0"/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8847" y="6015696"/>
            <a:ext cx="6734424" cy="695885"/>
          </a:xfrm>
          <a:prstGeom prst="roundRect">
            <a:avLst>
              <a:gd name="adj" fmla="val 8000"/>
            </a:avLst>
          </a:prstGeom>
          <a:solidFill>
            <a:srgbClr val="E7EFF8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65152" y="6015697"/>
            <a:ext cx="4386236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200" b="1" dirty="0">
                <a:solidFill>
                  <a:srgbClr val="2D68A1"/>
                </a:solidFill>
                <a:latin typeface="Aptos"/>
              </a:rPr>
              <a:t>Cara </a:t>
            </a:r>
            <a:r>
              <a:rPr lang="en-ID" sz="1200" b="1" dirty="0" err="1">
                <a:solidFill>
                  <a:srgbClr val="2D68A1"/>
                </a:solidFill>
                <a:latin typeface="Aptos"/>
              </a:rPr>
              <a:t>Membaca</a:t>
            </a:r>
            <a:endParaRPr lang="en-ID" sz="1200" b="1" dirty="0">
              <a:solidFill>
                <a:srgbClr val="2D68A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65152" y="6262217"/>
            <a:ext cx="6585104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2D3641"/>
                </a:solidFill>
                <a:latin typeface="Aptos"/>
              </a:rPr>
              <a:t>NULL pada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pertumbuhan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bukan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berarti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data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hilang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.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Persentase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terdefinisi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ketika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revenue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atau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jumlah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order pada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bulan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sebelumnya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bernilai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nol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karena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dapat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digunakan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sebagai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pembagi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3130" y="6006025"/>
            <a:ext cx="2513812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chemeClr val="accent6"/>
                </a:solidFill>
                <a:latin typeface="Aptos"/>
              </a:rPr>
              <a:t>Teknik SQL</a:t>
            </a:r>
            <a:r>
              <a:rPr lang="en-US" sz="1200" b="1" i="0" dirty="0">
                <a:solidFill>
                  <a:schemeClr val="accent6"/>
                </a:solidFill>
                <a:latin typeface="Aptos"/>
              </a:rPr>
              <a:t> yang </a:t>
            </a:r>
            <a:r>
              <a:rPr lang="en-US" sz="1200" b="1" i="0" dirty="0" err="1">
                <a:solidFill>
                  <a:schemeClr val="accent6"/>
                </a:solidFill>
                <a:latin typeface="Aptos"/>
              </a:rPr>
              <a:t>digunakan</a:t>
            </a:r>
            <a:endParaRPr sz="1200" b="1" i="0" dirty="0">
              <a:solidFill>
                <a:schemeClr val="accent6"/>
              </a:solidFill>
              <a:latin typeface="Apto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8D2420-BF1D-37F2-5605-43F7518E6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029720"/>
              </p:ext>
            </p:extLst>
          </p:nvPr>
        </p:nvGraphicFramePr>
        <p:xfrm>
          <a:off x="5118847" y="1482268"/>
          <a:ext cx="6731409" cy="440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99">
                  <a:extLst>
                    <a:ext uri="{9D8B030D-6E8A-4147-A177-3AD203B41FA5}">
                      <a16:colId xmlns:a16="http://schemas.microsoft.com/office/drawing/2014/main" val="3486125443"/>
                    </a:ext>
                  </a:extLst>
                </a:gridCol>
                <a:gridCol w="663075">
                  <a:extLst>
                    <a:ext uri="{9D8B030D-6E8A-4147-A177-3AD203B41FA5}">
                      <a16:colId xmlns:a16="http://schemas.microsoft.com/office/drawing/2014/main" val="2591857343"/>
                    </a:ext>
                  </a:extLst>
                </a:gridCol>
                <a:gridCol w="879169">
                  <a:extLst>
                    <a:ext uri="{9D8B030D-6E8A-4147-A177-3AD203B41FA5}">
                      <a16:colId xmlns:a16="http://schemas.microsoft.com/office/drawing/2014/main" val="1345620409"/>
                    </a:ext>
                  </a:extLst>
                </a:gridCol>
                <a:gridCol w="1231427">
                  <a:extLst>
                    <a:ext uri="{9D8B030D-6E8A-4147-A177-3AD203B41FA5}">
                      <a16:colId xmlns:a16="http://schemas.microsoft.com/office/drawing/2014/main" val="1834774397"/>
                    </a:ext>
                  </a:extLst>
                </a:gridCol>
                <a:gridCol w="1305432">
                  <a:extLst>
                    <a:ext uri="{9D8B030D-6E8A-4147-A177-3AD203B41FA5}">
                      <a16:colId xmlns:a16="http://schemas.microsoft.com/office/drawing/2014/main" val="570024387"/>
                    </a:ext>
                  </a:extLst>
                </a:gridCol>
                <a:gridCol w="1041976">
                  <a:extLst>
                    <a:ext uri="{9D8B030D-6E8A-4147-A177-3AD203B41FA5}">
                      <a16:colId xmlns:a16="http://schemas.microsoft.com/office/drawing/2014/main" val="554252188"/>
                    </a:ext>
                  </a:extLst>
                </a:gridCol>
                <a:gridCol w="911731">
                  <a:extLst>
                    <a:ext uri="{9D8B030D-6E8A-4147-A177-3AD203B41FA5}">
                      <a16:colId xmlns:a16="http://schemas.microsoft.com/office/drawing/2014/main" val="3345210641"/>
                    </a:ext>
                  </a:extLst>
                </a:gridCol>
              </a:tblGrid>
              <a:tr h="290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sales_month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total_orders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product_revenue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previous_month_orders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previous_month_revenue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revenue_growth_pct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 err="1">
                          <a:effectLst/>
                        </a:rPr>
                        <a:t>order_growth_pct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ctr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95400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134,97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7012164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40.325,11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134,97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29777,09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7161173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40.325,11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3718236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2016-12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9706947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111.798,36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1.025.573,03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74.900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4850817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234.223,4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111.798,36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109,51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120,4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6567181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359.198,85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234.223,4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54,02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2596482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340.669,68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359.198,85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-5,16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-9,54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5022001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489.338,25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340.669,68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53,97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21451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421.923,37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489.338,25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-13,78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-11,59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5311393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481.604,52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421.923,37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8763986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554.699,7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481.604,52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2167153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607.399,67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4.193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554.699,7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5125025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648.247,65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607.399,67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6337208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987.765,37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648.247,65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62,77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4564110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2017-12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726.033,19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987.765,37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-24,37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84111959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924.645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726.033,19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5240001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826.437,13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924.645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-10,62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-7,27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0372205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953.356,25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826.437,13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5790405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973.534,09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953.356,25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-2,93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0812196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977.544,69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973.534,09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-0,72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174655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856.077,86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977.544,69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-12,43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-9,63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4030007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867.953,46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856.077,86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2423262"/>
                  </a:ext>
                </a:extLst>
              </a:tr>
              <a:tr h="171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838.576,64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867.953,46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-3,38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869137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2AC1363-8CE1-A320-4B0B-E2169896C630}"/>
              </a:ext>
            </a:extLst>
          </p:cNvPr>
          <p:cNvSpPr txBox="1"/>
          <p:nvPr/>
        </p:nvSpPr>
        <p:spPr>
          <a:xfrm>
            <a:off x="803129" y="6254173"/>
            <a:ext cx="384058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2D3641"/>
                </a:solidFill>
                <a:latin typeface="Aptos"/>
              </a:rPr>
              <a:t>GENERATE_SERIES + LEFT JOIN + COALESCE + LAG + NULLIF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E8F12C4F-18BF-C670-6041-0827FBAC4BC8}"/>
              </a:ext>
            </a:extLst>
          </p:cNvPr>
          <p:cNvSpPr/>
          <p:nvPr/>
        </p:nvSpPr>
        <p:spPr>
          <a:xfrm>
            <a:off x="6583680" y="3985772"/>
            <a:ext cx="4663440" cy="1115146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03 • PRODUCT &amp;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2600" b="1" dirty="0">
                <a:solidFill>
                  <a:srgbClr val="1C3048"/>
                </a:solidFill>
                <a:latin typeface="Aptos"/>
              </a:rPr>
              <a:t>Ranking </a:t>
            </a:r>
            <a:r>
              <a:rPr lang="en-ID" sz="2600" b="1" dirty="0" err="1">
                <a:solidFill>
                  <a:srgbClr val="1C3048"/>
                </a:solidFill>
                <a:latin typeface="Aptos"/>
              </a:rPr>
              <a:t>Kategori</a:t>
            </a:r>
            <a:r>
              <a:rPr lang="en-ID" sz="2600" b="1" dirty="0">
                <a:solidFill>
                  <a:srgbClr val="1C3048"/>
                </a:solidFill>
                <a:latin typeface="Aptos"/>
              </a:rPr>
              <a:t> Produk </a:t>
            </a:r>
            <a:r>
              <a:rPr lang="en-ID" sz="2600" b="1" dirty="0" err="1">
                <a:solidFill>
                  <a:srgbClr val="1C3048"/>
                </a:solidFill>
                <a:latin typeface="Aptos"/>
              </a:rPr>
              <a:t>Berdasarkan</a:t>
            </a:r>
            <a:r>
              <a:rPr lang="en-ID" sz="2600" b="1" dirty="0">
                <a:solidFill>
                  <a:srgbClr val="1C3048"/>
                </a:solidFill>
                <a:latin typeface="Aptos"/>
              </a:rPr>
              <a:t> Revenue</a:t>
            </a:r>
            <a:r>
              <a:rPr lang="en-US" sz="2600" b="1" i="0" dirty="0">
                <a:solidFill>
                  <a:srgbClr val="1C3048"/>
                </a:solidFill>
                <a:latin typeface="Aptos"/>
              </a:rPr>
              <a:t> 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diurutkan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berdasarkan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total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harga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item pada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pesanan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berstatus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delivered,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termasuk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ongkos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kirim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5449824" cy="16804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SELECT COALESCE(</a:t>
            </a:r>
            <a:r>
              <a:rPr lang="en-ID" dirty="0" err="1"/>
              <a:t>t.product_category_name_english</a:t>
            </a:r>
            <a:r>
              <a:rPr lang="en-ID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            </a:t>
            </a:r>
            <a:r>
              <a:rPr lang="en-ID" dirty="0" err="1"/>
              <a:t>p.product_category_name</a:t>
            </a:r>
            <a:r>
              <a:rPr lang="en-ID" dirty="0"/>
              <a:t>, 'unknown') AS category,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   COUNT(*) AS </a:t>
            </a:r>
            <a:r>
              <a:rPr lang="en-ID" dirty="0" err="1"/>
              <a:t>items_sold</a:t>
            </a:r>
            <a:r>
              <a:rPr lang="en-ID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   COUNT(DISTINCT </a:t>
            </a:r>
            <a:r>
              <a:rPr lang="en-ID" dirty="0" err="1"/>
              <a:t>i.order_id</a:t>
            </a:r>
            <a:r>
              <a:rPr lang="en-ID" dirty="0"/>
              <a:t>) AS orders,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   SUM(</a:t>
            </a:r>
            <a:r>
              <a:rPr lang="en-ID" dirty="0" err="1"/>
              <a:t>i.price</a:t>
            </a:r>
            <a:r>
              <a:rPr lang="en-ID" dirty="0"/>
              <a:t>::numeric) AS </a:t>
            </a:r>
            <a:r>
              <a:rPr lang="en-ID" dirty="0" err="1"/>
              <a:t>product_revenue</a:t>
            </a:r>
            <a:endParaRPr lang="en-ID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FROM </a:t>
            </a:r>
            <a:r>
              <a:rPr lang="en-ID" dirty="0" err="1"/>
              <a:t>staging.order_items_raw</a:t>
            </a:r>
            <a:r>
              <a:rPr lang="en-ID" dirty="0"/>
              <a:t> </a:t>
            </a:r>
            <a:r>
              <a:rPr lang="en-ID" dirty="0" err="1"/>
              <a:t>i</a:t>
            </a:r>
            <a:endParaRPr lang="en-ID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JOIN </a:t>
            </a:r>
            <a:r>
              <a:rPr lang="en-ID" dirty="0" err="1"/>
              <a:t>staging.orders_raw</a:t>
            </a:r>
            <a:r>
              <a:rPr lang="en-ID" dirty="0"/>
              <a:t> o ON </a:t>
            </a:r>
            <a:r>
              <a:rPr lang="en-ID" dirty="0" err="1"/>
              <a:t>i.order_id</a:t>
            </a:r>
            <a:r>
              <a:rPr lang="en-ID" dirty="0"/>
              <a:t> = </a:t>
            </a:r>
            <a:r>
              <a:rPr lang="en-ID" dirty="0" err="1"/>
              <a:t>o.order_id</a:t>
            </a:r>
            <a:endParaRPr lang="en-ID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LEFT JOIN </a:t>
            </a:r>
            <a:r>
              <a:rPr lang="en-ID" dirty="0" err="1"/>
              <a:t>staging.products_raw</a:t>
            </a:r>
            <a:r>
              <a:rPr lang="en-ID" dirty="0"/>
              <a:t> p ON </a:t>
            </a:r>
            <a:r>
              <a:rPr lang="en-ID" dirty="0" err="1"/>
              <a:t>i.product_id</a:t>
            </a:r>
            <a:r>
              <a:rPr lang="en-ID" dirty="0"/>
              <a:t> = </a:t>
            </a:r>
            <a:r>
              <a:rPr lang="en-ID" dirty="0" err="1"/>
              <a:t>p.product_id</a:t>
            </a:r>
            <a:endParaRPr lang="en-ID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LEFT JOIN </a:t>
            </a:r>
            <a:r>
              <a:rPr lang="en-ID" dirty="0" err="1"/>
              <a:t>staging.category_translation_raw</a:t>
            </a:r>
            <a:r>
              <a:rPr lang="en-ID" dirty="0"/>
              <a:t> t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ON </a:t>
            </a:r>
            <a:r>
              <a:rPr lang="en-ID" dirty="0" err="1"/>
              <a:t>p.product_category_name</a:t>
            </a:r>
            <a:r>
              <a:rPr lang="en-ID" dirty="0"/>
              <a:t> = </a:t>
            </a:r>
            <a:r>
              <a:rPr lang="en-ID" dirty="0" err="1"/>
              <a:t>t.product_category_name</a:t>
            </a:r>
            <a:endParaRPr lang="en-ID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WHERE </a:t>
            </a:r>
            <a:r>
              <a:rPr lang="en-ID" dirty="0" err="1"/>
              <a:t>o.order_status</a:t>
            </a:r>
            <a:r>
              <a:rPr lang="en-ID" dirty="0"/>
              <a:t> = 'delivered'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GROUP BY 1 ORDER BY </a:t>
            </a:r>
            <a:r>
              <a:rPr lang="en-ID" dirty="0" err="1"/>
              <a:t>product_revenue</a:t>
            </a:r>
            <a:r>
              <a:rPr lang="en-ID" dirty="0"/>
              <a:t> DESC LIMIT 15;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15371"/>
              </p:ext>
            </p:extLst>
          </p:nvPr>
        </p:nvGraphicFramePr>
        <p:xfrm>
          <a:off x="6583680" y="1691640"/>
          <a:ext cx="4663440" cy="186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Output query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Tujuan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category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Nama </a:t>
                      </a:r>
                      <a:r>
                        <a:rPr lang="en-US" dirty="0" err="1"/>
                        <a:t>kategori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produk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 err="1"/>
                        <a:t>items_sold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Jumlah</a:t>
                      </a:r>
                      <a:r>
                        <a:rPr lang="en-US" dirty="0"/>
                        <a:t> item yang </a:t>
                      </a:r>
                      <a:r>
                        <a:rPr lang="en-US" dirty="0" err="1"/>
                        <a:t>terjual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orders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Jumlah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unik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product_revenue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Total revenue </a:t>
                      </a:r>
                      <a:r>
                        <a:rPr lang="en-US" dirty="0" err="1"/>
                        <a:t>produk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tidak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termasuk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ongkir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24442" y="4003702"/>
            <a:ext cx="43891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200" b="1" dirty="0">
                <a:solidFill>
                  <a:srgbClr val="1F7E80"/>
                </a:solidFill>
                <a:latin typeface="Aptos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442" y="4269236"/>
            <a:ext cx="4522678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100" dirty="0"/>
              <a:t>Ranking </a:t>
            </a:r>
            <a:r>
              <a:rPr lang="en-ID" sz="1100" dirty="0" err="1"/>
              <a:t>menunjukkan</a:t>
            </a:r>
            <a:r>
              <a:rPr lang="en-ID" sz="1100" dirty="0"/>
              <a:t> </a:t>
            </a:r>
            <a:r>
              <a:rPr lang="en-ID" sz="1100" dirty="0" err="1"/>
              <a:t>perbedaan</a:t>
            </a:r>
            <a:r>
              <a:rPr lang="en-ID" sz="1100" dirty="0"/>
              <a:t> </a:t>
            </a:r>
            <a:r>
              <a:rPr lang="en-ID" sz="1100" dirty="0" err="1"/>
              <a:t>kontribusi</a:t>
            </a:r>
            <a:r>
              <a:rPr lang="en-ID" sz="1100" dirty="0"/>
              <a:t> revenue </a:t>
            </a:r>
            <a:r>
              <a:rPr lang="en-ID" sz="1100" dirty="0" err="1"/>
              <a:t>antar</a:t>
            </a:r>
            <a:r>
              <a:rPr lang="en-ID" sz="1100" dirty="0"/>
              <a:t> </a:t>
            </a:r>
            <a:r>
              <a:rPr lang="en-ID" sz="1100" dirty="0" err="1"/>
              <a:t>kategori</a:t>
            </a:r>
            <a:r>
              <a:rPr lang="en-ID" sz="1100" dirty="0"/>
              <a:t> </a:t>
            </a:r>
            <a:r>
              <a:rPr lang="en-ID" sz="1100" dirty="0" err="1"/>
              <a:t>produk</a:t>
            </a:r>
            <a:r>
              <a:rPr lang="en-ID" sz="1100" dirty="0"/>
              <a:t>. </a:t>
            </a:r>
            <a:r>
              <a:rPr lang="en-ID" sz="1100" dirty="0" err="1"/>
              <a:t>Kategori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revenue </a:t>
            </a:r>
            <a:r>
              <a:rPr lang="en-ID" sz="1100" dirty="0" err="1"/>
              <a:t>tertinggi</a:t>
            </a:r>
            <a:r>
              <a:rPr lang="en-ID" sz="1100" dirty="0"/>
              <a:t> </a:t>
            </a:r>
            <a:r>
              <a:rPr lang="en-ID" sz="1100" dirty="0" err="1"/>
              <a:t>menjadi</a:t>
            </a:r>
            <a:r>
              <a:rPr lang="en-ID" sz="1100" dirty="0"/>
              <a:t> </a:t>
            </a:r>
            <a:r>
              <a:rPr lang="en-ID" sz="1100" dirty="0" err="1"/>
              <a:t>titik</a:t>
            </a:r>
            <a:r>
              <a:rPr lang="en-ID" sz="1100" dirty="0"/>
              <a:t> </a:t>
            </a:r>
            <a:r>
              <a:rPr lang="en-ID" sz="1100" dirty="0" err="1"/>
              <a:t>awal</a:t>
            </a:r>
            <a:r>
              <a:rPr lang="en-ID" sz="1100" dirty="0"/>
              <a:t>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mengevaluasi</a:t>
            </a:r>
            <a:r>
              <a:rPr lang="en-ID" sz="1100" dirty="0"/>
              <a:t> volume item, </a:t>
            </a:r>
            <a:r>
              <a:rPr lang="en-ID" sz="1100" dirty="0" err="1"/>
              <a:t>jumlah</a:t>
            </a:r>
            <a:r>
              <a:rPr lang="en-ID" sz="1100" dirty="0"/>
              <a:t> </a:t>
            </a:r>
            <a:r>
              <a:rPr lang="en-ID" sz="1100" dirty="0" err="1"/>
              <a:t>pesanan</a:t>
            </a:r>
            <a:r>
              <a:rPr lang="en-ID" sz="1100" dirty="0"/>
              <a:t>, dan </a:t>
            </a:r>
            <a:r>
              <a:rPr lang="en-ID" sz="1100" dirty="0" err="1"/>
              <a:t>peluang</a:t>
            </a:r>
            <a:r>
              <a:rPr lang="en-ID" sz="1100" dirty="0"/>
              <a:t> </a:t>
            </a:r>
            <a:r>
              <a:rPr lang="en-ID" sz="1100" dirty="0" err="1"/>
              <a:t>analisis</a:t>
            </a:r>
            <a:r>
              <a:rPr lang="en-ID" sz="1100" dirty="0"/>
              <a:t> </a:t>
            </a:r>
            <a:r>
              <a:rPr lang="en-ID" sz="1100" dirty="0" err="1"/>
              <a:t>lebih</a:t>
            </a:r>
            <a:r>
              <a:rPr lang="en-ID" sz="1100" dirty="0"/>
              <a:t> </a:t>
            </a:r>
            <a:r>
              <a:rPr lang="en-ID" sz="1100" dirty="0" err="1"/>
              <a:t>lanjut</a:t>
            </a:r>
            <a:r>
              <a:rPr lang="en-ID" sz="1100" dirty="0"/>
              <a:t>. Revenue yang </a:t>
            </a:r>
            <a:r>
              <a:rPr lang="en-ID" sz="1100" dirty="0" err="1"/>
              <a:t>tinggi</a:t>
            </a:r>
            <a:r>
              <a:rPr lang="en-ID" sz="1100" dirty="0"/>
              <a:t> </a:t>
            </a:r>
            <a:r>
              <a:rPr lang="en-ID" sz="1100" dirty="0" err="1"/>
              <a:t>tidak</a:t>
            </a:r>
            <a:r>
              <a:rPr lang="en-ID" sz="1100" dirty="0"/>
              <a:t> </a:t>
            </a:r>
            <a:r>
              <a:rPr lang="en-ID" sz="1100" dirty="0" err="1"/>
              <a:t>otomatis</a:t>
            </a:r>
            <a:r>
              <a:rPr lang="en-ID" sz="1100" dirty="0"/>
              <a:t> </a:t>
            </a:r>
            <a:r>
              <a:rPr lang="en-ID" sz="1100" dirty="0" err="1"/>
              <a:t>menunjukkan</a:t>
            </a:r>
            <a:r>
              <a:rPr lang="en-ID" sz="1100" dirty="0"/>
              <a:t> </a:t>
            </a:r>
            <a:r>
              <a:rPr lang="en-ID" sz="1100" dirty="0" err="1"/>
              <a:t>profitabilitas</a:t>
            </a:r>
            <a:r>
              <a:rPr lang="en-ID" sz="1100" dirty="0"/>
              <a:t> yang </a:t>
            </a:r>
            <a:r>
              <a:rPr lang="en-ID" sz="1100" dirty="0" err="1"/>
              <a:t>tinggi</a:t>
            </a:r>
            <a:r>
              <a:rPr lang="en-ID" sz="1100" dirty="0"/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14E8C9FD-CE43-F9F0-8B95-52E949AE3E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812712"/>
              </p:ext>
            </p:extLst>
          </p:nvPr>
        </p:nvGraphicFramePr>
        <p:xfrm>
          <a:off x="566929" y="3796284"/>
          <a:ext cx="5742431" cy="2909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03 • PRODUCT &amp;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noProof="1">
                <a:solidFill>
                  <a:srgbClr val="1C3048"/>
                </a:solidFill>
                <a:latin typeface="Aptos"/>
              </a:rPr>
              <a:t>Rekonsiliasi Revenue Kategori dan Identifikasi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Total revenue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sama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dengan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baseline revenue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tetapi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belum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terklasifikasi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tetap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perlu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ditinjau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600199"/>
            <a:ext cx="1440000" cy="8197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9" name="TextBox 8"/>
          <p:cNvSpPr txBox="1"/>
          <p:nvPr/>
        </p:nvSpPr>
        <p:spPr>
          <a:xfrm>
            <a:off x="758952" y="1707192"/>
            <a:ext cx="123883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2D68A1"/>
                </a:solidFill>
                <a:latin typeface="Aptos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" y="1998151"/>
            <a:ext cx="135313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 dirty="0" err="1">
                <a:solidFill>
                  <a:srgbClr val="1C3048"/>
                </a:solidFill>
                <a:latin typeface="Aptos"/>
              </a:rPr>
              <a:t>Kategori</a:t>
            </a:r>
            <a:r>
              <a:rPr sz="9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1C3048"/>
                </a:solidFill>
                <a:latin typeface="Aptos"/>
              </a:rPr>
              <a:t>hasil</a:t>
            </a:r>
            <a:r>
              <a:rPr sz="9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sz="900" b="1" i="0" dirty="0" err="1">
                <a:solidFill>
                  <a:srgbClr val="1C3048"/>
                </a:solidFill>
                <a:latin typeface="Aptos"/>
              </a:rPr>
              <a:t>agregasi</a:t>
            </a:r>
            <a:endParaRPr sz="9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99536" y="1600200"/>
            <a:ext cx="1440000" cy="81972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" name="TextBox 12"/>
          <p:cNvSpPr txBox="1"/>
          <p:nvPr/>
        </p:nvSpPr>
        <p:spPr>
          <a:xfrm>
            <a:off x="2371256" y="1708841"/>
            <a:ext cx="123883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F7E80"/>
                </a:solidFill>
                <a:latin typeface="Aptos"/>
              </a:rPr>
              <a:t>R$13,22 </a:t>
            </a:r>
            <a:r>
              <a:rPr sz="1400" b="1" i="0" dirty="0" err="1">
                <a:solidFill>
                  <a:srgbClr val="1F7E80"/>
                </a:solidFill>
                <a:latin typeface="Aptos"/>
              </a:rPr>
              <a:t>jt</a:t>
            </a:r>
            <a:endParaRPr sz="1400" b="1" i="0" dirty="0">
              <a:solidFill>
                <a:srgbClr val="1F7E8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1256" y="1998151"/>
            <a:ext cx="13682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900" b="1" i="0" dirty="0">
                <a:solidFill>
                  <a:srgbClr val="1C3048"/>
                </a:solidFill>
                <a:latin typeface="Aptos"/>
              </a:rPr>
              <a:t>Total revenue </a:t>
            </a:r>
            <a:r>
              <a:rPr lang="en-ID" sz="900" b="1" i="0" dirty="0" err="1">
                <a:solidFill>
                  <a:srgbClr val="1C3048"/>
                </a:solidFill>
                <a:latin typeface="Aptos"/>
              </a:rPr>
              <a:t>produk</a:t>
            </a:r>
            <a:r>
              <a:rPr lang="en-ID" sz="9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900" b="1" i="0" dirty="0" err="1">
                <a:solidFill>
                  <a:srgbClr val="1C3048"/>
                </a:solidFill>
                <a:latin typeface="Aptos"/>
              </a:rPr>
              <a:t>berdasarkan</a:t>
            </a:r>
            <a:r>
              <a:rPr lang="en-ID" sz="9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900" b="1" i="0" dirty="0" err="1">
                <a:solidFill>
                  <a:srgbClr val="1C3048"/>
                </a:solidFill>
                <a:latin typeface="Aptos"/>
              </a:rPr>
              <a:t>kategori</a:t>
            </a:r>
            <a:endParaRPr sz="9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012424" y="1591436"/>
            <a:ext cx="1440000" cy="8197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6"/>
          <p:cNvSpPr txBox="1"/>
          <p:nvPr/>
        </p:nvSpPr>
        <p:spPr>
          <a:xfrm>
            <a:off x="4087368" y="1708841"/>
            <a:ext cx="19659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377C58"/>
                </a:solidFill>
                <a:latin typeface="Aptos"/>
              </a:rPr>
              <a:t>R$0,00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4144" y="1982194"/>
            <a:ext cx="13682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 err="1">
                <a:solidFill>
                  <a:srgbClr val="1C3048"/>
                </a:solidFill>
                <a:latin typeface="Aptos"/>
              </a:rPr>
              <a:t>Selisih</a:t>
            </a:r>
            <a:r>
              <a:rPr sz="1000" b="1" i="0" dirty="0">
                <a:solidFill>
                  <a:srgbClr val="1C3048"/>
                </a:solidFill>
                <a:latin typeface="Aptos"/>
              </a:rPr>
              <a:t>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3592" y="1591436"/>
            <a:ext cx="1440000" cy="8197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5725313" y="1708841"/>
            <a:ext cx="1368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DC8537"/>
                </a:solidFill>
                <a:latin typeface="Aptos"/>
              </a:rPr>
              <a:t>R$170.726,63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5312" y="1997583"/>
            <a:ext cx="13682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900" b="1" i="0" dirty="0">
                <a:solidFill>
                  <a:srgbClr val="1C3048"/>
                </a:solidFill>
                <a:latin typeface="Aptos"/>
              </a:rPr>
              <a:t>Revenue </a:t>
            </a:r>
            <a:r>
              <a:rPr lang="en-ID" sz="900" b="1" i="0" dirty="0" err="1">
                <a:solidFill>
                  <a:srgbClr val="1C3048"/>
                </a:solidFill>
                <a:latin typeface="Aptos"/>
              </a:rPr>
              <a:t>kategori</a:t>
            </a:r>
            <a:r>
              <a:rPr lang="en-ID" sz="900" b="1" i="0" dirty="0">
                <a:solidFill>
                  <a:srgbClr val="1C3048"/>
                </a:solidFill>
                <a:latin typeface="Aptos"/>
              </a:rPr>
              <a:t> unknown / unclassified</a:t>
            </a:r>
            <a:endParaRPr sz="900" b="1" i="0" dirty="0">
              <a:solidFill>
                <a:srgbClr val="1C3048"/>
              </a:solidFill>
              <a:latin typeface="Aptos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06640"/>
              </p:ext>
            </p:extLst>
          </p:nvPr>
        </p:nvGraphicFramePr>
        <p:xfrm>
          <a:off x="658368" y="2607942"/>
          <a:ext cx="6629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Kategori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perlu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ditinjau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Jumlah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produk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unik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Jumlah</a:t>
                      </a:r>
                      <a:r>
                        <a:rPr lang="en-ID" dirty="0"/>
                        <a:t> item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D" dirty="0"/>
                        <a:t>Revenue </a:t>
                      </a:r>
                      <a:r>
                        <a:rPr lang="en-ID" dirty="0" err="1"/>
                        <a:t>produk</a:t>
                      </a:r>
                      <a:r>
                        <a:rPr lang="en-ID" dirty="0"/>
                        <a:t> (R$)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NULL / unknown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584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1.537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R$170.726,63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portateis_cozinha_e_preparadores_de_alimentos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R$3.933,63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pc_gamer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R$1.306,95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605432" y="1591437"/>
            <a:ext cx="4308661" cy="164875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56330" y="1633575"/>
            <a:ext cx="4157763" cy="158812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-- Query </a:t>
            </a:r>
            <a:r>
              <a:rPr lang="en-ID" sz="900" dirty="0">
                <a:solidFill>
                  <a:srgbClr val="2D68A1"/>
                </a:solidFill>
                <a:latin typeface="Consolas"/>
              </a:rPr>
              <a:t>Revenue Reconciliation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WITH </a:t>
            </a:r>
            <a:r>
              <a:rPr lang="en-ID" sz="800" dirty="0" err="1"/>
              <a:t>category_revenue</a:t>
            </a:r>
            <a:r>
              <a:rPr lang="en-ID" sz="800" dirty="0"/>
              <a:t> AS (…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)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SELECT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COUNT(*) AS </a:t>
            </a:r>
            <a:r>
              <a:rPr lang="en-ID" sz="800" dirty="0" err="1"/>
              <a:t>total_categories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ROUND(SUM(</a:t>
            </a:r>
            <a:r>
              <a:rPr lang="en-ID" sz="800" dirty="0" err="1"/>
              <a:t>c.product_revenue</a:t>
            </a:r>
            <a:r>
              <a:rPr lang="en-ID" sz="800" dirty="0"/>
              <a:t>), 2) AS </a:t>
            </a:r>
            <a:r>
              <a:rPr lang="en-ID" sz="800" dirty="0" err="1"/>
              <a:t>total_category_revenue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ROUND(SUM(</a:t>
            </a:r>
            <a:r>
              <a:rPr lang="en-ID" sz="800" dirty="0" err="1"/>
              <a:t>c.product_revenue</a:t>
            </a:r>
            <a:r>
              <a:rPr lang="en-ID" sz="800" dirty="0"/>
              <a:t>) - MAX(</a:t>
            </a:r>
            <a:r>
              <a:rPr lang="en-ID" sz="800" dirty="0" err="1"/>
              <a:t>b.product_revenue</a:t>
            </a:r>
            <a:r>
              <a:rPr lang="en-ID" sz="800" dirty="0"/>
              <a:t>), 2) AS </a:t>
            </a:r>
            <a:r>
              <a:rPr lang="en-ID" sz="800" dirty="0" err="1"/>
              <a:t>difference_from_baseline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ROUND(SUM(</a:t>
            </a:r>
            <a:r>
              <a:rPr lang="en-ID" sz="800" dirty="0" err="1"/>
              <a:t>c.product_revenue</a:t>
            </a:r>
            <a:r>
              <a:rPr lang="en-ID" sz="800" dirty="0"/>
              <a:t>) FILTER (WHERE </a:t>
            </a:r>
            <a:r>
              <a:rPr lang="en-ID" sz="800" dirty="0" err="1"/>
              <a:t>c.product_category</a:t>
            </a:r>
            <a:r>
              <a:rPr lang="en-ID" sz="800" dirty="0"/>
              <a:t> = 'Unknown / Unclassified'), 2) AS </a:t>
            </a:r>
            <a:r>
              <a:rPr lang="en-ID" sz="800" dirty="0" err="1"/>
              <a:t>unknown_category_revenue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FROM </a:t>
            </a:r>
            <a:r>
              <a:rPr lang="en-ID" sz="800" dirty="0" err="1"/>
              <a:t>category_revenue</a:t>
            </a:r>
            <a:r>
              <a:rPr lang="en-ID" sz="800" dirty="0"/>
              <a:t> c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CROSS JOIN baseline b;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03670"/>
            <a:ext cx="6540200" cy="935312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" y="5022142"/>
            <a:ext cx="645566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1F7E80"/>
                </a:solidFill>
                <a:latin typeface="Aptos"/>
              </a:rPr>
              <a:t>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5287134"/>
            <a:ext cx="6393896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noProof="1">
                <a:solidFill>
                  <a:srgbClr val="2D3641"/>
                </a:solidFill>
                <a:latin typeface="Aptos"/>
              </a:rPr>
              <a:t>Selisih revenue sebesar R$0,00 menunjukkan agregasi kategori berhasil direkonsiliasi dengan baseline revenue produk. Namun, revenue kategori unknown sebesar R$170.726,63 menunjukkan masih ada nilai penjualan yang perlu ditinjau dari sisi kelengkapan klasifikasi produk.</a:t>
            </a:r>
          </a:p>
        </p:txBody>
      </p:sp>
      <p:sp>
        <p:nvSpPr>
          <p:cNvPr id="30" name="Rounded Rectangle 23">
            <a:extLst>
              <a:ext uri="{FF2B5EF4-FFF2-40B4-BE49-F238E27FC236}">
                <a16:creationId xmlns:a16="http://schemas.microsoft.com/office/drawing/2014/main" id="{730AD46B-E44E-F3EA-4B1B-7E7406090101}"/>
              </a:ext>
            </a:extLst>
          </p:cNvPr>
          <p:cNvSpPr/>
          <p:nvPr/>
        </p:nvSpPr>
        <p:spPr>
          <a:xfrm>
            <a:off x="7605432" y="3341935"/>
            <a:ext cx="4308661" cy="33359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5B1440-A9A3-8A6C-FB61-69D85CDE53FD}"/>
              </a:ext>
            </a:extLst>
          </p:cNvPr>
          <p:cNvSpPr txBox="1"/>
          <p:nvPr/>
        </p:nvSpPr>
        <p:spPr>
          <a:xfrm>
            <a:off x="7756330" y="3392248"/>
            <a:ext cx="4157763" cy="32039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-- Query Exception Detail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SELECT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COALESCE(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  </a:t>
            </a:r>
            <a:r>
              <a:rPr lang="en-ID" sz="800" dirty="0" err="1"/>
              <a:t>p.product_category_name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  'Unknown / Unclassified'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) AS </a:t>
            </a:r>
            <a:r>
              <a:rPr lang="en-ID" sz="800" dirty="0" err="1"/>
              <a:t>source_product_category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COUNT(DISTINCT </a:t>
            </a:r>
            <a:r>
              <a:rPr lang="en-ID" sz="800" dirty="0" err="1"/>
              <a:t>p.product_id</a:t>
            </a:r>
            <a:r>
              <a:rPr lang="en-ID" sz="800" dirty="0"/>
              <a:t>) AS </a:t>
            </a:r>
            <a:r>
              <a:rPr lang="en-ID" sz="800" dirty="0" err="1"/>
              <a:t>unique_products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COUNT(*) AS </a:t>
            </a:r>
            <a:r>
              <a:rPr lang="en-ID" sz="800" dirty="0" err="1"/>
              <a:t>total_delivered_items</a:t>
            </a:r>
            <a:r>
              <a:rPr lang="en-ID" sz="800" dirty="0"/>
              <a:t>,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ROUND(SUM(</a:t>
            </a:r>
            <a:r>
              <a:rPr lang="en-ID" sz="800" dirty="0" err="1"/>
              <a:t>i.price</a:t>
            </a:r>
            <a:r>
              <a:rPr lang="en-ID" sz="800" dirty="0"/>
              <a:t>::numeric), 2) AS </a:t>
            </a:r>
            <a:r>
              <a:rPr lang="en-ID" sz="800" dirty="0" err="1"/>
              <a:t>product_revenue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FROM </a:t>
            </a:r>
            <a:r>
              <a:rPr lang="en-ID" sz="800" dirty="0" err="1"/>
              <a:t>staging.orders_raw</a:t>
            </a:r>
            <a:r>
              <a:rPr lang="en-ID" sz="800" dirty="0"/>
              <a:t> o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JOIN </a:t>
            </a:r>
            <a:r>
              <a:rPr lang="en-ID" sz="800" dirty="0" err="1"/>
              <a:t>staging.order_items_raw</a:t>
            </a:r>
            <a:r>
              <a:rPr lang="en-ID" sz="800" dirty="0"/>
              <a:t> </a:t>
            </a:r>
            <a:r>
              <a:rPr lang="en-ID" sz="800" dirty="0" err="1"/>
              <a:t>i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ON </a:t>
            </a:r>
            <a:r>
              <a:rPr lang="en-ID" sz="800" dirty="0" err="1"/>
              <a:t>o.order_id</a:t>
            </a:r>
            <a:r>
              <a:rPr lang="en-ID" sz="800" dirty="0"/>
              <a:t> = </a:t>
            </a:r>
            <a:r>
              <a:rPr lang="en-ID" sz="800" dirty="0" err="1"/>
              <a:t>i.order_id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LEFT JOIN </a:t>
            </a:r>
            <a:r>
              <a:rPr lang="en-ID" sz="800" dirty="0" err="1"/>
              <a:t>staging.products_raw</a:t>
            </a:r>
            <a:r>
              <a:rPr lang="en-ID" sz="800" dirty="0"/>
              <a:t> p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ON </a:t>
            </a:r>
            <a:r>
              <a:rPr lang="en-ID" sz="800" dirty="0" err="1"/>
              <a:t>i.product_id</a:t>
            </a:r>
            <a:r>
              <a:rPr lang="en-ID" sz="800" dirty="0"/>
              <a:t> = </a:t>
            </a:r>
            <a:r>
              <a:rPr lang="en-ID" sz="800" dirty="0" err="1"/>
              <a:t>p.product_id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LEFT JOIN </a:t>
            </a:r>
            <a:r>
              <a:rPr lang="en-ID" sz="800" dirty="0" err="1"/>
              <a:t>staging.category_translation_raw</a:t>
            </a:r>
            <a:r>
              <a:rPr lang="en-ID" sz="800" dirty="0"/>
              <a:t> t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ON </a:t>
            </a:r>
            <a:r>
              <a:rPr lang="en-ID" sz="800" dirty="0" err="1"/>
              <a:t>p.product_category_name</a:t>
            </a:r>
            <a:r>
              <a:rPr lang="en-ID" sz="800" dirty="0"/>
              <a:t> = </a:t>
            </a:r>
            <a:r>
              <a:rPr lang="en-ID" sz="800" dirty="0" err="1"/>
              <a:t>t.product_category_name</a:t>
            </a:r>
            <a:endParaRPr lang="en-ID" sz="800" dirty="0"/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WHERE </a:t>
            </a:r>
            <a:r>
              <a:rPr lang="en-ID" sz="800" dirty="0" err="1"/>
              <a:t>o.order_status</a:t>
            </a:r>
            <a:r>
              <a:rPr lang="en-ID" sz="800" dirty="0"/>
              <a:t> = 'delivered'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AND (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</a:t>
            </a:r>
            <a:r>
              <a:rPr lang="en-ID" sz="800" dirty="0" err="1"/>
              <a:t>p.product_category_name</a:t>
            </a:r>
            <a:r>
              <a:rPr lang="en-ID" sz="800" dirty="0"/>
              <a:t> IS NULL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OR (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    </a:t>
            </a:r>
            <a:r>
              <a:rPr lang="en-ID" sz="800" dirty="0" err="1"/>
              <a:t>p.product_category_name</a:t>
            </a:r>
            <a:r>
              <a:rPr lang="en-ID" sz="800" dirty="0"/>
              <a:t> IS NOT NULL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    AND </a:t>
            </a:r>
            <a:r>
              <a:rPr lang="en-ID" sz="800" dirty="0" err="1"/>
              <a:t>t.product_category_name</a:t>
            </a:r>
            <a:r>
              <a:rPr lang="en-ID" sz="800" dirty="0"/>
              <a:t> IS NULL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    )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  )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GROUP BY 1</a:t>
            </a:r>
          </a:p>
          <a:p>
            <a:pPr>
              <a:spcAft>
                <a:spcPts val="0"/>
              </a:spcAft>
              <a:defRPr sz="900">
                <a:solidFill>
                  <a:srgbClr val="2D68A1"/>
                </a:solidFill>
                <a:latin typeface="Consolas"/>
              </a:defRPr>
            </a:pPr>
            <a:r>
              <a:rPr lang="en-ID" sz="800" dirty="0"/>
              <a:t>ORDER BY </a:t>
            </a:r>
            <a:r>
              <a:rPr lang="en-ID" sz="800" dirty="0" err="1"/>
              <a:t>product_revenue</a:t>
            </a:r>
            <a:r>
              <a:rPr lang="en-ID" sz="800" dirty="0"/>
              <a:t> DESC NULLS LAST;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04 • 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320272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600" b="1" i="0" dirty="0">
                <a:solidFill>
                  <a:srgbClr val="1C3048"/>
                </a:solidFill>
                <a:latin typeface="Aptos"/>
              </a:rPr>
              <a:t>Repeat Buyer Rate Hanya 3,00% pada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Pelanggan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dengan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Pesanan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Delivered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noProof="1">
                <a:solidFill>
                  <a:srgbClr val="636E7A"/>
                </a:solidFill>
                <a:latin typeface="Aptos"/>
              </a:rPr>
              <a:t>Identitas pelanggan menggunakan customer_unique_id. Analisis mencakup pesanan berstatus delivered dengan tanggal penerimaan pelanggan yang tersedia.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46504"/>
            <a:ext cx="2103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D68A1"/>
                </a:solidFill>
                <a:latin typeface="Aptos"/>
              </a:rPr>
              <a:t>93.350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8541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C3048"/>
                </a:solidFill>
                <a:latin typeface="Aptos"/>
              </a:rPr>
              <a:t>Pelanggan unik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0020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1746504"/>
            <a:ext cx="2103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7E80"/>
                </a:solidFill>
                <a:latin typeface="Aptos"/>
              </a:rPr>
              <a:t>90.549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185416"/>
            <a:ext cx="21031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Pembeli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satu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kali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33872" y="1600200"/>
            <a:ext cx="2423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1746504"/>
            <a:ext cx="21031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C8537"/>
                </a:solidFill>
                <a:latin typeface="Aptos"/>
              </a:rPr>
              <a:t>2.801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85416"/>
            <a:ext cx="21031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Pembeli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berulang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80" y="160020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1746504"/>
            <a:ext cx="22402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D68A1"/>
                </a:solidFill>
                <a:latin typeface="Aptos"/>
              </a:rPr>
              <a:t>3,00%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185416"/>
            <a:ext cx="224027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1C3048"/>
                </a:solidFill>
                <a:latin typeface="Aptos"/>
              </a:rPr>
              <a:t>Tingkat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pembeli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berulang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3154680"/>
            <a:ext cx="4297680" cy="331986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246120"/>
            <a:ext cx="4187952" cy="310392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WITH </a:t>
            </a:r>
            <a:r>
              <a:rPr lang="en-US" sz="900" dirty="0" err="1"/>
              <a:t>customer_orders</a:t>
            </a:r>
            <a:r>
              <a:rPr lang="en-US" sz="900" dirty="0"/>
              <a:t> AS (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SELECT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</a:t>
            </a:r>
            <a:r>
              <a:rPr lang="en-US" sz="900" dirty="0" err="1"/>
              <a:t>c.customer_unique_id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COUNT(DISTINCT </a:t>
            </a:r>
            <a:r>
              <a:rPr lang="en-US" sz="900" dirty="0" err="1"/>
              <a:t>o.order_id</a:t>
            </a:r>
            <a:r>
              <a:rPr lang="en-US" sz="900" dirty="0"/>
              <a:t>) AS </a:t>
            </a:r>
            <a:r>
              <a:rPr lang="en-US" sz="900" dirty="0" err="1"/>
              <a:t>total_orders</a:t>
            </a:r>
            <a:endParaRPr lang="en-US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FROM </a:t>
            </a:r>
            <a:r>
              <a:rPr lang="en-US" sz="900" dirty="0" err="1"/>
              <a:t>staging.orders_raw</a:t>
            </a:r>
            <a:r>
              <a:rPr lang="en-US" sz="900" dirty="0"/>
              <a:t> o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JOIN </a:t>
            </a:r>
            <a:r>
              <a:rPr lang="en-US" sz="900" dirty="0" err="1"/>
              <a:t>staging.customers_raw</a:t>
            </a:r>
            <a:r>
              <a:rPr lang="en-US" sz="900" dirty="0"/>
              <a:t> c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ON </a:t>
            </a:r>
            <a:r>
              <a:rPr lang="en-US" sz="900" dirty="0" err="1"/>
              <a:t>o.customer_id</a:t>
            </a:r>
            <a:r>
              <a:rPr lang="en-US" sz="900" dirty="0"/>
              <a:t> = </a:t>
            </a:r>
            <a:r>
              <a:rPr lang="en-US" sz="900" dirty="0" err="1"/>
              <a:t>c.customer_id</a:t>
            </a:r>
            <a:endParaRPr lang="en-US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WHERE </a:t>
            </a:r>
            <a:r>
              <a:rPr lang="en-US" sz="900" dirty="0" err="1"/>
              <a:t>o.order_status</a:t>
            </a:r>
            <a:r>
              <a:rPr lang="en-US" sz="900" dirty="0"/>
              <a:t> = 'delivered'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AND </a:t>
            </a:r>
            <a:r>
              <a:rPr lang="en-US" sz="900" dirty="0" err="1"/>
              <a:t>o.order_delivered_customer_date</a:t>
            </a:r>
            <a:r>
              <a:rPr lang="en-US" sz="900" dirty="0"/>
              <a:t> IS NOT NULL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GROUP BY </a:t>
            </a:r>
            <a:r>
              <a:rPr lang="en-US" sz="900" dirty="0" err="1"/>
              <a:t>c.customer_unique_id</a:t>
            </a:r>
            <a:endParaRPr lang="en-US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)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SELECT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AS </a:t>
            </a:r>
            <a:r>
              <a:rPr lang="en-US" sz="900" dirty="0" err="1"/>
              <a:t>unique_customers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(WHERE </a:t>
            </a:r>
            <a:r>
              <a:rPr lang="en-US" sz="900" dirty="0" err="1"/>
              <a:t>total_orders</a:t>
            </a:r>
            <a:r>
              <a:rPr lang="en-US" sz="900" dirty="0"/>
              <a:t> = 1) AS </a:t>
            </a:r>
            <a:r>
              <a:rPr lang="en-US" sz="900" dirty="0" err="1"/>
              <a:t>one_time_buyers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(WHERE </a:t>
            </a:r>
            <a:r>
              <a:rPr lang="en-US" sz="900" dirty="0" err="1"/>
              <a:t>total_orders</a:t>
            </a:r>
            <a:r>
              <a:rPr lang="en-US" sz="900" dirty="0"/>
              <a:t> &gt;= 2) AS </a:t>
            </a:r>
            <a:r>
              <a:rPr lang="en-US" sz="900" dirty="0" err="1"/>
              <a:t>repeat_buyers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SUM(</a:t>
            </a:r>
            <a:r>
              <a:rPr lang="en-US" sz="900" dirty="0" err="1"/>
              <a:t>total_orders</a:t>
            </a:r>
            <a:r>
              <a:rPr lang="en-US" sz="900" dirty="0"/>
              <a:t>) AS </a:t>
            </a:r>
            <a:r>
              <a:rPr lang="en-US" sz="900" dirty="0" err="1"/>
              <a:t>total_delivered_orders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COUNT(*) FILTER (WHERE </a:t>
            </a:r>
            <a:r>
              <a:rPr lang="en-US" sz="900" dirty="0" err="1"/>
              <a:t>total_orders</a:t>
            </a:r>
            <a:r>
              <a:rPr lang="en-US" sz="900" dirty="0"/>
              <a:t> &gt;= 2)::numeric * 100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/ NULLIF(COUNT(*), 0),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2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) AS </a:t>
            </a:r>
            <a:r>
              <a:rPr lang="en-US" sz="900" dirty="0" err="1"/>
              <a:t>repeat_buyer_pct</a:t>
            </a:r>
            <a:endParaRPr lang="en-US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FROM </a:t>
            </a:r>
            <a:r>
              <a:rPr lang="en-US" sz="900" dirty="0" err="1"/>
              <a:t>customer_orders</a:t>
            </a:r>
            <a:r>
              <a:rPr lang="en-US" sz="900" dirty="0"/>
              <a:t>;</a:t>
            </a:r>
            <a:endParaRPr sz="900" dirty="0"/>
          </a:p>
        </p:txBody>
      </p:sp>
      <p:graphicFrame>
        <p:nvGraphicFramePr>
          <p:cNvPr id="25" name="Char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994800"/>
              </p:ext>
            </p:extLst>
          </p:nvPr>
        </p:nvGraphicFramePr>
        <p:xfrm>
          <a:off x="5833872" y="3020009"/>
          <a:ext cx="5138928" cy="2484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4E5961E4-EE5E-7E05-9904-492720224250}"/>
              </a:ext>
            </a:extLst>
          </p:cNvPr>
          <p:cNvSpPr/>
          <p:nvPr/>
        </p:nvSpPr>
        <p:spPr>
          <a:xfrm>
            <a:off x="5142380" y="5609384"/>
            <a:ext cx="6540200" cy="865162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E77D31-C64B-4D8C-BBFB-743CFEB179AA}"/>
              </a:ext>
            </a:extLst>
          </p:cNvPr>
          <p:cNvSpPr txBox="1"/>
          <p:nvPr/>
        </p:nvSpPr>
        <p:spPr>
          <a:xfrm>
            <a:off x="5226916" y="5609384"/>
            <a:ext cx="6455664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1F7E80"/>
                </a:solidFill>
                <a:latin typeface="Aptos"/>
              </a:rPr>
              <a:t>Insight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1874A9-3C49-3183-F8FB-5B81AE20BD14}"/>
              </a:ext>
            </a:extLst>
          </p:cNvPr>
          <p:cNvSpPr txBox="1"/>
          <p:nvPr/>
        </p:nvSpPr>
        <p:spPr>
          <a:xfrm>
            <a:off x="5226916" y="5892848"/>
            <a:ext cx="6393896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noProof="1">
                <a:solidFill>
                  <a:srgbClr val="2D3641"/>
                </a:solidFill>
                <a:latin typeface="Aptos"/>
              </a:rPr>
              <a:t>Sebanyak 3% pelanggan dalam cakupan analisis memiliki setidaknya dua pesanan delivered. Temuan ini dapat menjadi dasar untuk analisis lanjutan mengenai pola pembelian ulang, dengan mempertimbangkan periode observasi dan karakteristik pelanggan.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04 • 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400" b="1" i="0" dirty="0" err="1">
                <a:solidFill>
                  <a:srgbClr val="1C3048"/>
                </a:solidFill>
                <a:latin typeface="Aptos"/>
              </a:rPr>
              <a:t>Analisis</a:t>
            </a:r>
            <a:r>
              <a:rPr lang="en-ID" sz="2400" b="1" i="0" dirty="0">
                <a:solidFill>
                  <a:srgbClr val="1C3048"/>
                </a:solidFill>
                <a:latin typeface="Aptos"/>
              </a:rPr>
              <a:t> Revenue per State </a:t>
            </a:r>
            <a:r>
              <a:rPr lang="en-ID" sz="2400" b="1" i="0" dirty="0" err="1">
                <a:solidFill>
                  <a:srgbClr val="1C3048"/>
                </a:solidFill>
                <a:latin typeface="Aptos"/>
              </a:rPr>
              <a:t>Tanpa</a:t>
            </a:r>
            <a:r>
              <a:rPr lang="en-ID" sz="24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400" b="1" i="0" dirty="0" err="1">
                <a:solidFill>
                  <a:srgbClr val="1C3048"/>
                </a:solidFill>
                <a:latin typeface="Aptos"/>
              </a:rPr>
              <a:t>Duplikasi</a:t>
            </a:r>
            <a:r>
              <a:rPr lang="en-ID" sz="24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400" b="1" i="0" dirty="0" err="1">
                <a:solidFill>
                  <a:srgbClr val="1C3048"/>
                </a:solidFill>
                <a:latin typeface="Aptos"/>
              </a:rPr>
              <a:t>Transaksi</a:t>
            </a:r>
            <a:endParaRPr sz="24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Lookup geolocation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digunakan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memetakan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kode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state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ke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nama wilayah.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Keunikan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pemetaan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perlu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dipastikan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agar join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tidak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menggandakan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revenue.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78602"/>
            <a:ext cx="4263256" cy="432644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70042"/>
            <a:ext cx="4153528" cy="40349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WITH </a:t>
            </a:r>
            <a:r>
              <a:rPr lang="en-ID" sz="900" dirty="0" err="1"/>
              <a:t>state_lookup</a:t>
            </a:r>
            <a:r>
              <a:rPr lang="en-ID" sz="900" dirty="0"/>
              <a:t> AS (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SELECT DISTINCT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</a:t>
            </a:r>
            <a:r>
              <a:rPr lang="en-ID" sz="900" dirty="0" err="1"/>
              <a:t>geolocation_state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</a:t>
            </a:r>
            <a:r>
              <a:rPr lang="en-ID" sz="900" dirty="0" err="1"/>
              <a:t>geolocation_state_name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FROM </a:t>
            </a:r>
            <a:r>
              <a:rPr lang="en-ID" sz="900" dirty="0" err="1"/>
              <a:t>staging.geolocation_raw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WHERE </a:t>
            </a:r>
            <a:r>
              <a:rPr lang="en-ID" sz="900" dirty="0" err="1"/>
              <a:t>geolocation_state</a:t>
            </a:r>
            <a:r>
              <a:rPr lang="en-ID" sz="900" dirty="0"/>
              <a:t> IS NOT NULL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)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SELECT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</a:t>
            </a:r>
            <a:r>
              <a:rPr lang="en-ID" sz="900" dirty="0" err="1"/>
              <a:t>s.geolocation_state_name</a:t>
            </a:r>
            <a:r>
              <a:rPr lang="en-ID" sz="900" dirty="0"/>
              <a:t> AS </a:t>
            </a:r>
            <a:r>
              <a:rPr lang="en-ID" sz="900" dirty="0" err="1"/>
              <a:t>customer_state_name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COUNT(DISTINCT </a:t>
            </a:r>
            <a:r>
              <a:rPr lang="en-ID" sz="900" dirty="0" err="1"/>
              <a:t>o.order_id</a:t>
            </a:r>
            <a:r>
              <a:rPr lang="en-ID" sz="900" dirty="0"/>
              <a:t>) AS </a:t>
            </a:r>
            <a:r>
              <a:rPr lang="en-ID" sz="900" dirty="0" err="1"/>
              <a:t>total_orders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COUNT(DISTINCT </a:t>
            </a:r>
            <a:r>
              <a:rPr lang="en-ID" sz="900" dirty="0" err="1"/>
              <a:t>c.customer_unique_id</a:t>
            </a:r>
            <a:r>
              <a:rPr lang="en-ID" sz="900" dirty="0"/>
              <a:t>) AS </a:t>
            </a:r>
            <a:r>
              <a:rPr lang="en-ID" sz="900" dirty="0" err="1"/>
              <a:t>unique_customers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ROUND(SUM(</a:t>
            </a:r>
            <a:r>
              <a:rPr lang="en-ID" sz="900" dirty="0" err="1"/>
              <a:t>i.price</a:t>
            </a:r>
            <a:r>
              <a:rPr lang="en-ID" sz="900" dirty="0"/>
              <a:t>::numeric), 2) AS </a:t>
            </a:r>
            <a:r>
              <a:rPr lang="en-ID" sz="900" dirty="0" err="1"/>
              <a:t>product_revenue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ROUND(AVG(</a:t>
            </a:r>
            <a:r>
              <a:rPr lang="en-ID" sz="900" dirty="0" err="1"/>
              <a:t>i.price</a:t>
            </a:r>
            <a:r>
              <a:rPr lang="en-ID" sz="900" dirty="0"/>
              <a:t>::numeric), 2) AS </a:t>
            </a:r>
            <a:r>
              <a:rPr lang="en-ID" sz="900" dirty="0" err="1"/>
              <a:t>avg_item_price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SUM(</a:t>
            </a:r>
            <a:r>
              <a:rPr lang="en-ID" sz="900" dirty="0" err="1"/>
              <a:t>i.price</a:t>
            </a:r>
            <a:r>
              <a:rPr lang="en-ID" sz="900" dirty="0"/>
              <a:t>::numeric)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/ NULLIF(COUNT(DISTINCT </a:t>
            </a:r>
            <a:r>
              <a:rPr lang="en-ID" sz="900" dirty="0" err="1"/>
              <a:t>o.order_id</a:t>
            </a:r>
            <a:r>
              <a:rPr lang="en-ID" sz="900" dirty="0"/>
              <a:t>), 0),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2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) AS </a:t>
            </a:r>
            <a:r>
              <a:rPr lang="en-ID" sz="900" dirty="0" err="1"/>
              <a:t>product_revenue_per_order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FROM </a:t>
            </a:r>
            <a:r>
              <a:rPr lang="en-ID" sz="900" dirty="0" err="1"/>
              <a:t>staging.orders_raw</a:t>
            </a:r>
            <a:r>
              <a:rPr lang="en-ID" sz="900" dirty="0"/>
              <a:t> o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JOIN </a:t>
            </a:r>
            <a:r>
              <a:rPr lang="en-ID" sz="900" dirty="0" err="1"/>
              <a:t>staging.customers_raw</a:t>
            </a:r>
            <a:r>
              <a:rPr lang="en-ID" sz="900" dirty="0"/>
              <a:t> c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ON </a:t>
            </a:r>
            <a:r>
              <a:rPr lang="en-ID" sz="900" dirty="0" err="1"/>
              <a:t>o.customer_id</a:t>
            </a:r>
            <a:r>
              <a:rPr lang="en-ID" sz="900" dirty="0"/>
              <a:t> = </a:t>
            </a:r>
            <a:r>
              <a:rPr lang="en-ID" sz="900" dirty="0" err="1"/>
              <a:t>c.customer_id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JOIN </a:t>
            </a:r>
            <a:r>
              <a:rPr lang="en-ID" sz="900" dirty="0" err="1"/>
              <a:t>staging.order_items_raw</a:t>
            </a:r>
            <a:r>
              <a:rPr lang="en-ID" sz="900" dirty="0"/>
              <a:t> </a:t>
            </a:r>
            <a:r>
              <a:rPr lang="en-ID" sz="900" dirty="0" err="1"/>
              <a:t>i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ON </a:t>
            </a:r>
            <a:r>
              <a:rPr lang="en-ID" sz="900" dirty="0" err="1"/>
              <a:t>o.order_id</a:t>
            </a:r>
            <a:r>
              <a:rPr lang="en-ID" sz="900" dirty="0"/>
              <a:t> = </a:t>
            </a:r>
            <a:r>
              <a:rPr lang="en-ID" sz="900" dirty="0" err="1"/>
              <a:t>i.order_id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LEFT JOIN </a:t>
            </a:r>
            <a:r>
              <a:rPr lang="en-ID" sz="900" dirty="0" err="1"/>
              <a:t>state_lookup</a:t>
            </a:r>
            <a:r>
              <a:rPr lang="en-ID" sz="900" dirty="0"/>
              <a:t> s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ON </a:t>
            </a:r>
            <a:r>
              <a:rPr lang="en-ID" sz="900" dirty="0" err="1"/>
              <a:t>c.customer_state</a:t>
            </a:r>
            <a:r>
              <a:rPr lang="en-ID" sz="900" dirty="0"/>
              <a:t> = </a:t>
            </a:r>
            <a:r>
              <a:rPr lang="en-ID" sz="900" dirty="0" err="1"/>
              <a:t>s.geolocation_state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WHERE </a:t>
            </a:r>
            <a:r>
              <a:rPr lang="en-ID" sz="900" dirty="0" err="1"/>
              <a:t>o.order_status</a:t>
            </a:r>
            <a:r>
              <a:rPr lang="en-ID" sz="900" dirty="0"/>
              <a:t> = 'delivered'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GROUP BY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</a:t>
            </a:r>
            <a:r>
              <a:rPr lang="en-ID" sz="900" dirty="0" err="1"/>
              <a:t>s.geolocation_state_name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ORDER BY </a:t>
            </a:r>
            <a:r>
              <a:rPr lang="en-ID" sz="900" dirty="0" err="1"/>
              <a:t>product_revenue</a:t>
            </a:r>
            <a:r>
              <a:rPr lang="en-ID" sz="900" dirty="0"/>
              <a:t> DESC;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658368" y="5979456"/>
            <a:ext cx="10765536" cy="717177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5998824"/>
            <a:ext cx="4675367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dirty="0" err="1">
                <a:solidFill>
                  <a:srgbClr val="DC8537"/>
                </a:solidFill>
                <a:latin typeface="Aptos"/>
              </a:rPr>
              <a:t>Catatan</a:t>
            </a:r>
            <a:r>
              <a:rPr lang="en-US" sz="1200" b="1" i="0" dirty="0">
                <a:solidFill>
                  <a:srgbClr val="DC8537"/>
                </a:solidFill>
                <a:latin typeface="Aptos"/>
              </a:rPr>
              <a:t> </a:t>
            </a:r>
            <a:r>
              <a:rPr lang="en-US" sz="1200" b="1" i="0" dirty="0" err="1">
                <a:solidFill>
                  <a:srgbClr val="DC8537"/>
                </a:solidFill>
                <a:latin typeface="Aptos"/>
              </a:rPr>
              <a:t>Metodologi</a:t>
            </a:r>
            <a:endParaRPr sz="1200" b="1" i="0" dirty="0">
              <a:solidFill>
                <a:srgbClr val="DC853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6276724"/>
            <a:ext cx="10655808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0" dirty="0">
                <a:solidFill>
                  <a:srgbClr val="2D3641"/>
                </a:solidFill>
                <a:latin typeface="Aptos"/>
              </a:rPr>
              <a:t>Revenue per state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dihitung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dari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pesanan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berstatus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delivered. Lookup geolocation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digunakan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untuk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menampilkan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nama wilayah.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keunikan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pemetaan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kode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ke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nama state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perlu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dipastikan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agar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hasil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agregasi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tidak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US" sz="1100" b="0" i="0" dirty="0" err="1">
                <a:solidFill>
                  <a:srgbClr val="2D3641"/>
                </a:solidFill>
                <a:latin typeface="Aptos"/>
              </a:rPr>
              <a:t>terduplikasi</a:t>
            </a:r>
            <a:r>
              <a:rPr lang="en-US" sz="1100" b="0" i="0" dirty="0">
                <a:solidFill>
                  <a:srgbClr val="2D3641"/>
                </a:solidFill>
                <a:latin typeface="Aptos"/>
              </a:rPr>
              <a:t>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5AFBC9-315E-5757-A85D-370C91893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86227"/>
              </p:ext>
            </p:extLst>
          </p:nvPr>
        </p:nvGraphicFramePr>
        <p:xfrm>
          <a:off x="5303079" y="1431002"/>
          <a:ext cx="6120825" cy="442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456">
                  <a:extLst>
                    <a:ext uri="{9D8B030D-6E8A-4147-A177-3AD203B41FA5}">
                      <a16:colId xmlns:a16="http://schemas.microsoft.com/office/drawing/2014/main" val="2328953548"/>
                    </a:ext>
                  </a:extLst>
                </a:gridCol>
                <a:gridCol w="669339">
                  <a:extLst>
                    <a:ext uri="{9D8B030D-6E8A-4147-A177-3AD203B41FA5}">
                      <a16:colId xmlns:a16="http://schemas.microsoft.com/office/drawing/2014/main" val="3444234685"/>
                    </a:ext>
                  </a:extLst>
                </a:gridCol>
                <a:gridCol w="999976">
                  <a:extLst>
                    <a:ext uri="{9D8B030D-6E8A-4147-A177-3AD203B41FA5}">
                      <a16:colId xmlns:a16="http://schemas.microsoft.com/office/drawing/2014/main" val="346897452"/>
                    </a:ext>
                  </a:extLst>
                </a:gridCol>
                <a:gridCol w="927398">
                  <a:extLst>
                    <a:ext uri="{9D8B030D-6E8A-4147-A177-3AD203B41FA5}">
                      <a16:colId xmlns:a16="http://schemas.microsoft.com/office/drawing/2014/main" val="3931528447"/>
                    </a:ext>
                  </a:extLst>
                </a:gridCol>
                <a:gridCol w="830626">
                  <a:extLst>
                    <a:ext uri="{9D8B030D-6E8A-4147-A177-3AD203B41FA5}">
                      <a16:colId xmlns:a16="http://schemas.microsoft.com/office/drawing/2014/main" val="42086585"/>
                    </a:ext>
                  </a:extLst>
                </a:gridCol>
                <a:gridCol w="1508030">
                  <a:extLst>
                    <a:ext uri="{9D8B030D-6E8A-4147-A177-3AD203B41FA5}">
                      <a16:colId xmlns:a16="http://schemas.microsoft.com/office/drawing/2014/main" val="2654337888"/>
                    </a:ext>
                  </a:extLst>
                </a:gridCol>
              </a:tblGrid>
              <a:tr h="2095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1" u="none" strike="noStrike" dirty="0" err="1">
                          <a:effectLst/>
                        </a:rPr>
                        <a:t>customer_state_name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1" u="none" strike="noStrike">
                          <a:effectLst/>
                        </a:rPr>
                        <a:t>total_orders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1" u="none" strike="noStrike" dirty="0" err="1">
                          <a:effectLst/>
                        </a:rPr>
                        <a:t>unique_customers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1" u="none" strike="noStrike" dirty="0" err="1">
                          <a:effectLst/>
                        </a:rPr>
                        <a:t>product_revenue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1" u="none" strike="noStrike" dirty="0" err="1">
                          <a:effectLst/>
                        </a:rPr>
                        <a:t>avg_item_price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b="1" u="none" strike="noStrike" dirty="0" err="1">
                          <a:effectLst/>
                        </a:rPr>
                        <a:t>product_revenue_per_order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051397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São Paulo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40.501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39.156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5.067.633,16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109,1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125,12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231000409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Rio de Janeiro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12.350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11.917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1.759.651,13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124,42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142,48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103122669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Minas Gerais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11.354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11.001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1.552.481,83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120,2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136,73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114047426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Rio Grande do Sul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5.345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5.168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728.897,47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118,83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136,37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4130861610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Paraná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4.923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4.769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666.063,51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117,91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135,3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195382454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Santa Catarina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3.546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3.449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507.012,13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123,75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142,98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217618539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Bahia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3.256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3.158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493.584,14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134,02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151,59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4211010179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Distrito Federal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2.080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2.019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296.498,41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125,9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142,55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530544229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Goiás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1.957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1.895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282.836,7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124,21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144,53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696215710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Espírito Santo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1.995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1.928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268.643,45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120,74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134,66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956329904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Pernambuco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1.593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1.551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251.889,49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144,27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158,12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758736187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Ceará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1.279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1.258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219.757,38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154,11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171,82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003120834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Pará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946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922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174.470,59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165,53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184,43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336008258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Mato Grosso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886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856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152.191,62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146,76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171,77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2389788195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Maranhão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700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117.009,38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146,26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163,19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157307583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Mato Grosso do Sul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701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681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115.429,97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142,33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164,66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271605153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Paraíba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504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112.586,82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192,13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217,77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552495918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Piauí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464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84.721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161,99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177,99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38239921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Rio Grande do Norte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474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464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82.105,66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157,59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173,22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774035850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Alagoas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387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78.855,72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184,67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198,63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64950547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Sergipe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335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329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56.574,19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150,86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168,88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3439835314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Tocantins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274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267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48.402,51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156,14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176,65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2272978275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Rondônia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243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231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45.682,76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167,34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187,99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705955244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Amazonas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22.155,84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135,93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152,8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875680354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Acre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15.930,97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175,07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199,14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2898063100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Amapá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13.374,81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165,12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199,62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547811386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Roraima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7.057,47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153,42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172,13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82" marR="8082" marT="8082" marB="0" anchor="b"/>
                </a:tc>
                <a:extLst>
                  <a:ext uri="{0D108BD9-81ED-4DB2-BD59-A6C34878D82A}">
                    <a16:rowId xmlns:a16="http://schemas.microsoft.com/office/drawing/2014/main" val="19769908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05 • DELIVERY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2600" b="1" i="0" dirty="0">
                <a:solidFill>
                  <a:srgbClr val="1C3048"/>
                </a:solidFill>
                <a:latin typeface="Aptos"/>
              </a:rPr>
              <a:t>91,89%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Pesanan</a:t>
            </a:r>
            <a:r>
              <a:rPr lang="es-ES" sz="2600" b="1" i="0" dirty="0">
                <a:solidFill>
                  <a:srgbClr val="1C3048"/>
                </a:solidFill>
                <a:latin typeface="Aptos"/>
              </a:rPr>
              <a:t> Eligible Tiba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Tepat</a:t>
            </a:r>
            <a:r>
              <a:rPr lang="es-ES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Waktu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Analisis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mencakup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pesanan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berstatus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delivered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yang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memiliki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tanggal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pembelian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tanggal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penerimaan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, dan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estimasi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s-ES" sz="1100" b="0" i="0" dirty="0" err="1">
                <a:solidFill>
                  <a:srgbClr val="636E7A"/>
                </a:solidFill>
                <a:latin typeface="Aptos"/>
              </a:rPr>
              <a:t>pengiriman</a:t>
            </a:r>
            <a:r>
              <a:rPr lang="es-ES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2514600" cy="905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4650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D68A1"/>
                </a:solidFill>
                <a:latin typeface="Aptos"/>
              </a:rPr>
              <a:t>96.470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8541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Pesanan</a:t>
            </a:r>
            <a:r>
              <a:rPr sz="1100" b="1" i="0" dirty="0">
                <a:solidFill>
                  <a:srgbClr val="1C3048"/>
                </a:solidFill>
                <a:latin typeface="Aptos"/>
              </a:rPr>
              <a:t> eligible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600200"/>
            <a:ext cx="2514600" cy="905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7016" y="174650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7E80"/>
                </a:solidFill>
                <a:latin typeface="Aptos"/>
              </a:rPr>
              <a:t>12,56 hari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18541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C3048"/>
                </a:solidFill>
                <a:latin typeface="Aptos"/>
              </a:rPr>
              <a:t>Rata-rata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waktu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hingga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diterima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53328" y="1600200"/>
            <a:ext cx="2514600" cy="905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54496" y="174650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D68A1"/>
                </a:solidFill>
                <a:latin typeface="Aptos"/>
              </a:rPr>
              <a:t>10,22 hari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18541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C3048"/>
                </a:solidFill>
                <a:latin typeface="Aptos"/>
              </a:rPr>
              <a:t>Median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waktu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hingga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diterima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750808" y="1600200"/>
            <a:ext cx="2514600" cy="905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51976" y="1746504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77C58"/>
                </a:solidFill>
                <a:latin typeface="Aptos"/>
              </a:rPr>
              <a:t>91,89%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185416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i="0" dirty="0">
                <a:solidFill>
                  <a:srgbClr val="1C3048"/>
                </a:solidFill>
                <a:latin typeface="Aptos"/>
              </a:rPr>
              <a:t>Tingkat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ketepatan</a:t>
            </a:r>
            <a:r>
              <a:rPr lang="en-US" sz="11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US" sz="1100" b="1" i="0" dirty="0" err="1">
                <a:solidFill>
                  <a:srgbClr val="1C3048"/>
                </a:solidFill>
                <a:latin typeface="Aptos"/>
              </a:rPr>
              <a:t>pengiriman</a:t>
            </a:r>
            <a:endParaRPr sz="11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76564" y="2808777"/>
            <a:ext cx="6832600" cy="386911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007" y="2951848"/>
            <a:ext cx="6709157" cy="36194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WITH </a:t>
            </a:r>
            <a:r>
              <a:rPr lang="en-US" sz="900" dirty="0" err="1"/>
              <a:t>delivery_metrics</a:t>
            </a:r>
            <a:r>
              <a:rPr lang="en-US" sz="900" dirty="0"/>
              <a:t> AS (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SELECT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</a:t>
            </a:r>
            <a:r>
              <a:rPr lang="en-US" sz="900" dirty="0" err="1"/>
              <a:t>order_id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EXTRACT(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 EPOCH FROM (</a:t>
            </a:r>
            <a:r>
              <a:rPr lang="en-US" sz="900" dirty="0" err="1"/>
              <a:t>order_delivered_customer_date</a:t>
            </a:r>
            <a:r>
              <a:rPr lang="en-US" sz="900" dirty="0"/>
              <a:t> - </a:t>
            </a:r>
            <a:r>
              <a:rPr lang="en-US" sz="900" dirty="0" err="1"/>
              <a:t>order_purchase_timestamp</a:t>
            </a:r>
            <a:r>
              <a:rPr lang="en-US" sz="900" dirty="0"/>
              <a:t>)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) / 86400.0 AS </a:t>
            </a:r>
            <a:r>
              <a:rPr lang="en-US" sz="900" dirty="0" err="1"/>
              <a:t>delivery_days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CASE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 WHEN </a:t>
            </a:r>
            <a:r>
              <a:rPr lang="en-US" sz="900" dirty="0" err="1"/>
              <a:t>order_delivered_customer_date</a:t>
            </a:r>
            <a:r>
              <a:rPr lang="en-US" sz="900" dirty="0"/>
              <a:t> &lt;= </a:t>
            </a:r>
            <a:r>
              <a:rPr lang="en-US" sz="900" dirty="0" err="1"/>
              <a:t>order_estimated_delivery_date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 THEN 1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    ELSE 0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  END AS </a:t>
            </a:r>
            <a:r>
              <a:rPr lang="en-US" sz="900" dirty="0" err="1"/>
              <a:t>on_time_flag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FROM </a:t>
            </a:r>
            <a:r>
              <a:rPr lang="en-US" sz="900" dirty="0" err="1"/>
              <a:t>staging.orders_raw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WHERE </a:t>
            </a:r>
            <a:r>
              <a:rPr lang="en-US" sz="900" dirty="0" err="1"/>
              <a:t>order_status</a:t>
            </a:r>
            <a:r>
              <a:rPr lang="en-US" sz="900" dirty="0"/>
              <a:t> = 'delivered'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AND </a:t>
            </a:r>
            <a:r>
              <a:rPr lang="en-US" sz="900" dirty="0" err="1"/>
              <a:t>order_purchase_timestamp</a:t>
            </a:r>
            <a:r>
              <a:rPr lang="en-US" sz="900" dirty="0"/>
              <a:t> IS NOT NULL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AND </a:t>
            </a:r>
            <a:r>
              <a:rPr lang="en-US" sz="900" dirty="0" err="1"/>
              <a:t>order_delivered_customer_date</a:t>
            </a:r>
            <a:r>
              <a:rPr lang="en-US" sz="900" dirty="0"/>
              <a:t> IS NOT NULL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  AND </a:t>
            </a:r>
            <a:r>
              <a:rPr lang="en-US" sz="900" dirty="0" err="1"/>
              <a:t>order_estimated_delivery_date</a:t>
            </a:r>
            <a:r>
              <a:rPr lang="en-US" sz="900" dirty="0"/>
              <a:t> IS NOT NULL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)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SELECT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AS </a:t>
            </a:r>
            <a:r>
              <a:rPr lang="en-US" sz="900" dirty="0" err="1"/>
              <a:t>eligible_delivered_orders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ROUND(AVG(</a:t>
            </a:r>
            <a:r>
              <a:rPr lang="en-US" sz="900" dirty="0" err="1"/>
              <a:t>delivery_days</a:t>
            </a:r>
            <a:r>
              <a:rPr lang="en-US" sz="900" dirty="0"/>
              <a:t>)::numeric, 2) AS </a:t>
            </a:r>
            <a:r>
              <a:rPr lang="en-US" sz="900" dirty="0" err="1"/>
              <a:t>avg_delivery_days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ROUND(PERCENTILE_CONT(0.5) WITHIN GROUP (ORDER BY </a:t>
            </a:r>
            <a:r>
              <a:rPr lang="en-US" sz="900" dirty="0" err="1"/>
              <a:t>delivery_days</a:t>
            </a:r>
            <a:r>
              <a:rPr lang="en-US" sz="900" dirty="0"/>
              <a:t>)::numeric,2) AS </a:t>
            </a:r>
            <a:r>
              <a:rPr lang="en-US" sz="900" dirty="0" err="1"/>
              <a:t>median_delivery_days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(WHERE </a:t>
            </a:r>
            <a:r>
              <a:rPr lang="en-US" sz="900" dirty="0" err="1"/>
              <a:t>on_time_flag</a:t>
            </a:r>
            <a:r>
              <a:rPr lang="en-US" sz="900" dirty="0"/>
              <a:t> = 1) AS </a:t>
            </a:r>
            <a:r>
              <a:rPr lang="en-US" sz="900" dirty="0" err="1"/>
              <a:t>on_time_orders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COUNT(*) FILTER (WHERE </a:t>
            </a:r>
            <a:r>
              <a:rPr lang="en-US" sz="900" dirty="0" err="1"/>
              <a:t>on_time_flag</a:t>
            </a:r>
            <a:r>
              <a:rPr lang="en-US" sz="900" dirty="0"/>
              <a:t> = 0) AS </a:t>
            </a:r>
            <a:r>
              <a:rPr lang="en-US" sz="900" dirty="0" err="1"/>
              <a:t>late_orders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ROUND(AVG(</a:t>
            </a:r>
            <a:r>
              <a:rPr lang="en-US" sz="900" dirty="0" err="1"/>
              <a:t>on_time_flag</a:t>
            </a:r>
            <a:r>
              <a:rPr lang="en-US" sz="900" dirty="0"/>
              <a:t>::numeric) * 100, 2) AS </a:t>
            </a:r>
            <a:r>
              <a:rPr lang="en-US" sz="900" dirty="0" err="1"/>
              <a:t>on_time_delivery_pct</a:t>
            </a:r>
            <a:r>
              <a:rPr lang="en-US" sz="900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    ROUND((1 - AVG(</a:t>
            </a:r>
            <a:r>
              <a:rPr lang="en-US" sz="900" dirty="0" err="1"/>
              <a:t>on_time_flag</a:t>
            </a:r>
            <a:r>
              <a:rPr lang="en-US" sz="900" dirty="0"/>
              <a:t>::numeric)) * 100, 2) AS </a:t>
            </a:r>
            <a:r>
              <a:rPr lang="en-US" sz="900" dirty="0" err="1"/>
              <a:t>late_delivery_pct</a:t>
            </a:r>
            <a:endParaRPr lang="en-US" sz="900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US" sz="900" dirty="0"/>
              <a:t>FROM </a:t>
            </a:r>
            <a:r>
              <a:rPr lang="en-US" sz="900" dirty="0" err="1"/>
              <a:t>delivery_metrics</a:t>
            </a:r>
            <a:r>
              <a:rPr lang="en-US" sz="900" dirty="0"/>
              <a:t>;</a:t>
            </a:r>
            <a:endParaRPr sz="900" dirty="0"/>
          </a:p>
        </p:txBody>
      </p:sp>
      <p:graphicFrame>
        <p:nvGraphicFramePr>
          <p:cNvPr id="25" name="Char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76108"/>
              </p:ext>
            </p:extLst>
          </p:nvPr>
        </p:nvGraphicFramePr>
        <p:xfrm>
          <a:off x="7509164" y="2810993"/>
          <a:ext cx="4206240" cy="2593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4C09B453-F82D-9D56-6FD2-FC495CEF9A39}"/>
              </a:ext>
            </a:extLst>
          </p:cNvPr>
          <p:cNvSpPr/>
          <p:nvPr/>
        </p:nvSpPr>
        <p:spPr>
          <a:xfrm>
            <a:off x="7772313" y="5464374"/>
            <a:ext cx="4206239" cy="1220446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491A42-46FB-DD13-2F27-3C98EF25C1F6}"/>
              </a:ext>
            </a:extLst>
          </p:cNvPr>
          <p:cNvSpPr txBox="1"/>
          <p:nvPr/>
        </p:nvSpPr>
        <p:spPr>
          <a:xfrm>
            <a:off x="7821601" y="5464373"/>
            <a:ext cx="4151871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1F7E80"/>
                </a:solidFill>
                <a:latin typeface="Aptos"/>
              </a:rPr>
              <a:t>Insight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51ABE6-B447-783B-EAFA-B7D240156296}"/>
              </a:ext>
            </a:extLst>
          </p:cNvPr>
          <p:cNvSpPr txBox="1"/>
          <p:nvPr/>
        </p:nvSpPr>
        <p:spPr>
          <a:xfrm>
            <a:off x="7795846" y="5676117"/>
            <a:ext cx="4182706" cy="10433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noProof="1">
                <a:solidFill>
                  <a:srgbClr val="2D3641"/>
                </a:solidFill>
                <a:latin typeface="Aptos"/>
              </a:rPr>
              <a:t>Sebanyak 91,89% dari 96.470 pesanan eligible diterima sesuai atau sebelum estimasi, sedangkan 8,11% diterima setelah estimasi.</a:t>
            </a:r>
          </a:p>
          <a:p>
            <a:pPr marL="171450" indent="-1714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noProof="1">
                <a:solidFill>
                  <a:srgbClr val="2D3641"/>
                </a:solidFill>
                <a:latin typeface="Aptos"/>
              </a:rPr>
              <a:t>Rata-rata waktu dari pembelian hingga penerimaan adalah 12,56 hari, lebih tinggi daripada median 10,22 hari. Perbedaan ini mengindikasikan adanya sebagian pesanan dengan durasi relatif panjang.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05 • DELIVERY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Perbandingan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Ketepatan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Waktu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Pengiriman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600" b="1" i="0" dirty="0" err="1">
                <a:solidFill>
                  <a:srgbClr val="1C3048"/>
                </a:solidFill>
                <a:latin typeface="Aptos"/>
              </a:rPr>
              <a:t>antar</a:t>
            </a:r>
            <a:r>
              <a:rPr lang="en-ID" sz="2600" b="1" dirty="0">
                <a:solidFill>
                  <a:srgbClr val="1C3048"/>
                </a:solidFill>
                <a:latin typeface="Aptos"/>
              </a:rPr>
              <a:t> </a:t>
            </a:r>
            <a:r>
              <a:rPr lang="en-ID" sz="2600" b="1" i="0" dirty="0">
                <a:solidFill>
                  <a:srgbClr val="1C3048"/>
                </a:solidFill>
                <a:latin typeface="Aptos"/>
              </a:rPr>
              <a:t>State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Hanya state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dengan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minimal 100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pesanan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eligible yang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ditampilkan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mengurangi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bias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interpretasi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dari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sampel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kecil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84915"/>
            <a:ext cx="4164644" cy="48979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788" y="1560275"/>
            <a:ext cx="4007224" cy="47274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WITH </a:t>
            </a:r>
            <a:r>
              <a:rPr lang="en-ID" sz="900" dirty="0" err="1"/>
              <a:t>state_lookup</a:t>
            </a:r>
            <a:r>
              <a:rPr lang="en-ID" sz="900" dirty="0"/>
              <a:t> AS (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SELECT DISTINCT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</a:t>
            </a:r>
            <a:r>
              <a:rPr lang="en-ID" sz="900" dirty="0" err="1"/>
              <a:t>geolocation_state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    </a:t>
            </a:r>
            <a:r>
              <a:rPr lang="en-ID" sz="900" dirty="0" err="1"/>
              <a:t>geolocation_state_name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FROM </a:t>
            </a:r>
            <a:r>
              <a:rPr lang="en-ID" sz="900" dirty="0" err="1"/>
              <a:t>staging.geolocation_raw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WHERE </a:t>
            </a:r>
            <a:r>
              <a:rPr lang="en-ID" sz="900" dirty="0" err="1"/>
              <a:t>geolocation_state</a:t>
            </a:r>
            <a:r>
              <a:rPr lang="en-ID" sz="900" dirty="0"/>
              <a:t> IS NOT NULL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)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SELECT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</a:t>
            </a:r>
            <a:r>
              <a:rPr lang="en-ID" sz="900" dirty="0" err="1"/>
              <a:t>s.geolocation_state_name</a:t>
            </a:r>
            <a:r>
              <a:rPr lang="en-ID" sz="900" dirty="0"/>
              <a:t> AS </a:t>
            </a:r>
            <a:r>
              <a:rPr lang="en-ID" sz="900" dirty="0" err="1"/>
              <a:t>customer_state_name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COUNT(*) AS </a:t>
            </a:r>
            <a:r>
              <a:rPr lang="en-ID" sz="900" dirty="0" err="1"/>
              <a:t>eligible_delivered_orders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COUNT(*) FILTER (WHERE </a:t>
            </a:r>
            <a:r>
              <a:rPr lang="en-ID" sz="900" dirty="0" err="1"/>
              <a:t>o.order_delivered_customer_date</a:t>
            </a:r>
            <a:r>
              <a:rPr lang="en-ID" sz="900" dirty="0"/>
              <a:t> &lt;= </a:t>
            </a:r>
            <a:r>
              <a:rPr lang="en-ID" sz="900" dirty="0" err="1"/>
              <a:t>o.order_estimated_delivery_date</a:t>
            </a:r>
            <a:r>
              <a:rPr lang="en-ID" sz="900" dirty="0"/>
              <a:t>) AS </a:t>
            </a:r>
            <a:r>
              <a:rPr lang="en-ID" sz="900" dirty="0" err="1"/>
              <a:t>on_time_orders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COUNT(*) FILTER (WHERE </a:t>
            </a:r>
            <a:r>
              <a:rPr lang="en-ID" sz="900" dirty="0" err="1"/>
              <a:t>o.order_delivered_customer_date</a:t>
            </a:r>
            <a:r>
              <a:rPr lang="en-ID" sz="900" dirty="0"/>
              <a:t> &gt; </a:t>
            </a:r>
            <a:r>
              <a:rPr lang="en-ID" sz="900" dirty="0" err="1"/>
              <a:t>o.order_estimated_delivery_date</a:t>
            </a:r>
            <a:r>
              <a:rPr lang="en-ID" sz="900" dirty="0"/>
              <a:t>) AS </a:t>
            </a:r>
            <a:r>
              <a:rPr lang="en-ID" sz="900" dirty="0" err="1"/>
              <a:t>late_orders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ROUND(COUNT(*) FILTER (WHERE </a:t>
            </a:r>
            <a:r>
              <a:rPr lang="en-ID" sz="900" dirty="0" err="1"/>
              <a:t>o.order_delivered_customer_date</a:t>
            </a:r>
            <a:r>
              <a:rPr lang="en-ID" sz="900" dirty="0"/>
              <a:t> &lt;= </a:t>
            </a:r>
            <a:r>
              <a:rPr lang="en-ID" sz="900" dirty="0" err="1"/>
              <a:t>o.order_estimated_delivery_date</a:t>
            </a:r>
            <a:r>
              <a:rPr lang="en-ID" sz="900" dirty="0"/>
              <a:t>)::numeric * 100 /NULLIF(COUNT(*), 0), 2) AS </a:t>
            </a:r>
            <a:r>
              <a:rPr lang="en-ID" sz="900" dirty="0" err="1"/>
              <a:t>on_time_delivery_pct</a:t>
            </a:r>
            <a:r>
              <a:rPr lang="en-ID" sz="900" dirty="0"/>
              <a:t>,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ROUND(COUNT(*) FILTER (WHERE </a:t>
            </a:r>
            <a:r>
              <a:rPr lang="en-ID" sz="900" dirty="0" err="1"/>
              <a:t>o.order_delivered_customer_date</a:t>
            </a:r>
            <a:r>
              <a:rPr lang="en-ID" sz="900" dirty="0"/>
              <a:t> &gt; </a:t>
            </a:r>
            <a:r>
              <a:rPr lang="en-ID" sz="900" dirty="0" err="1"/>
              <a:t>o.order_estimated_delivery_date</a:t>
            </a:r>
            <a:r>
              <a:rPr lang="en-ID" sz="900" dirty="0"/>
              <a:t>)::numeric * 100 / NULLIF(COUNT(*), 0), 2) AS </a:t>
            </a:r>
            <a:r>
              <a:rPr lang="en-ID" sz="900" dirty="0" err="1"/>
              <a:t>late_delivery_pct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FROM </a:t>
            </a:r>
            <a:r>
              <a:rPr lang="en-ID" sz="900" dirty="0" err="1"/>
              <a:t>staging.orders_raw</a:t>
            </a:r>
            <a:r>
              <a:rPr lang="en-ID" sz="900" dirty="0"/>
              <a:t> o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JOIN </a:t>
            </a:r>
            <a:r>
              <a:rPr lang="en-ID" sz="900" dirty="0" err="1"/>
              <a:t>staging.customers_raw</a:t>
            </a:r>
            <a:r>
              <a:rPr lang="en-ID" sz="900" dirty="0"/>
              <a:t> c ON </a:t>
            </a:r>
            <a:r>
              <a:rPr lang="en-ID" sz="900" dirty="0" err="1"/>
              <a:t>o.customer_id</a:t>
            </a:r>
            <a:r>
              <a:rPr lang="en-ID" sz="900" dirty="0"/>
              <a:t> = </a:t>
            </a:r>
            <a:r>
              <a:rPr lang="en-ID" sz="900" dirty="0" err="1"/>
              <a:t>c.customer_id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LEFT JOIN </a:t>
            </a:r>
            <a:r>
              <a:rPr lang="en-ID" sz="900" dirty="0" err="1"/>
              <a:t>state_lookup</a:t>
            </a:r>
            <a:r>
              <a:rPr lang="en-ID" sz="900" dirty="0"/>
              <a:t> s ON </a:t>
            </a:r>
            <a:r>
              <a:rPr lang="en-ID" sz="900" dirty="0" err="1"/>
              <a:t>c.customer_state</a:t>
            </a:r>
            <a:r>
              <a:rPr lang="en-ID" sz="900" dirty="0"/>
              <a:t> = </a:t>
            </a:r>
            <a:r>
              <a:rPr lang="en-ID" sz="900" dirty="0" err="1"/>
              <a:t>s.geolocation_state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WHERE </a:t>
            </a:r>
            <a:r>
              <a:rPr lang="en-ID" sz="900" dirty="0" err="1"/>
              <a:t>o.order_status</a:t>
            </a:r>
            <a:r>
              <a:rPr lang="en-ID" sz="900" dirty="0"/>
              <a:t> = 'delivered'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AND </a:t>
            </a:r>
            <a:r>
              <a:rPr lang="en-ID" sz="900" dirty="0" err="1"/>
              <a:t>o.order_delivered_customer_date</a:t>
            </a:r>
            <a:r>
              <a:rPr lang="en-ID" sz="900" dirty="0"/>
              <a:t> IS NOT NULL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AND </a:t>
            </a:r>
            <a:r>
              <a:rPr lang="en-ID" sz="900" dirty="0" err="1"/>
              <a:t>o.order_estimated_delivery_date</a:t>
            </a:r>
            <a:r>
              <a:rPr lang="en-ID" sz="900" dirty="0"/>
              <a:t> IS NOT NULL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GROUP BY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    </a:t>
            </a:r>
            <a:r>
              <a:rPr lang="en-ID" sz="900" dirty="0" err="1"/>
              <a:t>s.geolocation_state_name</a:t>
            </a:r>
            <a:endParaRPr lang="en-ID" sz="900" dirty="0"/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HAVING COUNT(*) &gt;= 100</a:t>
            </a:r>
          </a:p>
          <a:p>
            <a:pPr>
              <a:spcAft>
                <a:spcPts val="0"/>
              </a:spcAft>
              <a:defRPr sz="950">
                <a:solidFill>
                  <a:srgbClr val="2D68A1"/>
                </a:solidFill>
                <a:latin typeface="Consolas"/>
              </a:defRPr>
            </a:pPr>
            <a:r>
              <a:rPr lang="en-ID" sz="900" dirty="0"/>
              <a:t>ORDER BY </a:t>
            </a:r>
            <a:r>
              <a:rPr lang="en-ID" sz="900" dirty="0" err="1"/>
              <a:t>late_delivery_pct</a:t>
            </a:r>
            <a:r>
              <a:rPr lang="en-ID" sz="900" dirty="0"/>
              <a:t> DESC;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4980432" y="6122931"/>
            <a:ext cx="6915670" cy="645422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039311" y="6111087"/>
            <a:ext cx="6735261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200" b="1" i="0" dirty="0">
                <a:solidFill>
                  <a:srgbClr val="1F7E80"/>
                </a:solidFill>
                <a:latin typeface="Aptos"/>
              </a:rPr>
              <a:t>Insight</a:t>
            </a:r>
            <a:endParaRPr sz="1200" b="1" i="0" dirty="0">
              <a:solidFill>
                <a:srgbClr val="1F7E8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39312" y="6279970"/>
            <a:ext cx="6735261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100" dirty="0" err="1"/>
              <a:t>Persentase</a:t>
            </a:r>
            <a:r>
              <a:rPr lang="en-ID" sz="1100" dirty="0"/>
              <a:t> </a:t>
            </a:r>
            <a:r>
              <a:rPr lang="en-ID" sz="1100" dirty="0" err="1"/>
              <a:t>keterlambatan</a:t>
            </a:r>
            <a:r>
              <a:rPr lang="en-ID" sz="1100" dirty="0"/>
              <a:t> </a:t>
            </a:r>
            <a:r>
              <a:rPr lang="en-ID" sz="1100" dirty="0" err="1"/>
              <a:t>berbeda</a:t>
            </a:r>
            <a:r>
              <a:rPr lang="en-ID" sz="1100" dirty="0"/>
              <a:t> </a:t>
            </a:r>
            <a:r>
              <a:rPr lang="en-ID" sz="1100" dirty="0" err="1"/>
              <a:t>antar</a:t>
            </a:r>
            <a:r>
              <a:rPr lang="en-ID" sz="1100" dirty="0"/>
              <a:t>-state, </a:t>
            </a:r>
            <a:r>
              <a:rPr lang="en-ID" sz="1100" dirty="0" err="1"/>
              <a:t>dari</a:t>
            </a:r>
            <a:r>
              <a:rPr lang="en-ID" sz="1100" dirty="0"/>
              <a:t> 2,88% di Rondônia </a:t>
            </a:r>
            <a:r>
              <a:rPr lang="en-ID" sz="1100" dirty="0" err="1"/>
              <a:t>hingga</a:t>
            </a:r>
            <a:r>
              <a:rPr lang="en-ID" sz="1100" dirty="0"/>
              <a:t> 23,93% di Alagoas. </a:t>
            </a:r>
            <a:r>
              <a:rPr lang="en-ID" sz="1100" dirty="0" err="1"/>
              <a:t>Perbedaan</a:t>
            </a:r>
            <a:r>
              <a:rPr lang="en-ID" sz="1100" dirty="0"/>
              <a:t> </a:t>
            </a:r>
            <a:r>
              <a:rPr lang="en-ID" sz="1100" dirty="0" err="1"/>
              <a:t>ini</a:t>
            </a:r>
            <a:r>
              <a:rPr lang="en-ID" sz="1100" dirty="0"/>
              <a:t> </a:t>
            </a:r>
            <a:r>
              <a:rPr lang="en-ID" sz="1100" dirty="0" err="1"/>
              <a:t>dapat</a:t>
            </a:r>
            <a:r>
              <a:rPr lang="en-ID" sz="1100" dirty="0"/>
              <a:t> </a:t>
            </a:r>
            <a:r>
              <a:rPr lang="en-ID" sz="1100" dirty="0" err="1"/>
              <a:t>menjadi</a:t>
            </a:r>
            <a:r>
              <a:rPr lang="en-ID" sz="1100" dirty="0"/>
              <a:t> </a:t>
            </a:r>
            <a:r>
              <a:rPr lang="en-ID" sz="1100" dirty="0" err="1"/>
              <a:t>dasar</a:t>
            </a:r>
            <a:r>
              <a:rPr lang="en-ID" sz="1100" dirty="0"/>
              <a:t>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menentukan</a:t>
            </a:r>
            <a:r>
              <a:rPr lang="en-ID" sz="1100" dirty="0"/>
              <a:t> wilayah yang </a:t>
            </a:r>
            <a:r>
              <a:rPr lang="en-ID" sz="1100" dirty="0" err="1"/>
              <a:t>perlu</a:t>
            </a:r>
            <a:r>
              <a:rPr lang="en-ID" sz="1100" dirty="0"/>
              <a:t> </a:t>
            </a:r>
            <a:r>
              <a:rPr lang="en-ID" sz="1100" dirty="0" err="1"/>
              <a:t>diprioritaskan</a:t>
            </a:r>
            <a:r>
              <a:rPr lang="en-ID" sz="1100" dirty="0"/>
              <a:t>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evaluasi</a:t>
            </a:r>
            <a:r>
              <a:rPr lang="en-ID" sz="1100" dirty="0"/>
              <a:t> </a:t>
            </a:r>
            <a:r>
              <a:rPr lang="en-ID" sz="1100" dirty="0" err="1"/>
              <a:t>kinerja</a:t>
            </a:r>
            <a:r>
              <a:rPr lang="en-ID" sz="1100" dirty="0"/>
              <a:t> </a:t>
            </a:r>
            <a:r>
              <a:rPr lang="en-ID" sz="1100" dirty="0" err="1"/>
              <a:t>pengiriman</a:t>
            </a:r>
            <a:r>
              <a:rPr lang="en-ID" sz="1100" dirty="0"/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AF52904-5687-4467-3A10-E50C4E988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489215"/>
              </p:ext>
            </p:extLst>
          </p:nvPr>
        </p:nvGraphicFramePr>
        <p:xfrm>
          <a:off x="4980432" y="1505355"/>
          <a:ext cx="6915671" cy="4525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94">
                  <a:extLst>
                    <a:ext uri="{9D8B030D-6E8A-4147-A177-3AD203B41FA5}">
                      <a16:colId xmlns:a16="http://schemas.microsoft.com/office/drawing/2014/main" val="18851025"/>
                    </a:ext>
                  </a:extLst>
                </a:gridCol>
                <a:gridCol w="1545856">
                  <a:extLst>
                    <a:ext uri="{9D8B030D-6E8A-4147-A177-3AD203B41FA5}">
                      <a16:colId xmlns:a16="http://schemas.microsoft.com/office/drawing/2014/main" val="3918198948"/>
                    </a:ext>
                  </a:extLst>
                </a:gridCol>
                <a:gridCol w="967290">
                  <a:extLst>
                    <a:ext uri="{9D8B030D-6E8A-4147-A177-3AD203B41FA5}">
                      <a16:colId xmlns:a16="http://schemas.microsoft.com/office/drawing/2014/main" val="3041319422"/>
                    </a:ext>
                  </a:extLst>
                </a:gridCol>
                <a:gridCol w="711154">
                  <a:extLst>
                    <a:ext uri="{9D8B030D-6E8A-4147-A177-3AD203B41FA5}">
                      <a16:colId xmlns:a16="http://schemas.microsoft.com/office/drawing/2014/main" val="1371541491"/>
                    </a:ext>
                  </a:extLst>
                </a:gridCol>
                <a:gridCol w="1313826">
                  <a:extLst>
                    <a:ext uri="{9D8B030D-6E8A-4147-A177-3AD203B41FA5}">
                      <a16:colId xmlns:a16="http://schemas.microsoft.com/office/drawing/2014/main" val="923126230"/>
                    </a:ext>
                  </a:extLst>
                </a:gridCol>
                <a:gridCol w="1048651">
                  <a:extLst>
                    <a:ext uri="{9D8B030D-6E8A-4147-A177-3AD203B41FA5}">
                      <a16:colId xmlns:a16="http://schemas.microsoft.com/office/drawing/2014/main" val="2208333678"/>
                    </a:ext>
                  </a:extLst>
                </a:gridCol>
              </a:tblGrid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 err="1">
                          <a:effectLst/>
                        </a:rPr>
                        <a:t>customer_state_name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>
                          <a:effectLst/>
                        </a:rPr>
                        <a:t>eligible_delivered_orders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>
                          <a:effectLst/>
                        </a:rPr>
                        <a:t>on_time_orders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>
                          <a:effectLst/>
                        </a:rPr>
                        <a:t>late_orders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 err="1">
                          <a:effectLst/>
                        </a:rPr>
                        <a:t>on_time_delivery_pct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b="1" u="none" strike="noStrike" dirty="0" err="1">
                          <a:effectLst/>
                        </a:rPr>
                        <a:t>late_delivery_pct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458470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Alagoas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302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76,07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23,93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1500753922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Maranhão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80,33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19,67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346491583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Piauí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400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84,03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15,97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779679038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Ceará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1.279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1.083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196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84,68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15,32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337948226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Sergipe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335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284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84,78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15,22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213910605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Bahia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3.256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2.799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457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85,96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14,04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3149788528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Rio de Janeiro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12.350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10.686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1.664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86,53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13,47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4019037491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Tocantins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274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239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87,23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12,77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343766925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Pará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946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829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87,63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12,37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129581782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Espírito Santo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1.995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1.751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244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87,77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12,23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570514427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Mato Grosso do Sul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701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620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88,45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11,55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501793327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Paraíba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460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88,97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11,03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962629599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Pernambuco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1.593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1.421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172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89,2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10,8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3263056519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Rio Grande do Norte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474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423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89,24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10,76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193796384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Santa Catarina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3.546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3.200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346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90,24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9,76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808478301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Goiás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1.957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1.797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160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91,82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8,18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87188095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Rio Grande do Sul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5.344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4.962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382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92,85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7,15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803379008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Distrito Federal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2.080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1.933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92,93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7,07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367517601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Mato Grosso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886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826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60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93,23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6,77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125435371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São Paulo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40.494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38.107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2.387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94,11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5,89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4245991651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Minas Gerais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11.354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10.717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637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94,39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5,61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3768760283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Paraná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4.923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4.677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246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206380737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Amazonas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145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139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95,86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4,14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3853572930"/>
                  </a:ext>
                </a:extLst>
              </a:tr>
              <a:tr h="181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Rondônia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243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236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7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>
                          <a:effectLst/>
                        </a:rPr>
                        <a:t>97,12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900" u="none" strike="noStrike" dirty="0">
                          <a:effectLst/>
                        </a:rPr>
                        <a:t>2,88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2" marR="9052" marT="9052" marB="0" anchor="b"/>
                </a:tc>
                <a:extLst>
                  <a:ext uri="{0D108BD9-81ED-4DB2-BD59-A6C34878D82A}">
                    <a16:rowId xmlns:a16="http://schemas.microsoft.com/office/drawing/2014/main" val="38699415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06 • BASELINE &amp;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Baseline</a:t>
            </a:r>
            <a:r>
              <a:rPr lang="es-ES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Transaksi</a:t>
            </a:r>
            <a:r>
              <a:rPr lang="es-ES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untuk</a:t>
            </a:r>
            <a:r>
              <a:rPr lang="es-ES" sz="2600" b="1" i="0" dirty="0">
                <a:solidFill>
                  <a:srgbClr val="1C3048"/>
                </a:solidFill>
                <a:latin typeface="Aptos"/>
              </a:rPr>
              <a:t>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Validasi</a:t>
            </a:r>
            <a:r>
              <a:rPr lang="es-ES" sz="2600" b="1" i="0" dirty="0">
                <a:solidFill>
                  <a:srgbClr val="1C3048"/>
                </a:solidFill>
                <a:latin typeface="Aptos"/>
              </a:rPr>
              <a:t> Hasil </a:t>
            </a:r>
            <a:r>
              <a:rPr lang="es-ES" sz="2600" b="1" i="0" dirty="0" err="1">
                <a:solidFill>
                  <a:srgbClr val="1C3048"/>
                </a:solidFill>
                <a:latin typeface="Aptos"/>
              </a:rPr>
              <a:t>Agregasi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Baseline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digunakan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memvalidasi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jumlah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pesanan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item, revenue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ongkos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kirim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sebelum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hasil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agregasi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bulanan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atau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diinterpretasikan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51487"/>
              </p:ext>
            </p:extLst>
          </p:nvPr>
        </p:nvGraphicFramePr>
        <p:xfrm>
          <a:off x="685800" y="1600200"/>
          <a:ext cx="6629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Metrik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Pesanan</a:t>
                      </a: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delivered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96.478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pesanan</a:t>
                      </a:r>
                      <a:r>
                        <a:rPr lang="en-US" dirty="0"/>
                        <a:t> delivered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Item pada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pesanan</a:t>
                      </a: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delivered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110.197</a:t>
                      </a:r>
                      <a:r>
                        <a:rPr lang="en-US" dirty="0"/>
                        <a:t> item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Revenue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produk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R$13.221.498,11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Total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ongkos</a:t>
                      </a: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kirim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R$2.198.275,64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Total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nilai</a:t>
                      </a: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produk</a:t>
                      </a: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+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ongkos</a:t>
                      </a:r>
                      <a:r>
                        <a:rPr lang="en-ID" sz="120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20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kirim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/>
                        <a:t>R$15.419.773,75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45920"/>
            <a:ext cx="3657600" cy="2834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7" y="1737360"/>
            <a:ext cx="3438144" cy="263456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SELECT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COUNT(DISTINCT </a:t>
            </a:r>
            <a:r>
              <a:rPr lang="en-ID" dirty="0" err="1"/>
              <a:t>o.order_id</a:t>
            </a:r>
            <a:r>
              <a:rPr lang="en-ID" dirty="0"/>
              <a:t>) AS </a:t>
            </a:r>
            <a:r>
              <a:rPr lang="en-ID" dirty="0" err="1"/>
              <a:t>delivered_orders</a:t>
            </a:r>
            <a:r>
              <a:rPr lang="en-ID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COUNT(*) AS </a:t>
            </a:r>
            <a:r>
              <a:rPr lang="en-ID" dirty="0" err="1"/>
              <a:t>total_order_items</a:t>
            </a:r>
            <a:r>
              <a:rPr lang="en-ID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ROUND(SUM(</a:t>
            </a:r>
            <a:r>
              <a:rPr lang="en-ID" dirty="0" err="1"/>
              <a:t>i.price</a:t>
            </a:r>
            <a:r>
              <a:rPr lang="en-ID" dirty="0"/>
              <a:t>::numeric), 2) AS </a:t>
            </a:r>
            <a:r>
              <a:rPr lang="en-ID" dirty="0" err="1"/>
              <a:t>total_product_revenue</a:t>
            </a:r>
            <a:r>
              <a:rPr lang="en-ID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ROUND(SUM(</a:t>
            </a:r>
            <a:r>
              <a:rPr lang="en-ID" dirty="0" err="1"/>
              <a:t>i.freight_value</a:t>
            </a:r>
            <a:r>
              <a:rPr lang="en-ID" dirty="0"/>
              <a:t>::numeric), 2) AS </a:t>
            </a:r>
            <a:r>
              <a:rPr lang="en-ID" dirty="0" err="1"/>
              <a:t>total_freight_value</a:t>
            </a:r>
            <a:r>
              <a:rPr lang="en-ID" dirty="0"/>
              <a:t>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ROUND(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    SUM(</a:t>
            </a:r>
            <a:r>
              <a:rPr lang="en-ID" dirty="0" err="1"/>
              <a:t>i.price</a:t>
            </a:r>
            <a:r>
              <a:rPr lang="en-ID" dirty="0"/>
              <a:t>::numeric + </a:t>
            </a:r>
            <a:r>
              <a:rPr lang="en-ID" dirty="0" err="1"/>
              <a:t>i.freight_value</a:t>
            </a:r>
            <a:r>
              <a:rPr lang="en-ID" dirty="0"/>
              <a:t>::numeric),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    2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) AS </a:t>
            </a:r>
            <a:r>
              <a:rPr lang="en-ID" dirty="0" err="1"/>
              <a:t>total_revenue_including_freight</a:t>
            </a:r>
            <a:endParaRPr lang="en-ID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FROM </a:t>
            </a:r>
            <a:r>
              <a:rPr lang="en-ID" dirty="0" err="1"/>
              <a:t>staging.orders_raw</a:t>
            </a:r>
            <a:r>
              <a:rPr lang="en-ID" dirty="0"/>
              <a:t> o</a:t>
            </a:r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JOIN </a:t>
            </a:r>
            <a:r>
              <a:rPr lang="en-ID" dirty="0" err="1"/>
              <a:t>staging.order_items_raw</a:t>
            </a:r>
            <a:r>
              <a:rPr lang="en-ID" dirty="0"/>
              <a:t> </a:t>
            </a:r>
            <a:r>
              <a:rPr lang="en-ID" dirty="0" err="1"/>
              <a:t>i</a:t>
            </a:r>
            <a:endParaRPr lang="en-ID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    ON </a:t>
            </a:r>
            <a:r>
              <a:rPr lang="en-ID" dirty="0" err="1"/>
              <a:t>o.order_id</a:t>
            </a:r>
            <a:r>
              <a:rPr lang="en-ID" dirty="0"/>
              <a:t> = </a:t>
            </a:r>
            <a:r>
              <a:rPr lang="en-ID" dirty="0" err="1"/>
              <a:t>i.order_id</a:t>
            </a:r>
            <a:endParaRPr lang="en-ID" dirty="0"/>
          </a:p>
          <a:p>
            <a:pPr>
              <a:spcAft>
                <a:spcPts val="0"/>
              </a:spcAft>
              <a:defRPr sz="1000">
                <a:solidFill>
                  <a:srgbClr val="2D68A1"/>
                </a:solidFill>
                <a:latin typeface="Consolas"/>
              </a:defRPr>
            </a:pPr>
            <a:r>
              <a:rPr lang="en-ID" dirty="0"/>
              <a:t>WHERE </a:t>
            </a:r>
            <a:r>
              <a:rPr lang="en-ID" dirty="0" err="1"/>
              <a:t>o.order_status</a:t>
            </a:r>
            <a:r>
              <a:rPr lang="en-ID" dirty="0"/>
              <a:t> = 'delivered';</a:t>
            </a:r>
            <a:endParaRPr dirty="0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4579D73C-78D8-FA01-3B48-7528719124DC}"/>
              </a:ext>
            </a:extLst>
          </p:cNvPr>
          <p:cNvSpPr/>
          <p:nvPr/>
        </p:nvSpPr>
        <p:spPr>
          <a:xfrm>
            <a:off x="685800" y="4661674"/>
            <a:ext cx="10853928" cy="663361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64D95-9640-8C85-B292-66900A65DF06}"/>
              </a:ext>
            </a:extLst>
          </p:cNvPr>
          <p:cNvSpPr txBox="1"/>
          <p:nvPr/>
        </p:nvSpPr>
        <p:spPr>
          <a:xfrm>
            <a:off x="744679" y="4649829"/>
            <a:ext cx="10570782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200" b="1" i="0" dirty="0">
                <a:solidFill>
                  <a:srgbClr val="1F7E80"/>
                </a:solidFill>
                <a:latin typeface="Aptos"/>
              </a:rPr>
              <a:t>Insight</a:t>
            </a:r>
            <a:endParaRPr sz="1200" b="1" i="0" dirty="0">
              <a:solidFill>
                <a:srgbClr val="1F7E80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889BE-9223-1B60-CFFE-F3692A590799}"/>
              </a:ext>
            </a:extLst>
          </p:cNvPr>
          <p:cNvSpPr txBox="1"/>
          <p:nvPr/>
        </p:nvSpPr>
        <p:spPr>
          <a:xfrm>
            <a:off x="744680" y="4818713"/>
            <a:ext cx="10570782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D" sz="1100" dirty="0"/>
              <a:t>Total </a:t>
            </a:r>
            <a:r>
              <a:rPr lang="en-ID" sz="1100" dirty="0" err="1"/>
              <a:t>harga</a:t>
            </a:r>
            <a:r>
              <a:rPr lang="en-ID" sz="1100" dirty="0"/>
              <a:t> </a:t>
            </a:r>
            <a:r>
              <a:rPr lang="en-ID" sz="1100" dirty="0" err="1"/>
              <a:t>produk</a:t>
            </a:r>
            <a:r>
              <a:rPr lang="en-ID" sz="1100" dirty="0"/>
              <a:t> dan </a:t>
            </a:r>
            <a:r>
              <a:rPr lang="en-ID" sz="1100" dirty="0" err="1"/>
              <a:t>ongkos</a:t>
            </a:r>
            <a:r>
              <a:rPr lang="en-ID" sz="1100" dirty="0"/>
              <a:t> </a:t>
            </a:r>
            <a:r>
              <a:rPr lang="en-ID" sz="1100" dirty="0" err="1"/>
              <a:t>kirim</a:t>
            </a:r>
            <a:r>
              <a:rPr lang="en-ID" sz="1100" dirty="0"/>
              <a:t> </a:t>
            </a:r>
            <a:r>
              <a:rPr lang="en-ID" sz="1100" dirty="0" err="1"/>
              <a:t>mencapai</a:t>
            </a:r>
            <a:r>
              <a:rPr lang="en-ID" sz="1100" dirty="0"/>
              <a:t> R$15,42 </a:t>
            </a:r>
            <a:r>
              <a:rPr lang="en-ID" sz="1100" dirty="0" err="1"/>
              <a:t>juta</a:t>
            </a:r>
            <a:r>
              <a:rPr lang="en-ID" sz="1100" dirty="0"/>
              <a:t>, </a:t>
            </a:r>
            <a:r>
              <a:rPr lang="en-ID" sz="1100" dirty="0" err="1"/>
              <a:t>terdiri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R$13,22 </a:t>
            </a:r>
            <a:r>
              <a:rPr lang="en-ID" sz="1100" dirty="0" err="1"/>
              <a:t>juta</a:t>
            </a:r>
            <a:r>
              <a:rPr lang="en-ID" sz="1100" dirty="0"/>
              <a:t> </a:t>
            </a:r>
            <a:r>
              <a:rPr lang="en-ID" sz="1100" dirty="0" err="1"/>
              <a:t>harga</a:t>
            </a:r>
            <a:r>
              <a:rPr lang="en-ID" sz="1100" dirty="0"/>
              <a:t> </a:t>
            </a:r>
            <a:r>
              <a:rPr lang="en-ID" sz="1100" dirty="0" err="1"/>
              <a:t>produk</a:t>
            </a:r>
            <a:r>
              <a:rPr lang="en-ID" sz="1100" dirty="0"/>
              <a:t> dan R$2,20 </a:t>
            </a:r>
            <a:r>
              <a:rPr lang="en-ID" sz="1100" dirty="0" err="1"/>
              <a:t>juta</a:t>
            </a:r>
            <a:r>
              <a:rPr lang="en-ID" sz="1100" dirty="0"/>
              <a:t> </a:t>
            </a:r>
            <a:r>
              <a:rPr lang="en-ID" sz="1100" dirty="0" err="1"/>
              <a:t>ongkos</a:t>
            </a:r>
            <a:r>
              <a:rPr lang="en-ID" sz="1100" dirty="0"/>
              <a:t> </a:t>
            </a:r>
            <a:r>
              <a:rPr lang="en-ID" sz="1100" dirty="0" err="1"/>
              <a:t>kirim</a:t>
            </a:r>
            <a:r>
              <a:rPr lang="en-ID" sz="1100" dirty="0"/>
              <a:t>. </a:t>
            </a:r>
            <a:r>
              <a:rPr lang="en-ID" sz="1100" dirty="0" err="1"/>
              <a:t>Kedua</a:t>
            </a:r>
            <a:r>
              <a:rPr lang="en-ID" sz="1100" dirty="0"/>
              <a:t> </a:t>
            </a:r>
            <a:r>
              <a:rPr lang="en-ID" sz="1100" dirty="0" err="1"/>
              <a:t>komponen</a:t>
            </a:r>
            <a:r>
              <a:rPr lang="en-ID" sz="1100" dirty="0"/>
              <a:t> </a:t>
            </a:r>
            <a:r>
              <a:rPr lang="en-ID" sz="1100" dirty="0" err="1"/>
              <a:t>perlu</a:t>
            </a:r>
            <a:r>
              <a:rPr lang="en-ID" sz="1100" dirty="0"/>
              <a:t> </a:t>
            </a:r>
            <a:r>
              <a:rPr lang="en-ID" sz="1100" dirty="0" err="1"/>
              <a:t>dibedakan</a:t>
            </a:r>
            <a:r>
              <a:rPr lang="en-ID" sz="1100" dirty="0"/>
              <a:t> agar </a:t>
            </a:r>
            <a:r>
              <a:rPr lang="en-ID" sz="1100" dirty="0" err="1"/>
              <a:t>kontribusi</a:t>
            </a:r>
            <a:r>
              <a:rPr lang="en-ID" sz="1100" dirty="0"/>
              <a:t> </a:t>
            </a:r>
            <a:r>
              <a:rPr lang="en-ID" sz="1100" dirty="0" err="1"/>
              <a:t>ongkos</a:t>
            </a:r>
            <a:r>
              <a:rPr lang="en-ID" sz="1100" dirty="0"/>
              <a:t> </a:t>
            </a:r>
            <a:r>
              <a:rPr lang="en-ID" sz="1100" dirty="0" err="1"/>
              <a:t>kirim</a:t>
            </a:r>
            <a:r>
              <a:rPr lang="en-ID" sz="1100" dirty="0"/>
              <a:t> </a:t>
            </a:r>
            <a:r>
              <a:rPr lang="en-ID" sz="1100" dirty="0" err="1"/>
              <a:t>tidak</a:t>
            </a:r>
            <a:r>
              <a:rPr lang="en-ID" sz="1100" dirty="0"/>
              <a:t> </a:t>
            </a:r>
            <a:r>
              <a:rPr lang="en-ID" sz="1100" dirty="0" err="1"/>
              <a:t>tercampur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revenue </a:t>
            </a:r>
            <a:r>
              <a:rPr lang="en-ID" sz="1100" dirty="0" err="1"/>
              <a:t>produk</a:t>
            </a:r>
            <a:r>
              <a:rPr lang="en-ID" sz="1100" dirty="0"/>
              <a:t> pada </a:t>
            </a:r>
            <a:r>
              <a:rPr lang="en-ID" sz="1100" dirty="0" err="1"/>
              <a:t>analisis</a:t>
            </a:r>
            <a:r>
              <a:rPr lang="en-ID" sz="1100" dirty="0"/>
              <a:t> </a:t>
            </a:r>
            <a:r>
              <a:rPr lang="en-ID" sz="1100" dirty="0" err="1"/>
              <a:t>berikutnya</a:t>
            </a:r>
            <a:r>
              <a:rPr lang="en-ID" sz="1100" dirty="0"/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SINTESIS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fi-FI" sz="2600" b="1" i="0" dirty="0">
                <a:solidFill>
                  <a:srgbClr val="1C3048"/>
                </a:solidFill>
                <a:latin typeface="Aptos"/>
              </a:rPr>
              <a:t>Empat Temuan Utama dan Arah Analisis Lanjutan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Temuan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ini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bersifat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deskriptif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menjadi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dasar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analisis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lanjutan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bukan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bukti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hubungan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sebab-akibat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atau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rekomendasi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telah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diuji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737621"/>
              </p:ext>
            </p:extLst>
          </p:nvPr>
        </p:nvGraphicFramePr>
        <p:xfrm>
          <a:off x="685800" y="1600200"/>
          <a:ext cx="10789920" cy="32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7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Pertanyaan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Bisnis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/>
                        <a:t>Kesimpulan Dari </a:t>
                      </a:r>
                      <a:r>
                        <a:rPr lang="en-US" dirty="0" err="1"/>
                        <a:t>Analisis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dirty="0" err="1"/>
                        <a:t>Tindak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Lanjut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Bagaimana tren penjualan produk dari waktu ke waktu?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Revenue produk mencapai R$13,22 juta selama periode September 2016–Agustus 2018. Tren bulanan meningkat sepanjang 2017 hingga awal 2018, lalu berfluktuasi.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Analisis tren dan pola musiman per kategori.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Kategori apa yang berkontribusi besar terhadap revenue produk?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dirty="0" err="1">
                          <a:latin typeface="Aptos" panose="020B0004020202020204" pitchFamily="34" charset="0"/>
                        </a:rPr>
                        <a:t>Kategori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dengan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revenue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tertinggi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pada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hasil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ranking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adalah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health_beauty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(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sekitar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R$1,23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juta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),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disusul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watches_gifts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dan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bed_bath_table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Evaluasi tren kategori dan kontribusi masing-masing kategori dari waktu ke waktu.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Seberapa kuat indikasi pembelian berulang?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Repeat-buyer rate sebesar 3,00% dari 93.350 pelanggan unik dalam cakupan analisis.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Analisis pembelian ulang menurut periode, kategori, atau wilayah.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Bagaimana performa pengiriman terhadap estimasi?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>
                          <a:latin typeface="Aptos" panose="020B0004020202020204" pitchFamily="34" charset="0"/>
                        </a:rPr>
                        <a:t>Sebanyak 91,89% dari 96.470 pesanan eligible diterima sesuai atau sebelum estimasi. Tingkat keterlambatan berbeda antarprovinsi.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050" dirty="0" err="1">
                          <a:latin typeface="Aptos" panose="020B0004020202020204" pitchFamily="34" charset="0"/>
                        </a:rPr>
                        <a:t>Investigasi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provinsi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dengan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tingkat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keterlambatan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tinggi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dengan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mempertimbangkan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volume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pesanan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dan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faktor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D" sz="1050" dirty="0" err="1">
                          <a:latin typeface="Aptos" panose="020B0004020202020204" pitchFamily="34" charset="0"/>
                        </a:rPr>
                        <a:t>operasional</a:t>
                      </a:r>
                      <a:r>
                        <a:rPr lang="en-ID" sz="1050" dirty="0"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6280" y="5440679"/>
            <a:ext cx="10805160" cy="1067697"/>
          </a:xfrm>
          <a:prstGeom prst="roundRect">
            <a:avLst>
              <a:gd name="adj" fmla="val 8000"/>
            </a:avLst>
          </a:prstGeom>
          <a:solidFill>
            <a:srgbClr val="E4F2F0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5550408"/>
            <a:ext cx="102412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7E80"/>
                </a:solidFill>
                <a:latin typeface="Aptos"/>
              </a:rPr>
              <a:t>Kesimpulan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833872"/>
            <a:ext cx="10597896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Analisis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menunjukkan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tren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revenue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produk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yang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meningkat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hingga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awal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2018,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konsentrasi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revenue pada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kategori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tertentu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, repeat-buyer rate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sebesar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3,00%, dan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tingkat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ketepatan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pengiriman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sebesar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91,89% pada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pesanan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eligible. Definisi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metrik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populasi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analisis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serta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rekonsiliasi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baseline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digunakan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untuk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menjaga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interpretasi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hasil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tetap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2D3641"/>
                </a:solidFill>
                <a:latin typeface="Aptos"/>
              </a:rPr>
              <a:t>konsisten</a:t>
            </a:r>
            <a:r>
              <a:rPr lang="en-ID" sz="1100" b="0" i="0" dirty="0">
                <a:solidFill>
                  <a:srgbClr val="2D3641"/>
                </a:solidFill>
                <a:latin typeface="Aptos"/>
              </a:rPr>
              <a:t>.</a:t>
            </a:r>
            <a:endParaRPr sz="1100" b="0" i="0" dirty="0">
              <a:solidFill>
                <a:srgbClr val="2D36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601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68A1"/>
                </a:solidFill>
                <a:latin typeface="Aptos"/>
              </a:rPr>
              <a:t>METODE &amp; BATASAN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it-IT" sz="2600" b="1" i="0" dirty="0">
                <a:solidFill>
                  <a:srgbClr val="1C3048"/>
                </a:solidFill>
                <a:latin typeface="Aptos"/>
              </a:rPr>
              <a:t>Definisi Metrik dan Batasan Interpretasi</a:t>
            </a:r>
            <a:endParaRPr sz="2600" b="1" i="0" dirty="0">
              <a:solidFill>
                <a:srgbClr val="1C304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100" b="0" i="0" dirty="0">
                <a:solidFill>
                  <a:srgbClr val="636E7A"/>
                </a:solidFill>
                <a:latin typeface="Aptos"/>
              </a:rPr>
              <a:t>Definisi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metrik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,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aturan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query, dan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batasan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berikut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menentukan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bagaimana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hasil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analisis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harus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 </a:t>
            </a:r>
            <a:r>
              <a:rPr lang="en-ID" sz="1100" b="0" i="0" dirty="0" err="1">
                <a:solidFill>
                  <a:srgbClr val="636E7A"/>
                </a:solidFill>
                <a:latin typeface="Aptos"/>
              </a:rPr>
              <a:t>diinterpretasikan</a:t>
            </a:r>
            <a:r>
              <a:rPr lang="en-ID" sz="1100" b="0" i="0" dirty="0">
                <a:solidFill>
                  <a:srgbClr val="636E7A"/>
                </a:solidFill>
                <a:latin typeface="Aptos"/>
              </a:rPr>
              <a:t>.</a:t>
            </a:r>
            <a:endParaRPr sz="1100" b="0" i="0" dirty="0">
              <a:solidFill>
                <a:srgbClr val="636E7A"/>
              </a:solidFill>
              <a:latin typeface="Apto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277438"/>
              </p:ext>
            </p:extLst>
          </p:nvPr>
        </p:nvGraphicFramePr>
        <p:xfrm>
          <a:off x="685800" y="1572768"/>
          <a:ext cx="10789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Aturan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Implementasi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Dampak interpretasi</a:t>
                      </a:r>
                    </a:p>
                  </a:txBody>
                  <a:tcPr marL="73152" marR="54864" marT="36576" marB="36576">
                    <a:solidFill>
                      <a:srgbClr val="1C3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05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Populasi</a:t>
                      </a:r>
                      <a:r>
                        <a:rPr lang="en-ID" sz="105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05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penjualan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order_status = 'delivered'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Hanya </a:t>
                      </a:r>
                      <a:r>
                        <a:rPr lang="en-ID" dirty="0" err="1"/>
                        <a:t>mencakup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berstatus</a:t>
                      </a:r>
                      <a:r>
                        <a:rPr lang="en-ID" dirty="0"/>
                        <a:t> delivered, </a:t>
                      </a:r>
                      <a:r>
                        <a:rPr lang="en-ID" dirty="0" err="1"/>
                        <a:t>bukan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seluruh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atau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pengakuan</a:t>
                      </a:r>
                      <a:r>
                        <a:rPr lang="en-ID" dirty="0"/>
                        <a:t> revenue </a:t>
                      </a:r>
                      <a:r>
                        <a:rPr lang="en-ID" dirty="0" err="1"/>
                        <a:t>berdasarkan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standar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akuntansi</a:t>
                      </a:r>
                      <a:r>
                        <a:rPr lang="en-ID" dirty="0"/>
                        <a:t>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sz="1050" kern="1200" dirty="0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Revenue </a:t>
                      </a:r>
                      <a:r>
                        <a:rPr lang="en-ID" sz="1050" kern="1200" dirty="0" err="1">
                          <a:solidFill>
                            <a:srgbClr val="2D3641"/>
                          </a:solidFill>
                          <a:latin typeface="Aptos"/>
                          <a:ea typeface="+mn-ea"/>
                          <a:cs typeface="+mn-cs"/>
                        </a:rPr>
                        <a:t>produk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t>SUM(order_items_raw.price)</a:t>
                      </a:r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Tidak </a:t>
                      </a:r>
                      <a:r>
                        <a:rPr lang="en-ID" dirty="0" err="1"/>
                        <a:t>mencakup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ongkos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kirim</a:t>
                      </a:r>
                      <a:r>
                        <a:rPr lang="en-ID" dirty="0"/>
                        <a:t> dan </a:t>
                      </a:r>
                      <a:r>
                        <a:rPr lang="en-ID" dirty="0" err="1"/>
                        <a:t>tidak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merepresentasikan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laba</a:t>
                      </a:r>
                      <a:r>
                        <a:rPr lang="en-ID" dirty="0"/>
                        <a:t>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KPI </a:t>
                      </a:r>
                      <a:r>
                        <a:rPr lang="en-ID" dirty="0" err="1"/>
                        <a:t>pengiriman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noProof="1"/>
                        <a:t>Pesanan delivered dengan tanggal pembelian, penerimaan, dan estimasi tersedia.</a:t>
                      </a:r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Denominator </a:t>
                      </a:r>
                      <a:r>
                        <a:rPr lang="en-ID" dirty="0" err="1"/>
                        <a:t>lebih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kecil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daripada</a:t>
                      </a:r>
                      <a:r>
                        <a:rPr lang="en-ID" dirty="0"/>
                        <a:t> total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delivered </a:t>
                      </a:r>
                      <a:r>
                        <a:rPr lang="en-ID" dirty="0" err="1"/>
                        <a:t>karena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memenuhi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kriteria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tanggal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dihitung</a:t>
                      </a:r>
                      <a:r>
                        <a:rPr lang="en-ID" dirty="0"/>
                        <a:t>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Pembelian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berulang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dirty="0" err="1"/>
                        <a:t>customer_unique_id</a:t>
                      </a:r>
                      <a:r>
                        <a:rPr lang="en-US" dirty="0"/>
                        <a:t>.</a:t>
                      </a:r>
                      <a:r>
                        <a:rPr dirty="0"/>
                        <a:t> </a:t>
                      </a:r>
                      <a:r>
                        <a:rPr lang="en-ID" dirty="0" err="1"/>
                        <a:t>pesanan</a:t>
                      </a:r>
                      <a:r>
                        <a:rPr lang="en-ID" dirty="0"/>
                        <a:t> delivered </a:t>
                      </a:r>
                      <a:r>
                        <a:rPr lang="en-ID" dirty="0" err="1"/>
                        <a:t>dengan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tanggal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penerimaan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tersedia</a:t>
                      </a:r>
                      <a:r>
                        <a:rPr lang="en-ID" dirty="0"/>
                        <a:t>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Identitas </a:t>
                      </a:r>
                      <a:r>
                        <a:rPr lang="en-ID" dirty="0" err="1"/>
                        <a:t>pelanggan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menggunakan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customer_unique_id</a:t>
                      </a:r>
                      <a:r>
                        <a:rPr lang="en-ID" dirty="0"/>
                        <a:t>, </a:t>
                      </a:r>
                      <a:r>
                        <a:rPr lang="en-ID" dirty="0" err="1"/>
                        <a:t>bukan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customer_id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dapat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merepresentasikan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akun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pelanggan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berbeda</a:t>
                      </a:r>
                      <a:r>
                        <a:rPr lang="en-ID" dirty="0"/>
                        <a:t>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Lookup wilayah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US" dirty="0"/>
                        <a:t>Lookup state </a:t>
                      </a:r>
                      <a:r>
                        <a:rPr lang="en-US" dirty="0" err="1"/>
                        <a:t>dideduplikasi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sebelum</a:t>
                      </a:r>
                      <a:r>
                        <a:rPr lang="en-US" dirty="0"/>
                        <a:t> join.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Lookup yang </a:t>
                      </a:r>
                      <a:r>
                        <a:rPr lang="en-ID" dirty="0" err="1"/>
                        <a:t>dideduplikasi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belum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otomatis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menjamin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satu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kode</a:t>
                      </a:r>
                      <a:r>
                        <a:rPr lang="en-ID" dirty="0"/>
                        <a:t> state </a:t>
                      </a:r>
                      <a:r>
                        <a:rPr lang="en-ID" dirty="0" err="1"/>
                        <a:t>memiliki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satu</a:t>
                      </a:r>
                      <a:r>
                        <a:rPr lang="en-ID" dirty="0"/>
                        <a:t> nama </a:t>
                      </a:r>
                      <a:r>
                        <a:rPr lang="en-ID" dirty="0" err="1"/>
                        <a:t>unik</a:t>
                      </a:r>
                      <a:r>
                        <a:rPr lang="en-ID" dirty="0"/>
                        <a:t>. </a:t>
                      </a:r>
                      <a:r>
                        <a:rPr lang="en-ID" dirty="0" err="1"/>
                        <a:t>Pemetaan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tetap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perlu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divalidasi</a:t>
                      </a:r>
                      <a:r>
                        <a:rPr lang="en-ID" dirty="0"/>
                        <a:t> agar join </a:t>
                      </a:r>
                      <a:r>
                        <a:rPr lang="en-ID" dirty="0" err="1"/>
                        <a:t>tidak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menggandakan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transaksi</a:t>
                      </a:r>
                      <a:r>
                        <a:rPr lang="en-ID" dirty="0"/>
                        <a:t>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 err="1"/>
                        <a:t>Klasifikasi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kategori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sv-SE" dirty="0"/>
                        <a:t>COALESCE untuk kategori terjemahan, kategori sumber, dan label fallback.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3641"/>
                          </a:solidFill>
                          <a:latin typeface="Aptos"/>
                        </a:defRPr>
                      </a:pPr>
                      <a:r>
                        <a:rPr lang="en-ID" dirty="0"/>
                        <a:t>Item </a:t>
                      </a:r>
                      <a:r>
                        <a:rPr lang="en-ID" dirty="0" err="1"/>
                        <a:t>dengan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kategori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kosong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atau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belum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diterjemahkan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tetap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dapat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dipertahankan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dalam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agregasi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sesuai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logika</a:t>
                      </a:r>
                      <a:r>
                        <a:rPr lang="en-ID" dirty="0"/>
                        <a:t> query.</a:t>
                      </a:r>
                      <a:endParaRPr dirty="0"/>
                    </a:p>
                  </a:txBody>
                  <a:tcPr marL="73152" marR="54864" marT="32004" marB="32004"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58368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FC4DB"/>
                </a:solidFill>
                <a:latin typeface="Aptos"/>
              </a:rPr>
              <a:t>SQL BUSINESS ANALYSIS  / 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97092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 dirty="0">
                <a:solidFill>
                  <a:srgbClr val="FFFFFF"/>
                </a:solidFill>
                <a:latin typeface="Aptos"/>
              </a:rPr>
              <a:t>Dari raw tables </a:t>
            </a:r>
            <a:r>
              <a:rPr sz="3200" b="1" i="0" dirty="0" err="1">
                <a:solidFill>
                  <a:srgbClr val="FFFFFF"/>
                </a:solidFill>
                <a:latin typeface="Aptos"/>
              </a:rPr>
              <a:t>menjadi</a:t>
            </a:r>
            <a:r>
              <a:rPr sz="3200" b="1" i="0" dirty="0">
                <a:solidFill>
                  <a:srgbClr val="FFFFFF"/>
                </a:solidFill>
                <a:latin typeface="Aptos"/>
              </a:rPr>
              <a:t>
insight yang </a:t>
            </a:r>
            <a:r>
              <a:rPr sz="3200" b="1" i="0" dirty="0" err="1">
                <a:solidFill>
                  <a:srgbClr val="FFFFFF"/>
                </a:solidFill>
                <a:latin typeface="Aptos"/>
              </a:rPr>
              <a:t>dapat</a:t>
            </a:r>
            <a:r>
              <a:rPr sz="32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Aptos"/>
              </a:rPr>
              <a:t>ditelusuri</a:t>
            </a:r>
            <a:endParaRPr sz="3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39" y="2743200"/>
            <a:ext cx="10894807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Menggunakan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SQL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untuk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mengintegrasikan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data,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mengukur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performa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bisnis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,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memvalidasi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hasil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, dan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mengidentifikasi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area yang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perlu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dianalisis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lebih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 </a:t>
            </a:r>
            <a:r>
              <a:rPr lang="en-ID" sz="1700" b="0" i="0" dirty="0" err="1">
                <a:solidFill>
                  <a:srgbClr val="DFE6EC"/>
                </a:solidFill>
                <a:latin typeface="Aptos"/>
              </a:rPr>
              <a:t>lanjut</a:t>
            </a:r>
            <a:r>
              <a:rPr lang="en-ID" sz="1700" b="0" i="0" dirty="0">
                <a:solidFill>
                  <a:srgbClr val="DFE6EC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8FC4DB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FE6EC"/>
                </a:solidFill>
                <a:latin typeface="Aptos"/>
              </a:rPr>
              <a:t>bagian analisis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4114800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8FC4DB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FE6EC"/>
                </a:solidFill>
                <a:latin typeface="Aptos"/>
              </a:rPr>
              <a:t>tabel sumber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4114800"/>
            <a:ext cx="201168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 dirty="0">
                <a:solidFill>
                  <a:srgbClr val="8FC4DB"/>
                </a:solidFill>
                <a:latin typeface="Aptos"/>
              </a:rPr>
              <a:t>R$13,22 </a:t>
            </a:r>
            <a:r>
              <a:rPr lang="en-US" sz="2200" b="1" i="0" dirty="0" err="1">
                <a:solidFill>
                  <a:srgbClr val="8FC4DB"/>
                </a:solidFill>
                <a:latin typeface="Aptos"/>
              </a:rPr>
              <a:t>juta</a:t>
            </a:r>
            <a:endParaRPr sz="2200" b="1" i="0" dirty="0">
              <a:solidFill>
                <a:srgbClr val="8FC4D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461772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1000" b="0" i="0" dirty="0">
                <a:solidFill>
                  <a:srgbClr val="DFE6EC"/>
                </a:solidFill>
                <a:latin typeface="Aptos"/>
              </a:rPr>
              <a:t>product revenue </a:t>
            </a:r>
            <a:r>
              <a:rPr lang="en-ID" sz="1000" b="0" i="0" dirty="0" err="1">
                <a:solidFill>
                  <a:srgbClr val="DFE6EC"/>
                </a:solidFill>
                <a:latin typeface="Aptos"/>
              </a:rPr>
              <a:t>tervalidasi</a:t>
            </a:r>
            <a:endParaRPr lang="en-ID" sz="1000" b="0" i="0" dirty="0">
              <a:solidFill>
                <a:srgbClr val="DFE6E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7772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FBECC"/>
                </a:solidFill>
                <a:latin typeface="Aptos"/>
              </a:rPr>
              <a:t>PostgreSQL  •  Business analysis  •  Data quality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D84F0-4EBF-DEFA-DF09-365CC52435BA}"/>
              </a:ext>
            </a:extLst>
          </p:cNvPr>
          <p:cNvSpPr txBox="1"/>
          <p:nvPr/>
        </p:nvSpPr>
        <p:spPr>
          <a:xfrm>
            <a:off x="731520" y="4983480"/>
            <a:ext cx="653796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D" sz="2200" b="1" i="0" dirty="0">
                <a:solidFill>
                  <a:srgbClr val="E4F2F0"/>
                </a:solidFill>
                <a:latin typeface="Aptos"/>
              </a:rPr>
              <a:t>TEKNIK SQL</a:t>
            </a:r>
            <a:endParaRPr sz="2200" b="1" i="0" dirty="0">
              <a:solidFill>
                <a:srgbClr val="E4F2F0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211745-1B2A-565C-2ABA-D1758DD1D78E}"/>
              </a:ext>
            </a:extLst>
          </p:cNvPr>
          <p:cNvSpPr txBox="1"/>
          <p:nvPr/>
        </p:nvSpPr>
        <p:spPr>
          <a:xfrm>
            <a:off x="731519" y="5486400"/>
            <a:ext cx="9775115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00" b="0" i="0" dirty="0">
                <a:solidFill>
                  <a:srgbClr val="DFE6EC"/>
                </a:solidFill>
                <a:latin typeface="Aptos"/>
              </a:rPr>
              <a:t>JOIN • CTE • GROUP BY • COUNT DISTINCT • CASE WHEN • FILTER • DATE_TRUNC • GENERATE_SERIES • LAG • COALESCE • NULLIF • PERCENTILE_CONT</a:t>
            </a:r>
            <a:endParaRPr sz="1000" b="0" i="0" dirty="0">
              <a:solidFill>
                <a:srgbClr val="DFE6E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5130</Words>
  <Application>Microsoft Office PowerPoint</Application>
  <PresentationFormat>Widescreen</PresentationFormat>
  <Paragraphs>1039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Wildan Khoirul Amri</cp:lastModifiedBy>
  <cp:revision>15</cp:revision>
  <dcterms:created xsi:type="dcterms:W3CDTF">2013-01-27T09:14:16Z</dcterms:created>
  <dcterms:modified xsi:type="dcterms:W3CDTF">2026-10-24T13:19:12Z</dcterms:modified>
  <cp:category/>
</cp:coreProperties>
</file>