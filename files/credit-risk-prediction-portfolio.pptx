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1" r:id="rId1"/>
  </p:sldMasterIdLst>
  <p:notesMasterIdLst>
    <p:notesMasterId r:id="rId17"/>
  </p:notes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0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04B"/>
    <a:srgbClr val="687586"/>
    <a:srgbClr val="F2F5F8"/>
    <a:srgbClr val="25A18E"/>
    <a:srgbClr val="101C32"/>
    <a:srgbClr val="DE8740"/>
    <a:srgbClr val="F3F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14" y="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Good</c:v>
                </c:pt>
              </c:strCache>
            </c:strRef>
          </c:tx>
          <c:spPr>
            <a:solidFill>
              <a:srgbClr val="25A18E"/>
            </a:solidFill>
            <a:ln>
              <a:noFill/>
            </a:ln>
            <a:effectLst/>
          </c:spPr>
          <c:invertIfNegative val="0"/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0.80910000000000004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FC-482F-A938-CA163C2DF8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Bad</c:v>
                </c:pt>
              </c:strCache>
            </c:strRef>
          </c:tx>
          <c:spPr>
            <a:solidFill>
              <a:srgbClr val="DE8740"/>
            </a:solidFill>
            <a:ln>
              <a:noFill/>
            </a:ln>
            <a:effectLst/>
          </c:spPr>
          <c:invertIfNegative val="0"/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0.19089999999999999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FC-482F-A938-CA163C2DF8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32416256"/>
        <c:axId val="988924656"/>
      </c:barChart>
      <c:catAx>
        <c:axId val="11324162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88924656"/>
        <c:crosses val="autoZero"/>
        <c:auto val="1"/>
        <c:lblAlgn val="ctr"/>
        <c:lblOffset val="100"/>
        <c:noMultiLvlLbl val="0"/>
      </c:catAx>
      <c:valAx>
        <c:axId val="988924656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13241625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4233455193100862"/>
          <c:y val="6.5852459379591582E-2"/>
          <c:w val="0.53038370203724539"/>
          <c:h val="0.8682950812408167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5A18E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-1.8187620582885704E-16"/>
                  <c:y val="5.9865872163264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3AF-4076-9418-BB67FD53BAA0}"/>
                </c:ext>
              </c:extLst>
            </c:dLbl>
            <c:numFmt formatCode="0.0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rgbClr val="101C32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Total Saldo Kredit Saat Ini</c:v>
                </c:pt>
                <c:pt idx="1">
                  <c:v>Utilitas Kredit Revolving (revol_util)</c:v>
                </c:pt>
                <c:pt idx="2">
                  <c:v>Rasio Pendapatan vs Utang (dti)</c:v>
                </c:pt>
                <c:pt idx="3">
                  <c:v>Pendapatan Tahunan (annual_inc)</c:v>
                </c:pt>
                <c:pt idx="4">
                  <c:v>Jangka Waktu Pinjaman (term)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7.1000000000000004E-3</c:v>
                </c:pt>
                <c:pt idx="1">
                  <c:v>8.0000000000000002E-3</c:v>
                </c:pt>
                <c:pt idx="2">
                  <c:v>1.6500000000000001E-2</c:v>
                </c:pt>
                <c:pt idx="3">
                  <c:v>2.58E-2</c:v>
                </c:pt>
                <c:pt idx="4">
                  <c:v>7.4200000000000002E-2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AF-4076-9418-BB67FD53BA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81461808"/>
        <c:axId val="988863696"/>
      </c:barChart>
      <c:catAx>
        <c:axId val="9814618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101C32"/>
                </a:solidFill>
                <a:latin typeface="Aptos" panose="020B00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988863696"/>
        <c:crosses val="autoZero"/>
        <c:auto val="1"/>
        <c:lblAlgn val="ctr"/>
        <c:lblOffset val="100"/>
        <c:noMultiLvlLbl val="0"/>
      </c:catAx>
      <c:valAx>
        <c:axId val="98886369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81461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solidFill>
            <a:srgbClr val="101C32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0AB166-CD08-49BF-9D27-D089CA9EDFBD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CA13BB-58B1-431F-9C78-0DE908C4375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64919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96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512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341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613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5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016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75642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2279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4324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2235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6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755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75621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095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086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1863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00931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71609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8987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7861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2866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4308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09055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62088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481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2597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031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4954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6" r:id="rId15"/>
    <p:sldLayoutId id="2147483807" r:id="rId16"/>
    <p:sldLayoutId id="2147483808" r:id="rId17"/>
    <p:sldLayoutId id="2147483809" r:id="rId18"/>
    <p:sldLayoutId id="2147483810" r:id="rId19"/>
    <p:sldLayoutId id="2147483811" r:id="rId20"/>
    <p:sldLayoutId id="2147483812" r:id="rId21"/>
    <p:sldLayoutId id="2147483813" r:id="rId22"/>
    <p:sldLayoutId id="2147483814" r:id="rId23"/>
    <p:sldLayoutId id="2147483815" r:id="rId24"/>
    <p:sldLayoutId id="2147483816" r:id="rId25"/>
    <p:sldLayoutId id="2147483817" r:id="rId26"/>
    <p:sldLayoutId id="2147483818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95273" y="0"/>
            <a:ext cx="3474720" cy="6858000"/>
          </a:xfrm>
          <a:prstGeom prst="rect">
            <a:avLst/>
          </a:prstGeom>
          <a:solidFill>
            <a:srgbClr val="16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235440" y="914400"/>
            <a:ext cx="2103120" cy="128016"/>
          </a:xfrm>
          <a:prstGeom prst="roundRect">
            <a:avLst>
              <a:gd name="adj" fmla="val 12000"/>
            </a:avLst>
          </a:prstGeom>
          <a:solidFill>
            <a:srgbClr val="2D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01200" y="1417320"/>
            <a:ext cx="1554480" cy="128016"/>
          </a:xfrm>
          <a:prstGeom prst="roundRect">
            <a:avLst>
              <a:gd name="adj" fmla="val 12000"/>
            </a:avLst>
          </a:prstGeom>
          <a:solidFill>
            <a:srgbClr val="25A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98280" y="1920240"/>
            <a:ext cx="2468880" cy="128016"/>
          </a:xfrm>
          <a:prstGeom prst="roundRect">
            <a:avLst>
              <a:gd name="adj" fmla="val 12000"/>
            </a:avLst>
          </a:prstGeom>
          <a:solidFill>
            <a:srgbClr val="2D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18320" y="2423160"/>
            <a:ext cx="1828800" cy="128016"/>
          </a:xfrm>
          <a:prstGeom prst="roundRect">
            <a:avLst>
              <a:gd name="adj" fmla="val 12000"/>
            </a:avLst>
          </a:prstGeom>
          <a:solidFill>
            <a:srgbClr val="25A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0" y="3291840"/>
            <a:ext cx="164592" cy="164592"/>
          </a:xfrm>
          <a:prstGeom prst="ellipse">
            <a:avLst/>
          </a:prstGeom>
          <a:solidFill>
            <a:srgbClr val="25A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149840" y="3749039"/>
            <a:ext cx="164592" cy="164592"/>
          </a:xfrm>
          <a:prstGeom prst="ellipse">
            <a:avLst/>
          </a:prstGeom>
          <a:solidFill>
            <a:srgbClr val="25A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72800" y="3200400"/>
            <a:ext cx="164592" cy="164592"/>
          </a:xfrm>
          <a:prstGeom prst="ellipse">
            <a:avLst/>
          </a:prstGeom>
          <a:solidFill>
            <a:srgbClr val="25A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875520" y="4480560"/>
            <a:ext cx="164592" cy="164592"/>
          </a:xfrm>
          <a:prstGeom prst="ellipse">
            <a:avLst/>
          </a:prstGeom>
          <a:solidFill>
            <a:srgbClr val="25A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0" y="4754880"/>
            <a:ext cx="164592" cy="164592"/>
          </a:xfrm>
          <a:prstGeom prst="ellipse">
            <a:avLst/>
          </a:prstGeom>
          <a:solidFill>
            <a:srgbClr val="25A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58368"/>
            <a:ext cx="1772280" cy="24622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91B8D8"/>
                </a:solidFill>
                <a:latin typeface="Aptos"/>
              </a:defRPr>
            </a:pPr>
            <a:r>
              <a:rPr dirty="0"/>
              <a:t>DATA SCIENCE PORT</a:t>
            </a:r>
            <a:r>
              <a:rPr lang="en-US" dirty="0"/>
              <a:t>O</a:t>
            </a:r>
            <a:r>
              <a:rPr dirty="0"/>
              <a:t>FOLIO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554480"/>
            <a:ext cx="7498079" cy="1325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Credit Risk</a:t>
            </a:r>
          </a:p>
          <a:p>
            <a:pPr algn="l">
              <a:spcAft>
                <a:spcPts val="4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54680"/>
            <a:ext cx="68580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900" b="0">
                <a:solidFill>
                  <a:srgbClr val="D6E0EC"/>
                </a:solidFill>
                <a:latin typeface="Aptos"/>
              </a:defRPr>
            </a:pPr>
            <a:r>
              <a:t>From Historical Loan Data to Risk Signals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069080"/>
            <a:ext cx="685800" cy="54864"/>
          </a:xfrm>
          <a:prstGeom prst="rect">
            <a:avLst/>
          </a:prstGeom>
          <a:solidFill>
            <a:srgbClr val="25A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389120"/>
            <a:ext cx="713232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D6E0EC"/>
                </a:solidFill>
                <a:latin typeface="Aptos"/>
              </a:defRPr>
            </a:pPr>
            <a:r>
              <a:t>End-to-end classification project using Lending Club historical data (2007–2014)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199632"/>
            <a:ext cx="64008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91B8D8"/>
                </a:solidFill>
                <a:latin typeface="Aptos"/>
              </a:defRPr>
            </a:pPr>
            <a:r>
              <a:t>PYTHON  •  PANDAS  •  SCIKIT-LEARN  •  CRISP-DM</a:t>
            </a: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D4F18D4C-CBD1-26E0-558C-B28C75534396}"/>
              </a:ext>
            </a:extLst>
          </p:cNvPr>
          <p:cNvSpPr txBox="1"/>
          <p:nvPr/>
        </p:nvSpPr>
        <p:spPr>
          <a:xfrm>
            <a:off x="805408" y="5761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/>
              <a:t>Wildan Khoirul Amri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7315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D648C"/>
                </a:solidFill>
                <a:latin typeface="Aptos"/>
              </a:defRPr>
            </a:pPr>
            <a:r>
              <a:rPr dirty="0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01C32"/>
                </a:solidFill>
                <a:latin typeface="Aptos"/>
              </a:defRPr>
            </a:pPr>
            <a:r>
              <a:rPr dirty="0"/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87586"/>
                </a:solidFill>
                <a:latin typeface="Aptos"/>
              </a:defRPr>
            </a:pPr>
            <a:r>
              <a:t>Model membantu menangkap sebagian pinjaman berisiko, tetapi false positive masih tinggi.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929384"/>
            <a:ext cx="22860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87586"/>
                </a:solidFill>
                <a:latin typeface="Aptos"/>
              </a:defRPr>
            </a:pPr>
            <a:r>
              <a:t>ROC-AUC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21991"/>
            <a:ext cx="228600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101C32"/>
                </a:solidFill>
                <a:latin typeface="Aptos"/>
              </a:defRPr>
            </a:pPr>
            <a:r>
              <a:t>0,6894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88336"/>
            <a:ext cx="2286000" cy="2103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586"/>
                </a:solidFill>
                <a:latin typeface="Aptos"/>
              </a:defRPr>
            </a:pPr>
            <a:r>
              <a:t>Final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8308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1929384"/>
            <a:ext cx="22860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87586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221991"/>
            <a:ext cx="228600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101C32"/>
                </a:solidFill>
                <a:latin typeface="Aptos"/>
              </a:defRPr>
            </a:pPr>
            <a:r>
              <a:t>65,63%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688336"/>
            <a:ext cx="2286000" cy="2103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586"/>
                </a:solidFill>
                <a:latin typeface="Aptos"/>
              </a:defRPr>
            </a:pPr>
            <a:r>
              <a:t>Final 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8308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929384"/>
            <a:ext cx="22860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87586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21991"/>
            <a:ext cx="228600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101C32"/>
                </a:solidFill>
                <a:latin typeface="Aptos"/>
              </a:defRPr>
            </a:pPr>
            <a:r>
              <a:t>30,83%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88336"/>
            <a:ext cx="2286000" cy="2103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586"/>
                </a:solidFill>
                <a:latin typeface="Aptos"/>
              </a:defRPr>
            </a:pPr>
            <a:r>
              <a:t>Final 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78308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9719" y="1929384"/>
            <a:ext cx="21945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87586"/>
                </a:solidFill>
                <a:latin typeface="Aptos"/>
              </a:defRPr>
            </a:pPr>
            <a:r>
              <a:t>THRESHOLD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2221991"/>
            <a:ext cx="219456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101C32"/>
                </a:solidFill>
                <a:latin typeface="Aptos"/>
              </a:defRPr>
            </a:pPr>
            <a:r>
              <a:t>0,4948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2688336"/>
            <a:ext cx="2194560" cy="2103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586"/>
                </a:solidFill>
                <a:latin typeface="Aptos"/>
              </a:defRPr>
            </a:pPr>
            <a:r>
              <a:t>Dipilih di 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337560"/>
            <a:ext cx="694944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566160"/>
            <a:ext cx="6217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D648C"/>
                </a:solidFill>
                <a:latin typeface="Aptos"/>
              </a:defRPr>
            </a:pPr>
            <a:r>
              <a:t>APA ARTINYA?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087368"/>
            <a:ext cx="82296" cy="82296"/>
          </a:xfrm>
          <a:prstGeom prst="rect">
            <a:avLst/>
          </a:prstGeom>
          <a:solidFill>
            <a:srgbClr val="25A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15568" y="4023360"/>
            <a:ext cx="6016752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22D3D"/>
                </a:solidFill>
                <a:latin typeface="Aptos"/>
              </a:defRPr>
            </a:pPr>
            <a:r>
              <a:t>Model mendeteksi 65,63% pinjaman berstatus Bad pada test set.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480560"/>
            <a:ext cx="82296" cy="82296"/>
          </a:xfrm>
          <a:prstGeom prst="rect">
            <a:avLst/>
          </a:prstGeom>
          <a:solidFill>
            <a:srgbClr val="25A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15568" y="4416552"/>
            <a:ext cx="6016752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22D3D"/>
                </a:solidFill>
                <a:latin typeface="Aptos"/>
              </a:defRPr>
            </a:pPr>
            <a:r>
              <a:rPr dirty="0"/>
              <a:t>Precision 30,83% </a:t>
            </a:r>
            <a:r>
              <a:rPr dirty="0" err="1"/>
              <a:t>menunjukkan</a:t>
            </a:r>
            <a:r>
              <a:rPr dirty="0"/>
              <a:t> </a:t>
            </a:r>
            <a:r>
              <a:rPr dirty="0" err="1"/>
              <a:t>banyak</a:t>
            </a:r>
            <a:r>
              <a:rPr dirty="0"/>
              <a:t> </a:t>
            </a:r>
            <a:r>
              <a:rPr dirty="0" err="1"/>
              <a:t>prediksi</a:t>
            </a:r>
            <a:r>
              <a:rPr dirty="0"/>
              <a:t> Bad </a:t>
            </a:r>
            <a:r>
              <a:rPr dirty="0" err="1"/>
              <a:t>sebenarnya</a:t>
            </a:r>
            <a:r>
              <a:rPr dirty="0"/>
              <a:t> Good.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4873752"/>
            <a:ext cx="82296" cy="82296"/>
          </a:xfrm>
          <a:prstGeom prst="rect">
            <a:avLst/>
          </a:prstGeom>
          <a:solidFill>
            <a:srgbClr val="25A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15568" y="4809744"/>
            <a:ext cx="6016752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22D3D"/>
                </a:solidFill>
                <a:latin typeface="Aptos"/>
              </a:defRPr>
            </a:pPr>
            <a:r>
              <a:t>Posisi yang tepat: proof of concept untuk penyaringan awal, bukan keputusan otomatis.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09560" y="3337560"/>
            <a:ext cx="3611880" cy="1965960"/>
          </a:xfrm>
          <a:prstGeom prst="roundRect">
            <a:avLst>
              <a:gd name="adj" fmla="val 12000"/>
            </a:avLst>
          </a:prstGeom>
          <a:solidFill>
            <a:srgbClr val="E0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83879" y="3611880"/>
            <a:ext cx="30175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D648C"/>
                </a:solidFill>
                <a:latin typeface="Aptos"/>
              </a:defRPr>
            </a:pPr>
            <a:r>
              <a:t>MODEL FINAL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3977639"/>
            <a:ext cx="301752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100" b="1">
                <a:solidFill>
                  <a:srgbClr val="101C32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8" y="4526280"/>
            <a:ext cx="3200401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22D3D"/>
                </a:solidFill>
                <a:latin typeface="Aptos"/>
              </a:defRPr>
            </a:pPr>
            <a:r>
              <a:rPr dirty="0"/>
              <a:t>Test set </a:t>
            </a:r>
            <a:r>
              <a:rPr dirty="0" err="1"/>
              <a:t>independen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proses </a:t>
            </a:r>
            <a:r>
              <a:rPr dirty="0" err="1"/>
              <a:t>pemilihan</a:t>
            </a:r>
            <a:r>
              <a:rPr dirty="0"/>
              <a:t> model dan threshold.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190488"/>
            <a:ext cx="10789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87586"/>
                </a:solidFill>
                <a:latin typeface="Aptos"/>
              </a:defRPr>
            </a:pPr>
            <a:r>
              <a:t>Sumber: Notebook v2, bagian 5.1–5.2.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2480807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87586"/>
                </a:solidFill>
                <a:latin typeface="Aptos"/>
              </a:defRPr>
            </a:pPr>
            <a:r>
              <a:rPr dirty="0"/>
              <a:t>CREDIT RISK PREDICTION </a:t>
            </a:r>
            <a:r>
              <a:rPr lang="en-ID" dirty="0"/>
              <a:t>| WILDAN KHOIRUL AMRI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719AE-1458-D009-F283-C0103F513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75F06A99-C652-BA46-9ED2-663808C57CCC}"/>
              </a:ext>
            </a:extLst>
          </p:cNvPr>
          <p:cNvSpPr txBox="1"/>
          <p:nvPr/>
        </p:nvSpPr>
        <p:spPr>
          <a:xfrm>
            <a:off x="502920" y="6510528"/>
            <a:ext cx="2480807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87586"/>
                </a:solidFill>
                <a:latin typeface="Aptos"/>
              </a:defRPr>
            </a:pPr>
            <a:r>
              <a:rPr dirty="0"/>
              <a:t>CREDIT RISK PREDICTION </a:t>
            </a:r>
            <a:r>
              <a:rPr lang="en-ID" dirty="0"/>
              <a:t>| WILDAN KHOIRUL AMRI</a:t>
            </a:r>
            <a:endParaRPr dirty="0"/>
          </a:p>
        </p:txBody>
      </p:sp>
      <p:sp>
        <p:nvSpPr>
          <p:cNvPr id="26" name="Card 23">
            <a:extLst>
              <a:ext uri="{FF2B5EF4-FFF2-40B4-BE49-F238E27FC236}">
                <a16:creationId xmlns:a16="http://schemas.microsoft.com/office/drawing/2014/main" id="{95B408E4-8F44-675B-8ABB-64119E890360}"/>
              </a:ext>
            </a:extLst>
          </p:cNvPr>
          <p:cNvSpPr/>
          <p:nvPr/>
        </p:nvSpPr>
        <p:spPr>
          <a:xfrm>
            <a:off x="640080" y="1691640"/>
            <a:ext cx="1463040" cy="3383280"/>
          </a:xfrm>
          <a:prstGeom prst="roundRect">
            <a:avLst>
              <a:gd name="adj" fmla="val 7500"/>
            </a:avLst>
          </a:prstGeom>
          <a:solidFill>
            <a:srgbClr val="25A18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7" name="Number 1">
            <a:extLst>
              <a:ext uri="{FF2B5EF4-FFF2-40B4-BE49-F238E27FC236}">
                <a16:creationId xmlns:a16="http://schemas.microsoft.com/office/drawing/2014/main" id="{D4600EF4-0B5E-1208-1F96-23816BA06CD4}"/>
              </a:ext>
            </a:extLst>
          </p:cNvPr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D30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1</a:t>
            </a:r>
            <a:endParaRPr lang="en-US" sz="1600" dirty="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3B4F348D-30FE-0F94-512E-849D74448995}"/>
              </a:ext>
            </a:extLst>
          </p:cNvPr>
          <p:cNvSpPr txBox="1"/>
          <p:nvPr/>
        </p:nvSpPr>
        <p:spPr>
          <a:xfrm>
            <a:off x="777240" y="256032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Business Understanding</a:t>
            </a: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E7E6BDC0-DDAA-0588-98CB-03A1907D75A8}"/>
              </a:ext>
            </a:extLst>
          </p:cNvPr>
          <p:cNvSpPr txBox="1"/>
          <p:nvPr/>
        </p:nvSpPr>
        <p:spPr>
          <a:xfrm>
            <a:off x="777240" y="3337560"/>
            <a:ext cx="1188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-FI" sz="1300" dirty="0">
                <a:solidFill>
                  <a:schemeClr val="tx1"/>
                </a:solidFill>
              </a:rPr>
              <a:t>Tujuan, asumsi, dan metrik keberhasilan</a:t>
            </a:r>
          </a:p>
        </p:txBody>
      </p:sp>
      <p:sp>
        <p:nvSpPr>
          <p:cNvPr id="30" name="Card 26">
            <a:extLst>
              <a:ext uri="{FF2B5EF4-FFF2-40B4-BE49-F238E27FC236}">
                <a16:creationId xmlns:a16="http://schemas.microsoft.com/office/drawing/2014/main" id="{E463C819-1E94-67D3-46DC-540B3BC1CDA6}"/>
              </a:ext>
            </a:extLst>
          </p:cNvPr>
          <p:cNvSpPr/>
          <p:nvPr/>
        </p:nvSpPr>
        <p:spPr>
          <a:xfrm>
            <a:off x="2212848" y="1691640"/>
            <a:ext cx="1463040" cy="3383280"/>
          </a:xfrm>
          <a:prstGeom prst="roundRect">
            <a:avLst>
              <a:gd name="adj" fmla="val 7500"/>
            </a:avLst>
          </a:prstGeom>
          <a:solidFill>
            <a:srgbClr val="25A18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1" name="Number 2">
            <a:extLst>
              <a:ext uri="{FF2B5EF4-FFF2-40B4-BE49-F238E27FC236}">
                <a16:creationId xmlns:a16="http://schemas.microsoft.com/office/drawing/2014/main" id="{1E534EF0-F94D-22FA-CCE1-EECC49988117}"/>
              </a:ext>
            </a:extLst>
          </p:cNvPr>
          <p:cNvSpPr/>
          <p:nvPr/>
        </p:nvSpPr>
        <p:spPr>
          <a:xfrm>
            <a:off x="2350008" y="1828800"/>
            <a:ext cx="502920" cy="502920"/>
          </a:xfrm>
          <a:prstGeom prst="ellipse">
            <a:avLst/>
          </a:prstGeom>
          <a:solidFill>
            <a:srgbClr val="1D30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2</a:t>
            </a:r>
            <a:endParaRPr lang="en-US" sz="160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6F608CB5-28D5-EF76-9DEE-2ACBB16A9039}"/>
              </a:ext>
            </a:extLst>
          </p:cNvPr>
          <p:cNvSpPr txBox="1"/>
          <p:nvPr/>
        </p:nvSpPr>
        <p:spPr>
          <a:xfrm>
            <a:off x="2350008" y="256032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Understanding</a:t>
            </a:r>
            <a:endParaRPr lang="en-US" sz="1400" dirty="0"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AC2EAB59-EB3C-FC49-4BCD-5A6835BB1181}"/>
              </a:ext>
            </a:extLst>
          </p:cNvPr>
          <p:cNvSpPr txBox="1"/>
          <p:nvPr/>
        </p:nvSpPr>
        <p:spPr>
          <a:xfrm>
            <a:off x="2350008" y="3337560"/>
            <a:ext cx="1188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Cek kualitas, kamus data, dan status pinjaman</a:t>
            </a:r>
            <a:endParaRPr lang="en-US" sz="1300" dirty="0"/>
          </a:p>
        </p:txBody>
      </p:sp>
      <p:sp>
        <p:nvSpPr>
          <p:cNvPr id="34" name="Card 29">
            <a:extLst>
              <a:ext uri="{FF2B5EF4-FFF2-40B4-BE49-F238E27FC236}">
                <a16:creationId xmlns:a16="http://schemas.microsoft.com/office/drawing/2014/main" id="{923A8286-6886-97E4-D0A5-AD2089104313}"/>
              </a:ext>
            </a:extLst>
          </p:cNvPr>
          <p:cNvSpPr/>
          <p:nvPr/>
        </p:nvSpPr>
        <p:spPr>
          <a:xfrm>
            <a:off x="3785616" y="1691640"/>
            <a:ext cx="1463040" cy="3383280"/>
          </a:xfrm>
          <a:prstGeom prst="roundRect">
            <a:avLst>
              <a:gd name="adj" fmla="val 7500"/>
            </a:avLst>
          </a:prstGeom>
          <a:solidFill>
            <a:srgbClr val="25A18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5" name="Number 3">
            <a:extLst>
              <a:ext uri="{FF2B5EF4-FFF2-40B4-BE49-F238E27FC236}">
                <a16:creationId xmlns:a16="http://schemas.microsoft.com/office/drawing/2014/main" id="{9CE2AAA9-CC54-D54A-22E4-F178C3339A3F}"/>
              </a:ext>
            </a:extLst>
          </p:cNvPr>
          <p:cNvSpPr/>
          <p:nvPr/>
        </p:nvSpPr>
        <p:spPr>
          <a:xfrm>
            <a:off x="3922776" y="1828800"/>
            <a:ext cx="502920" cy="502920"/>
          </a:xfrm>
          <a:prstGeom prst="ellipse">
            <a:avLst/>
          </a:prstGeom>
          <a:solidFill>
            <a:srgbClr val="1D30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3</a:t>
            </a:r>
            <a:endParaRPr lang="en-US" sz="1600" dirty="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92BD9716-1DBE-F72D-8064-D3A87AA2E3C9}"/>
              </a:ext>
            </a:extLst>
          </p:cNvPr>
          <p:cNvSpPr txBox="1"/>
          <p:nvPr/>
        </p:nvSpPr>
        <p:spPr>
          <a:xfrm>
            <a:off x="3922776" y="25603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Preparation</a:t>
            </a:r>
            <a:endParaRPr lang="en-US" sz="1400" dirty="0"/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3536BA9F-7A12-F192-3A67-3E8F3ABEACAA}"/>
              </a:ext>
            </a:extLst>
          </p:cNvPr>
          <p:cNvSpPr txBox="1"/>
          <p:nvPr/>
        </p:nvSpPr>
        <p:spPr>
          <a:xfrm>
            <a:off x="3922776" y="3337560"/>
            <a:ext cx="1188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Tentukan target, pilih fitur, bagi data per waktu</a:t>
            </a:r>
            <a:endParaRPr lang="en-US" sz="1300" dirty="0"/>
          </a:p>
        </p:txBody>
      </p:sp>
      <p:sp>
        <p:nvSpPr>
          <p:cNvPr id="38" name="Card 32">
            <a:extLst>
              <a:ext uri="{FF2B5EF4-FFF2-40B4-BE49-F238E27FC236}">
                <a16:creationId xmlns:a16="http://schemas.microsoft.com/office/drawing/2014/main" id="{C0E14A01-3C60-A706-1D44-CC09726B9776}"/>
              </a:ext>
            </a:extLst>
          </p:cNvPr>
          <p:cNvSpPr/>
          <p:nvPr/>
        </p:nvSpPr>
        <p:spPr>
          <a:xfrm>
            <a:off x="5358384" y="1691640"/>
            <a:ext cx="1463040" cy="3383280"/>
          </a:xfrm>
          <a:prstGeom prst="roundRect">
            <a:avLst>
              <a:gd name="adj" fmla="val 7500"/>
            </a:avLst>
          </a:prstGeom>
          <a:solidFill>
            <a:srgbClr val="25A18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9" name="Number 4">
            <a:extLst>
              <a:ext uri="{FF2B5EF4-FFF2-40B4-BE49-F238E27FC236}">
                <a16:creationId xmlns:a16="http://schemas.microsoft.com/office/drawing/2014/main" id="{75D0EE03-D2DB-1626-7208-11D629ABE512}"/>
              </a:ext>
            </a:extLst>
          </p:cNvPr>
          <p:cNvSpPr/>
          <p:nvPr/>
        </p:nvSpPr>
        <p:spPr>
          <a:xfrm>
            <a:off x="5495544" y="1828800"/>
            <a:ext cx="502920" cy="502920"/>
          </a:xfrm>
          <a:prstGeom prst="ellipse">
            <a:avLst/>
          </a:prstGeom>
          <a:solidFill>
            <a:srgbClr val="1D30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4</a:t>
            </a:r>
            <a:endParaRPr lang="en-US" sz="1600" dirty="0"/>
          </a:p>
        </p:txBody>
      </p:sp>
      <p:sp>
        <p:nvSpPr>
          <p:cNvPr id="40" name="Text 33">
            <a:extLst>
              <a:ext uri="{FF2B5EF4-FFF2-40B4-BE49-F238E27FC236}">
                <a16:creationId xmlns:a16="http://schemas.microsoft.com/office/drawing/2014/main" id="{A8DDA684-8DB6-7028-04FB-0280E7FFF83D}"/>
              </a:ext>
            </a:extLst>
          </p:cNvPr>
          <p:cNvSpPr txBox="1"/>
          <p:nvPr/>
        </p:nvSpPr>
        <p:spPr>
          <a:xfrm>
            <a:off x="5495544" y="25603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Modeling</a:t>
            </a:r>
            <a:endParaRPr lang="en-US" sz="1400" dirty="0"/>
          </a:p>
        </p:txBody>
      </p:sp>
      <p:sp>
        <p:nvSpPr>
          <p:cNvPr id="41" name="Text 34">
            <a:extLst>
              <a:ext uri="{FF2B5EF4-FFF2-40B4-BE49-F238E27FC236}">
                <a16:creationId xmlns:a16="http://schemas.microsoft.com/office/drawing/2014/main" id="{D31C0C56-BF7C-DBCC-5AD1-750CE3A93820}"/>
              </a:ext>
            </a:extLst>
          </p:cNvPr>
          <p:cNvSpPr txBox="1"/>
          <p:nvPr/>
        </p:nvSpPr>
        <p:spPr>
          <a:xfrm>
            <a:off x="5495544" y="3337560"/>
            <a:ext cx="1188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Bandingkan baseline, Logistic Regression, Random Forest</a:t>
            </a:r>
            <a:endParaRPr lang="en-US" sz="1300" dirty="0"/>
          </a:p>
        </p:txBody>
      </p:sp>
      <p:sp>
        <p:nvSpPr>
          <p:cNvPr id="42" name="Card 35">
            <a:extLst>
              <a:ext uri="{FF2B5EF4-FFF2-40B4-BE49-F238E27FC236}">
                <a16:creationId xmlns:a16="http://schemas.microsoft.com/office/drawing/2014/main" id="{F6D84402-7684-ECF9-E151-165654077F86}"/>
              </a:ext>
            </a:extLst>
          </p:cNvPr>
          <p:cNvSpPr/>
          <p:nvPr/>
        </p:nvSpPr>
        <p:spPr>
          <a:xfrm>
            <a:off x="6931152" y="1691640"/>
            <a:ext cx="1463040" cy="3383280"/>
          </a:xfrm>
          <a:prstGeom prst="roundRect">
            <a:avLst>
              <a:gd name="adj" fmla="val 7500"/>
            </a:avLst>
          </a:prstGeom>
          <a:solidFill>
            <a:srgbClr val="25A18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3" name="Number 5">
            <a:extLst>
              <a:ext uri="{FF2B5EF4-FFF2-40B4-BE49-F238E27FC236}">
                <a16:creationId xmlns:a16="http://schemas.microsoft.com/office/drawing/2014/main" id="{DAAEE8CF-75D1-42FE-18C6-52BCB3678F9E}"/>
              </a:ext>
            </a:extLst>
          </p:cNvPr>
          <p:cNvSpPr/>
          <p:nvPr/>
        </p:nvSpPr>
        <p:spPr>
          <a:xfrm>
            <a:off x="7068312" y="1828800"/>
            <a:ext cx="502920" cy="502920"/>
          </a:xfrm>
          <a:prstGeom prst="ellipse">
            <a:avLst/>
          </a:prstGeom>
          <a:solidFill>
            <a:srgbClr val="1D30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5</a:t>
            </a:r>
            <a:endParaRPr lang="en-US" sz="1600" dirty="0"/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C6B48487-DB2E-1852-309C-20F69A490DCA}"/>
              </a:ext>
            </a:extLst>
          </p:cNvPr>
          <p:cNvSpPr txBox="1"/>
          <p:nvPr/>
        </p:nvSpPr>
        <p:spPr>
          <a:xfrm>
            <a:off x="7068312" y="25603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Evaluation</a:t>
            </a:r>
            <a:endParaRPr lang="en-US" sz="1500" dirty="0"/>
          </a:p>
        </p:txBody>
      </p:sp>
      <p:sp>
        <p:nvSpPr>
          <p:cNvPr id="45" name="Text 37">
            <a:extLst>
              <a:ext uri="{FF2B5EF4-FFF2-40B4-BE49-F238E27FC236}">
                <a16:creationId xmlns:a16="http://schemas.microsoft.com/office/drawing/2014/main" id="{30B04904-D600-0D53-4084-D9CE9DA9B1B0}"/>
              </a:ext>
            </a:extLst>
          </p:cNvPr>
          <p:cNvSpPr txBox="1"/>
          <p:nvPr/>
        </p:nvSpPr>
        <p:spPr>
          <a:xfrm>
            <a:off x="7068312" y="3337560"/>
            <a:ext cx="1188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Pilih batas skor di validasi, uji sekali di data terbaru</a:t>
            </a:r>
            <a:endParaRPr lang="en-US" sz="1300" dirty="0"/>
          </a:p>
        </p:txBody>
      </p:sp>
      <p:sp>
        <p:nvSpPr>
          <p:cNvPr id="46" name="Card 38">
            <a:extLst>
              <a:ext uri="{FF2B5EF4-FFF2-40B4-BE49-F238E27FC236}">
                <a16:creationId xmlns:a16="http://schemas.microsoft.com/office/drawing/2014/main" id="{CDD64AA4-728C-8B2A-F62F-7C33969C3A78}"/>
              </a:ext>
            </a:extLst>
          </p:cNvPr>
          <p:cNvSpPr/>
          <p:nvPr/>
        </p:nvSpPr>
        <p:spPr>
          <a:xfrm>
            <a:off x="8503920" y="1691640"/>
            <a:ext cx="1463040" cy="3383280"/>
          </a:xfrm>
          <a:prstGeom prst="roundRect">
            <a:avLst>
              <a:gd name="adj" fmla="val 7500"/>
            </a:avLst>
          </a:prstGeom>
          <a:solidFill>
            <a:srgbClr val="25A18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7" name="Number 6">
            <a:extLst>
              <a:ext uri="{FF2B5EF4-FFF2-40B4-BE49-F238E27FC236}">
                <a16:creationId xmlns:a16="http://schemas.microsoft.com/office/drawing/2014/main" id="{1DE8BF30-275F-27E0-D272-48B30F818599}"/>
              </a:ext>
            </a:extLst>
          </p:cNvPr>
          <p:cNvSpPr/>
          <p:nvPr/>
        </p:nvSpPr>
        <p:spPr>
          <a:xfrm>
            <a:off x="8641080" y="1828800"/>
            <a:ext cx="502920" cy="502920"/>
          </a:xfrm>
          <a:prstGeom prst="ellipse">
            <a:avLst/>
          </a:prstGeom>
          <a:solidFill>
            <a:srgbClr val="1D30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6</a:t>
            </a:r>
            <a:endParaRPr lang="en-US" sz="1600" dirty="0"/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C996F681-53A3-1052-E3CC-5DC963225FE8}"/>
              </a:ext>
            </a:extLst>
          </p:cNvPr>
          <p:cNvSpPr txBox="1"/>
          <p:nvPr/>
        </p:nvSpPr>
        <p:spPr>
          <a:xfrm>
            <a:off x="8641080" y="25603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92BB58E0-BEB0-02E6-E049-B444EC61D503}"/>
              </a:ext>
            </a:extLst>
          </p:cNvPr>
          <p:cNvSpPr txBox="1"/>
          <p:nvPr/>
        </p:nvSpPr>
        <p:spPr>
          <a:xfrm>
            <a:off x="8641080" y="3337560"/>
            <a:ext cx="1188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Cari faktor yang paling memengaruhi skor</a:t>
            </a:r>
            <a:endParaRPr lang="en-US" sz="1300" dirty="0"/>
          </a:p>
        </p:txBody>
      </p:sp>
      <p:sp>
        <p:nvSpPr>
          <p:cNvPr id="50" name="Card 41">
            <a:extLst>
              <a:ext uri="{FF2B5EF4-FFF2-40B4-BE49-F238E27FC236}">
                <a16:creationId xmlns:a16="http://schemas.microsoft.com/office/drawing/2014/main" id="{6755F7C0-1EF2-17AE-801C-030A1AEE1289}"/>
              </a:ext>
            </a:extLst>
          </p:cNvPr>
          <p:cNvSpPr/>
          <p:nvPr/>
        </p:nvSpPr>
        <p:spPr>
          <a:xfrm>
            <a:off x="10076688" y="1691640"/>
            <a:ext cx="1463040" cy="3383280"/>
          </a:xfrm>
          <a:prstGeom prst="roundRect">
            <a:avLst>
              <a:gd name="adj" fmla="val 7500"/>
            </a:avLst>
          </a:prstGeom>
          <a:solidFill>
            <a:srgbClr val="25A18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1" name="Number 7">
            <a:extLst>
              <a:ext uri="{FF2B5EF4-FFF2-40B4-BE49-F238E27FC236}">
                <a16:creationId xmlns:a16="http://schemas.microsoft.com/office/drawing/2014/main" id="{54355DC1-671A-582E-E94C-29406B2E3C4F}"/>
              </a:ext>
            </a:extLst>
          </p:cNvPr>
          <p:cNvSpPr/>
          <p:nvPr/>
        </p:nvSpPr>
        <p:spPr>
          <a:xfrm>
            <a:off x="10213848" y="1828800"/>
            <a:ext cx="502920" cy="502920"/>
          </a:xfrm>
          <a:prstGeom prst="ellipse">
            <a:avLst/>
          </a:prstGeom>
          <a:solidFill>
            <a:srgbClr val="1D30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7</a:t>
            </a:r>
            <a:endParaRPr lang="en-US" sz="1600" dirty="0"/>
          </a:p>
        </p:txBody>
      </p:sp>
      <p:sp>
        <p:nvSpPr>
          <p:cNvPr id="52" name="Text 42">
            <a:extLst>
              <a:ext uri="{FF2B5EF4-FFF2-40B4-BE49-F238E27FC236}">
                <a16:creationId xmlns:a16="http://schemas.microsoft.com/office/drawing/2014/main" id="{537AB98A-DEC2-9A04-6CB0-DC162F20E1AE}"/>
              </a:ext>
            </a:extLst>
          </p:cNvPr>
          <p:cNvSpPr txBox="1"/>
          <p:nvPr/>
        </p:nvSpPr>
        <p:spPr>
          <a:xfrm>
            <a:off x="10213848" y="25603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Save Model</a:t>
            </a:r>
            <a:endParaRPr lang="en-US" sz="1400" dirty="0"/>
          </a:p>
        </p:txBody>
      </p:sp>
      <p:sp>
        <p:nvSpPr>
          <p:cNvPr id="53" name="Text 43">
            <a:extLst>
              <a:ext uri="{FF2B5EF4-FFF2-40B4-BE49-F238E27FC236}">
                <a16:creationId xmlns:a16="http://schemas.microsoft.com/office/drawing/2014/main" id="{D137B8DD-AA5C-3DDA-A854-CFDEEEF954B1}"/>
              </a:ext>
            </a:extLst>
          </p:cNvPr>
          <p:cNvSpPr txBox="1"/>
          <p:nvPr/>
        </p:nvSpPr>
        <p:spPr>
          <a:xfrm>
            <a:off x="10213848" y="3337560"/>
            <a:ext cx="1188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Simpan pipeline, fungsi </a:t>
            </a:r>
            <a:r>
              <a:rPr lang="en-US" sz="1300" dirty="0" err="1">
                <a:solidFill>
                  <a:schemeClr val="tx1"/>
                </a:solidFill>
              </a:rPr>
              <a:t>prediksi</a:t>
            </a:r>
            <a:r>
              <a:rPr lang="en-US" sz="1300" dirty="0">
                <a:solidFill>
                  <a:schemeClr val="tx1"/>
                </a:solidFill>
              </a:rPr>
              <a:t>, dan dokumentasi</a:t>
            </a:r>
            <a:endParaRPr lang="en-US" sz="1300" dirty="0"/>
          </a:p>
        </p:txBody>
      </p:sp>
      <p:sp>
        <p:nvSpPr>
          <p:cNvPr id="54" name="Text 44">
            <a:extLst>
              <a:ext uri="{FF2B5EF4-FFF2-40B4-BE49-F238E27FC236}">
                <a16:creationId xmlns:a16="http://schemas.microsoft.com/office/drawing/2014/main" id="{928DC21A-C777-9B46-2FCB-BD6C8F90BF83}"/>
              </a:ext>
            </a:extLst>
          </p:cNvPr>
          <p:cNvSpPr txBox="1"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algn="ctr">
              <a:spcAft>
                <a:spcPts val="400"/>
              </a:spcAft>
              <a:buNone/>
              <a:defRPr sz="1200" b="0">
                <a:solidFill>
                  <a:srgbClr val="687586"/>
                </a:solidFill>
                <a:latin typeface="Aptos"/>
              </a:defRPr>
            </a:pPr>
            <a:r>
              <a:rPr lang="en-US" sz="1200" dirty="0">
                <a:solidFill>
                  <a:srgbClr val="687586"/>
                </a:solidFill>
                <a:latin typeface="Aptos"/>
              </a:rPr>
              <a:t>Mengikuti kerangka CRISP-DM; seluruh tahap tersimpan dalam satu notebook yang dapat dijalankan </a:t>
            </a:r>
            <a:r>
              <a:rPr lang="en-US" sz="1200" dirty="0" err="1">
                <a:solidFill>
                  <a:srgbClr val="687586"/>
                </a:solidFill>
                <a:latin typeface="Aptos"/>
              </a:rPr>
              <a:t>ulang</a:t>
            </a:r>
            <a:r>
              <a:rPr lang="en-US" sz="1200" dirty="0">
                <a:solidFill>
                  <a:srgbClr val="687586"/>
                </a:solidFill>
                <a:latin typeface="Aptos"/>
              </a:rPr>
              <a:t>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F1B4FAE-8E02-99D6-53A8-ED0DE50838E7}"/>
              </a:ext>
            </a:extLst>
          </p:cNvPr>
          <p:cNvSpPr txBox="1"/>
          <p:nvPr/>
        </p:nvSpPr>
        <p:spPr>
          <a:xfrm>
            <a:off x="566928" y="292608"/>
            <a:ext cx="7315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D648C"/>
                </a:solidFill>
                <a:latin typeface="Aptos"/>
              </a:defRPr>
            </a:pPr>
            <a:r>
              <a:rPr dirty="0"/>
              <a:t>OVERVIEW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F769CAB-AADD-FA8F-E5E8-535A11B71BFA}"/>
              </a:ext>
            </a:extLst>
          </p:cNvPr>
          <p:cNvSpPr txBox="1"/>
          <p:nvPr/>
        </p:nvSpPr>
        <p:spPr>
          <a:xfrm>
            <a:off x="566928" y="621792"/>
            <a:ext cx="1965603" cy="49244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01C32"/>
                </a:solidFill>
                <a:latin typeface="Aptos"/>
              </a:defRPr>
            </a:pPr>
            <a:r>
              <a:rPr lang="en-US" dirty="0"/>
              <a:t>Project Flow</a:t>
            </a:r>
            <a:endParaRPr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25A6481-51A6-4A92-6FA3-D17585B72CD2}"/>
              </a:ext>
            </a:extLst>
          </p:cNvPr>
          <p:cNvSpPr txBox="1"/>
          <p:nvPr/>
        </p:nvSpPr>
        <p:spPr>
          <a:xfrm>
            <a:off x="594360" y="1170432"/>
            <a:ext cx="3349635" cy="26161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87586"/>
                </a:solidFill>
                <a:latin typeface="Aptos"/>
              </a:defRPr>
            </a:pPr>
            <a:r>
              <a:rPr lang="en-ID" dirty="0" err="1"/>
              <a:t>Tujuh</a:t>
            </a:r>
            <a:r>
              <a:rPr lang="en-ID" dirty="0"/>
              <a:t> </a:t>
            </a:r>
            <a:r>
              <a:rPr lang="en-ID" dirty="0" err="1"/>
              <a:t>tahap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data </a:t>
            </a:r>
            <a:r>
              <a:rPr lang="en-ID" dirty="0" err="1"/>
              <a:t>mentah</a:t>
            </a:r>
            <a:r>
              <a:rPr lang="en-ID" dirty="0"/>
              <a:t> </a:t>
            </a:r>
            <a:r>
              <a:rPr lang="en-ID" dirty="0" err="1"/>
              <a:t>hingga</a:t>
            </a:r>
            <a:r>
              <a:rPr lang="en-ID" dirty="0"/>
              <a:t> model </a:t>
            </a:r>
            <a:r>
              <a:rPr lang="en-ID" dirty="0" err="1"/>
              <a:t>siap</a:t>
            </a:r>
            <a:r>
              <a:rPr lang="en-ID" dirty="0"/>
              <a:t> </a:t>
            </a:r>
            <a:r>
              <a:rPr lang="en-ID" dirty="0" err="1"/>
              <a:t>pakai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1582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607171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D648C"/>
                </a:solidFill>
                <a:latin typeface="Aptos"/>
              </a:defRPr>
            </a:pPr>
            <a:r>
              <a:rPr dirty="0"/>
              <a:t>BUSINESS </a:t>
            </a:r>
            <a:r>
              <a:rPr lang="en-US" dirty="0"/>
              <a:t>UNDERSTANDING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01C32"/>
                </a:solidFill>
                <a:latin typeface="Aptos"/>
              </a:defRPr>
            </a:pPr>
            <a:r>
              <a:t>Business Problem &amp; Analytical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87586"/>
                </a:solidFill>
                <a:latin typeface="Aptos"/>
              </a:defRPr>
            </a:pPr>
            <a:r>
              <a:t>Mengubah data historis menjadi sinyal risiko yang dapat dievaluasi.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29260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4114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5A18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87752"/>
            <a:ext cx="982000" cy="3693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01C32"/>
                </a:solidFill>
                <a:latin typeface="Aptos"/>
              </a:defRPr>
            </a:pPr>
            <a:r>
              <a:rPr lang="en-US" dirty="0" err="1"/>
              <a:t>Masalah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51560" y="3017520"/>
            <a:ext cx="2743200" cy="57708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87586"/>
                </a:solidFill>
                <a:latin typeface="Aptos"/>
              </a:defRPr>
            </a:pPr>
            <a:r>
              <a:rPr lang="en-ID" sz="1050" dirty="0"/>
              <a:t>Status </a:t>
            </a:r>
            <a:r>
              <a:rPr lang="en-ID" sz="1050" dirty="0" err="1"/>
              <a:t>pinjaman</a:t>
            </a:r>
            <a:r>
              <a:rPr lang="en-ID" sz="1050" dirty="0"/>
              <a:t> </a:t>
            </a:r>
            <a:r>
              <a:rPr lang="en-ID" sz="1050" dirty="0" err="1"/>
              <a:t>beragam</a:t>
            </a:r>
            <a:r>
              <a:rPr lang="en-ID" sz="1050" dirty="0"/>
              <a:t>: </a:t>
            </a:r>
            <a:r>
              <a:rPr lang="en-ID" sz="1050" dirty="0" err="1"/>
              <a:t>lunas</a:t>
            </a:r>
            <a:r>
              <a:rPr lang="en-ID" sz="1050" dirty="0"/>
              <a:t>, </a:t>
            </a:r>
            <a:r>
              <a:rPr lang="en-ID" sz="1050" dirty="0" err="1"/>
              <a:t>gagal</a:t>
            </a:r>
            <a:r>
              <a:rPr lang="en-ID" sz="1050" dirty="0"/>
              <a:t> </a:t>
            </a:r>
            <a:r>
              <a:rPr lang="en-ID" sz="1050" dirty="0" err="1"/>
              <a:t>bayar</a:t>
            </a:r>
            <a:r>
              <a:rPr lang="en-ID" sz="1050" dirty="0"/>
              <a:t>, </a:t>
            </a:r>
            <a:r>
              <a:rPr lang="en-ID" sz="1050" dirty="0" err="1"/>
              <a:t>berjalan</a:t>
            </a:r>
            <a:r>
              <a:rPr lang="en-ID" sz="1050" dirty="0"/>
              <a:t>, dan </a:t>
            </a:r>
            <a:r>
              <a:rPr lang="en-ID" sz="1050" dirty="0" err="1"/>
              <a:t>menunggak</a:t>
            </a:r>
            <a:r>
              <a:rPr lang="en-ID" sz="1050" dirty="0"/>
              <a:t>. Status </a:t>
            </a:r>
            <a:r>
              <a:rPr lang="en-ID" sz="1050" dirty="0" err="1"/>
              <a:t>belum</a:t>
            </a:r>
            <a:r>
              <a:rPr lang="en-ID" sz="1050" dirty="0"/>
              <a:t> final </a:t>
            </a:r>
            <a:r>
              <a:rPr lang="en-ID" sz="1050" dirty="0" err="1"/>
              <a:t>tidak</a:t>
            </a:r>
            <a:r>
              <a:rPr lang="en-ID" sz="1050" dirty="0"/>
              <a:t> </a:t>
            </a:r>
            <a:r>
              <a:rPr lang="en-ID" sz="1050" dirty="0" err="1"/>
              <a:t>boleh</a:t>
            </a:r>
            <a:r>
              <a:rPr lang="en-ID" sz="1050" dirty="0"/>
              <a:t> </a:t>
            </a:r>
            <a:r>
              <a:rPr lang="en-ID" sz="1050" dirty="0" err="1"/>
              <a:t>otomatis</a:t>
            </a:r>
            <a:r>
              <a:rPr lang="en-ID" sz="1050" dirty="0"/>
              <a:t> </a:t>
            </a:r>
            <a:r>
              <a:rPr lang="en-ID" sz="1050" dirty="0" err="1"/>
              <a:t>dianggap</a:t>
            </a:r>
            <a:r>
              <a:rPr lang="en-ID" sz="1050" dirty="0"/>
              <a:t> </a:t>
            </a:r>
            <a:r>
              <a:rPr lang="en-ID" sz="1050" dirty="0" err="1"/>
              <a:t>baik</a:t>
            </a:r>
            <a:r>
              <a:rPr lang="en-ID" sz="1050"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578608"/>
            <a:ext cx="5486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2D648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011680"/>
            <a:ext cx="29260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2194560"/>
            <a:ext cx="4114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5A18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587752"/>
            <a:ext cx="792718" cy="3693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01C32"/>
                </a:solidFill>
                <a:latin typeface="Aptos"/>
              </a:defRPr>
            </a:pPr>
            <a:r>
              <a:rPr lang="en-US" dirty="0"/>
              <a:t>Tujuan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4846320" y="3017520"/>
            <a:ext cx="2743200" cy="6283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87586"/>
                </a:solidFill>
                <a:latin typeface="Aptos"/>
              </a:defRPr>
            </a:pPr>
            <a:r>
              <a:rPr lang="en-ID" sz="1050" dirty="0" err="1"/>
              <a:t>Memprediksi</a:t>
            </a:r>
            <a:r>
              <a:rPr lang="en-ID" sz="1050" dirty="0"/>
              <a:t> </a:t>
            </a:r>
            <a:r>
              <a:rPr lang="en-ID" sz="1050" dirty="0" err="1"/>
              <a:t>kelas</a:t>
            </a:r>
            <a:r>
              <a:rPr lang="en-ID" sz="1050" dirty="0"/>
              <a:t> Good (0) </a:t>
            </a:r>
            <a:r>
              <a:rPr lang="en-ID" sz="1050" dirty="0" err="1"/>
              <a:t>atau</a:t>
            </a:r>
            <a:r>
              <a:rPr lang="en-ID" sz="1050" dirty="0"/>
              <a:t> Bad (1) </a:t>
            </a:r>
            <a:r>
              <a:rPr lang="en-ID" sz="1050" dirty="0" err="1"/>
              <a:t>berdasarkan</a:t>
            </a:r>
            <a:r>
              <a:rPr lang="en-ID" sz="1050" dirty="0"/>
              <a:t> </a:t>
            </a:r>
            <a:r>
              <a:rPr lang="en-ID" sz="1050" dirty="0" err="1"/>
              <a:t>fitur</a:t>
            </a:r>
            <a:r>
              <a:rPr lang="en-ID" sz="1050" dirty="0"/>
              <a:t> </a:t>
            </a:r>
            <a:r>
              <a:rPr lang="en-ID" sz="1050" dirty="0" err="1"/>
              <a:t>kandidat</a:t>
            </a:r>
            <a:r>
              <a:rPr lang="en-ID" sz="1050" dirty="0"/>
              <a:t> pada data </a:t>
            </a:r>
            <a:r>
              <a:rPr lang="en-ID" sz="1050" dirty="0" err="1"/>
              <a:t>historis</a:t>
            </a:r>
            <a:r>
              <a:rPr lang="en-ID" sz="1050" dirty="0"/>
              <a:t>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687586"/>
                </a:solidFill>
                <a:latin typeface="Aptos"/>
              </a:defRPr>
            </a:pPr>
            <a:endParaRPr sz="1050" dirty="0"/>
          </a:p>
        </p:txBody>
      </p:sp>
      <p:sp>
        <p:nvSpPr>
          <p:cNvPr id="14" name="TextBox 13"/>
          <p:cNvSpPr txBox="1"/>
          <p:nvPr/>
        </p:nvSpPr>
        <p:spPr>
          <a:xfrm>
            <a:off x="7726680" y="2578608"/>
            <a:ext cx="5486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2D648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2011680"/>
            <a:ext cx="29260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41080" y="2194560"/>
            <a:ext cx="4114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5A18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587752"/>
            <a:ext cx="1376787" cy="3693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01C32"/>
                </a:solidFill>
                <a:latin typeface="Aptos"/>
              </a:defRPr>
            </a:pPr>
            <a:r>
              <a:rPr lang="en-US" dirty="0" err="1"/>
              <a:t>Penggunaan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641081" y="3017520"/>
            <a:ext cx="2682240" cy="82073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87586"/>
                </a:solidFill>
                <a:latin typeface="Aptos"/>
              </a:defRPr>
            </a:pPr>
            <a:r>
              <a:rPr lang="en-ID" sz="1050" dirty="0" err="1"/>
              <a:t>Mendukung</a:t>
            </a:r>
            <a:r>
              <a:rPr lang="en-ID" sz="1050" dirty="0"/>
              <a:t> </a:t>
            </a:r>
            <a:r>
              <a:rPr lang="en-ID" sz="1050" dirty="0" err="1"/>
              <a:t>penyaringan</a:t>
            </a:r>
            <a:r>
              <a:rPr lang="en-ID" sz="1050" dirty="0"/>
              <a:t> awal </a:t>
            </a:r>
            <a:r>
              <a:rPr lang="en-ID" sz="1050" dirty="0" err="1"/>
              <a:t>risiko</a:t>
            </a:r>
            <a:r>
              <a:rPr lang="en-ID" sz="1050" dirty="0"/>
              <a:t>. Keputusan </a:t>
            </a:r>
            <a:r>
              <a:rPr lang="en-ID" sz="1050" dirty="0" err="1"/>
              <a:t>kredit</a:t>
            </a:r>
            <a:r>
              <a:rPr lang="en-ID" sz="1050" dirty="0"/>
              <a:t> </a:t>
            </a:r>
            <a:r>
              <a:rPr lang="en-ID" sz="1050" dirty="0" err="1"/>
              <a:t>tetap</a:t>
            </a:r>
            <a:r>
              <a:rPr lang="en-ID" sz="1050" dirty="0"/>
              <a:t> </a:t>
            </a:r>
            <a:r>
              <a:rPr lang="en-ID" sz="1050" dirty="0" err="1"/>
              <a:t>memerlukan</a:t>
            </a:r>
            <a:r>
              <a:rPr lang="en-ID" sz="1050" dirty="0"/>
              <a:t> </a:t>
            </a:r>
            <a:r>
              <a:rPr lang="en-ID" sz="1050" dirty="0" err="1"/>
              <a:t>validasi</a:t>
            </a:r>
            <a:r>
              <a:rPr lang="en-ID" sz="1050" dirty="0"/>
              <a:t> dan </a:t>
            </a:r>
            <a:r>
              <a:rPr lang="en-ID" sz="1050" dirty="0" err="1"/>
              <a:t>penilaian</a:t>
            </a:r>
            <a:r>
              <a:rPr lang="en-ID" sz="1050" dirty="0"/>
              <a:t> </a:t>
            </a:r>
            <a:r>
              <a:rPr lang="en-ID" sz="1050" dirty="0" err="1"/>
              <a:t>manusia</a:t>
            </a:r>
            <a:r>
              <a:rPr lang="en-ID" sz="1050" dirty="0"/>
              <a:t>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687586"/>
                </a:solidFill>
                <a:latin typeface="Aptos"/>
              </a:defRPr>
            </a:pPr>
            <a:r>
              <a:rPr lang="en-US" sz="1050" dirty="0"/>
              <a:t> </a:t>
            </a:r>
            <a:endParaRPr sz="1050" dirty="0"/>
          </a:p>
        </p:txBody>
      </p:sp>
      <p:sp>
        <p:nvSpPr>
          <p:cNvPr id="21" name="TextBox 20"/>
          <p:cNvSpPr txBox="1"/>
          <p:nvPr/>
        </p:nvSpPr>
        <p:spPr>
          <a:xfrm>
            <a:off x="1066800" y="4113791"/>
            <a:ext cx="100584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687586"/>
                </a:solidFill>
                <a:latin typeface="Aptos"/>
              </a:defRPr>
            </a:pPr>
            <a:r>
              <a:rPr dirty="0" err="1"/>
              <a:t>Penggunaan</a:t>
            </a:r>
            <a:r>
              <a:rPr dirty="0"/>
              <a:t> yang </a:t>
            </a:r>
            <a:r>
              <a:rPr dirty="0" err="1"/>
              <a:t>dituju</a:t>
            </a:r>
            <a:r>
              <a:rPr dirty="0"/>
              <a:t>: </a:t>
            </a:r>
            <a:r>
              <a:rPr dirty="0" err="1"/>
              <a:t>mendukung</a:t>
            </a:r>
            <a:r>
              <a:rPr dirty="0"/>
              <a:t> </a:t>
            </a:r>
            <a:r>
              <a:rPr dirty="0" err="1"/>
              <a:t>penyaringan</a:t>
            </a:r>
            <a:r>
              <a:rPr dirty="0"/>
              <a:t> </a:t>
            </a:r>
            <a:r>
              <a:rPr dirty="0" err="1"/>
              <a:t>awal</a:t>
            </a:r>
            <a:r>
              <a:rPr dirty="0"/>
              <a:t>; </a:t>
            </a:r>
            <a:r>
              <a:rPr dirty="0" err="1"/>
              <a:t>keputusan</a:t>
            </a:r>
            <a:r>
              <a:rPr dirty="0"/>
              <a:t> </a:t>
            </a:r>
            <a:r>
              <a:rPr dirty="0" err="1"/>
              <a:t>kredit</a:t>
            </a:r>
            <a:r>
              <a:rPr dirty="0"/>
              <a:t> </a:t>
            </a:r>
            <a:r>
              <a:rPr dirty="0" err="1"/>
              <a:t>tetap</a:t>
            </a:r>
            <a:r>
              <a:rPr dirty="0"/>
              <a:t> </a:t>
            </a:r>
            <a:r>
              <a:rPr dirty="0" err="1"/>
              <a:t>membutuhkan</a:t>
            </a:r>
            <a:r>
              <a:rPr dirty="0"/>
              <a:t> </a:t>
            </a:r>
            <a:r>
              <a:rPr dirty="0" err="1"/>
              <a:t>validasi</a:t>
            </a:r>
            <a:r>
              <a:rPr dirty="0"/>
              <a:t> dan </a:t>
            </a:r>
            <a:r>
              <a:rPr dirty="0" err="1"/>
              <a:t>penilaian</a:t>
            </a:r>
            <a:r>
              <a:rPr dirty="0"/>
              <a:t> </a:t>
            </a:r>
            <a:r>
              <a:rPr dirty="0" err="1"/>
              <a:t>manusia</a:t>
            </a:r>
            <a:r>
              <a:rPr dirty="0"/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90488"/>
            <a:ext cx="10789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87586"/>
                </a:solidFill>
                <a:latin typeface="Aptos"/>
              </a:defRPr>
            </a:pPr>
            <a:r>
              <a:t>Sumber: Notebook, bagian 1.3 dan 3.1.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2480807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87586"/>
                </a:solidFill>
                <a:latin typeface="Aptos"/>
              </a:defRPr>
            </a:pPr>
            <a:r>
              <a:rPr dirty="0"/>
              <a:t>CREDIT RISK PREDICTION </a:t>
            </a:r>
            <a:r>
              <a:rPr lang="en-ID" dirty="0"/>
              <a:t>| WILDAN KHOIRUL AMRI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7315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D648C"/>
                </a:solidFill>
                <a:latin typeface="Aptos"/>
              </a:defRPr>
            </a:pPr>
            <a:r>
              <a:t>DATA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01C32"/>
                </a:solidFill>
                <a:latin typeface="Aptos"/>
              </a:defRPr>
            </a:pPr>
            <a:r>
              <a:t>Understanding the Lending Club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87586"/>
                </a:solidFill>
                <a:latin typeface="Aptos"/>
              </a:defRPr>
            </a:pPr>
            <a:r>
              <a:t>Tidak semua baris mentah memiliki outcome final yang dapat dipakai sebagai label.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256032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83664"/>
            <a:ext cx="2240279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87586"/>
                </a:solidFill>
                <a:latin typeface="Aptos"/>
              </a:defRPr>
            </a:pPr>
            <a:r>
              <a:t>DATA MENTAH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76272"/>
            <a:ext cx="2240279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101C32"/>
                </a:solidFill>
                <a:latin typeface="Aptos"/>
              </a:defRPr>
            </a:pPr>
            <a:r>
              <a:t>466.285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42616"/>
            <a:ext cx="2240279" cy="2103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586"/>
                </a:solidFill>
                <a:latin typeface="Aptos"/>
              </a:defRPr>
            </a:pPr>
            <a:r>
              <a:t>Baris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37360"/>
            <a:ext cx="256032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1883664"/>
            <a:ext cx="2240279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87586"/>
                </a:solidFill>
                <a:latin typeface="Aptos"/>
              </a:defRPr>
            </a:pPr>
            <a:r>
              <a:t>KOLOM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176272"/>
            <a:ext cx="2240279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101C32"/>
                </a:solidFill>
                <a:latin typeface="Aptos"/>
              </a:defRPr>
            </a:pPr>
            <a:r>
              <a:t>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642616"/>
            <a:ext cx="2240279" cy="2103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586"/>
                </a:solidFill>
                <a:latin typeface="Aptos"/>
              </a:defRPr>
            </a:pPr>
            <a:r>
              <a:t>Fitur/metadata mentah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37360"/>
            <a:ext cx="256032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1883664"/>
            <a:ext cx="2240279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87586"/>
                </a:solidFill>
                <a:latin typeface="Aptos"/>
              </a:defRPr>
            </a:pPr>
            <a:r>
              <a:t>KOLOM KOSONG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76272"/>
            <a:ext cx="2240279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101C32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42616"/>
            <a:ext cx="2240279" cy="2103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586"/>
                </a:solidFill>
                <a:latin typeface="Aptos"/>
              </a:defRPr>
            </a:pPr>
            <a:r>
              <a:t>Seluruh nilainya kosong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737360"/>
            <a:ext cx="256032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98280" y="1883664"/>
            <a:ext cx="2240279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87586"/>
                </a:solidFill>
                <a:latin typeface="Aptos"/>
              </a:defRPr>
            </a:pPr>
            <a:r>
              <a:t>DUPLIKAT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176272"/>
            <a:ext cx="2240279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101C3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642616"/>
            <a:ext cx="2240279" cy="2103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586"/>
                </a:solidFill>
                <a:latin typeface="Aptos"/>
              </a:defRPr>
            </a:pPr>
            <a:r>
              <a:t>Exact duplicate rows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520440"/>
            <a:ext cx="106984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376732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D648C"/>
                </a:solidFill>
                <a:latin typeface="Aptos"/>
              </a:defRPr>
            </a:pPr>
            <a:r>
              <a:t>PERIODE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160520"/>
            <a:ext cx="978408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100" b="1">
                <a:solidFill>
                  <a:srgbClr val="101C32"/>
                </a:solidFill>
                <a:latin typeface="Aptos"/>
              </a:defRPr>
            </a:pPr>
            <a:r>
              <a:t>Juni 2007 – Desember 2014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41313" y="5221444"/>
            <a:ext cx="7224029" cy="2923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687586"/>
                </a:solidFill>
                <a:latin typeface="Aptos"/>
              </a:defRPr>
            </a:pPr>
            <a:r>
              <a:rPr dirty="0" err="1"/>
              <a:t>Konteks</a:t>
            </a:r>
            <a:r>
              <a:rPr dirty="0"/>
              <a:t> </a:t>
            </a:r>
            <a:r>
              <a:rPr dirty="0" err="1"/>
              <a:t>penting</a:t>
            </a:r>
            <a:r>
              <a:rPr dirty="0"/>
              <a:t>: dataset </a:t>
            </a:r>
            <a:r>
              <a:rPr dirty="0" err="1"/>
              <a:t>historis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otomatis</a:t>
            </a:r>
            <a:r>
              <a:rPr dirty="0"/>
              <a:t> </a:t>
            </a:r>
            <a:r>
              <a:rPr dirty="0" err="1"/>
              <a:t>merepresentasikan</a:t>
            </a:r>
            <a:r>
              <a:rPr dirty="0"/>
              <a:t> </a:t>
            </a:r>
            <a:r>
              <a:rPr dirty="0" err="1"/>
              <a:t>kondisi</a:t>
            </a:r>
            <a:r>
              <a:rPr dirty="0"/>
              <a:t> underwriting </a:t>
            </a:r>
            <a:r>
              <a:rPr dirty="0" err="1"/>
              <a:t>saat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190488"/>
            <a:ext cx="10789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87586"/>
                </a:solidFill>
                <a:latin typeface="Aptos"/>
              </a:defRPr>
            </a:pPr>
            <a:r>
              <a:t>Sumber: Notebook, bagian 2.1, 2.4, dan 2.6.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2480807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87586"/>
                </a:solidFill>
                <a:latin typeface="Aptos"/>
              </a:defRPr>
            </a:pPr>
            <a:r>
              <a:rPr dirty="0"/>
              <a:t>CREDIT RISK PREDICTION </a:t>
            </a:r>
            <a:r>
              <a:rPr lang="en-ID" dirty="0"/>
              <a:t>| WILDAN KHOIRUL AMRI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7315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D648C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01C32"/>
                </a:solidFill>
                <a:latin typeface="Aptos"/>
              </a:defRPr>
            </a:pPr>
            <a:r>
              <a:t>Defining Good vs. Bad Loan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87586"/>
                </a:solidFill>
                <a:latin typeface="Aptos"/>
              </a:defRPr>
            </a:pPr>
            <a:r>
              <a:t>Label ditetapkan berdasarkan status pinjaman yang telah memiliki outcome final.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28E011A-1B49-D1FC-3034-325BC5A12703}"/>
              </a:ext>
            </a:extLst>
          </p:cNvPr>
          <p:cNvGrpSpPr/>
          <p:nvPr/>
        </p:nvGrpSpPr>
        <p:grpSpPr>
          <a:xfrm>
            <a:off x="731520" y="1691640"/>
            <a:ext cx="2743200" cy="1188720"/>
            <a:chOff x="731520" y="1691640"/>
            <a:chExt cx="2743200" cy="1188720"/>
          </a:xfrm>
        </p:grpSpPr>
        <p:sp>
          <p:nvSpPr>
            <p:cNvPr id="5" name="Rounded Rectangle 4"/>
            <p:cNvSpPr/>
            <p:nvPr/>
          </p:nvSpPr>
          <p:spPr>
            <a:xfrm>
              <a:off x="731520" y="1691640"/>
              <a:ext cx="2743200" cy="118872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1837944"/>
              <a:ext cx="2423160" cy="228600"/>
            </a:xfrm>
            <a:prstGeom prst="rect">
              <a:avLst/>
            </a:prstGeom>
            <a:noFill/>
          </p:spPr>
          <p:txBody>
            <a:bodyPr wrap="none" lIns="45720" rIns="45720" anchor="t">
              <a:spAutoFit/>
            </a:bodyPr>
            <a:lstStyle/>
            <a:p>
              <a:pPr algn="l">
                <a:spcAft>
                  <a:spcPts val="400"/>
                </a:spcAft>
                <a:defRPr sz="900" b="1">
                  <a:solidFill>
                    <a:srgbClr val="687586"/>
                  </a:solidFill>
                  <a:latin typeface="Aptos"/>
                </a:defRPr>
              </a:pPr>
              <a:r>
                <a:t>DATA BERLABEL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4400" y="2130552"/>
              <a:ext cx="2423160" cy="438912"/>
            </a:xfrm>
            <a:prstGeom prst="rect">
              <a:avLst/>
            </a:prstGeom>
            <a:noFill/>
          </p:spPr>
          <p:txBody>
            <a:bodyPr wrap="none" lIns="45720" rIns="45720" anchor="t">
              <a:spAutoFit/>
            </a:bodyPr>
            <a:lstStyle/>
            <a:p>
              <a:pPr algn="l">
                <a:spcAft>
                  <a:spcPts val="400"/>
                </a:spcAft>
                <a:defRPr sz="2300" b="1">
                  <a:solidFill>
                    <a:srgbClr val="101C32"/>
                  </a:solidFill>
                  <a:latin typeface="Aptos"/>
                </a:defRPr>
              </a:pPr>
              <a:r>
                <a:t>230.795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14400" y="2551176"/>
              <a:ext cx="2423160" cy="210312"/>
            </a:xfrm>
            <a:prstGeom prst="rect">
              <a:avLst/>
            </a:prstGeom>
            <a:noFill/>
          </p:spPr>
          <p:txBody>
            <a:bodyPr wrap="none" lIns="45720" rIns="45720" anchor="t">
              <a:spAutoFit/>
            </a:bodyPr>
            <a:lstStyle/>
            <a:p>
              <a:pPr algn="l">
                <a:spcAft>
                  <a:spcPts val="400"/>
                </a:spcAft>
                <a:defRPr sz="900" b="0">
                  <a:solidFill>
                    <a:srgbClr val="687586"/>
                  </a:solidFill>
                  <a:latin typeface="Aptos"/>
                </a:defRPr>
              </a:pPr>
              <a:r>
                <a:t>Digunakan untuk supervised learning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42FC2E8-6DB9-5D32-73A3-E7E34E7F23DE}"/>
              </a:ext>
            </a:extLst>
          </p:cNvPr>
          <p:cNvGrpSpPr/>
          <p:nvPr/>
        </p:nvGrpSpPr>
        <p:grpSpPr>
          <a:xfrm>
            <a:off x="3581400" y="1691640"/>
            <a:ext cx="2743200" cy="1188720"/>
            <a:chOff x="3657600" y="1691640"/>
            <a:chExt cx="2743200" cy="1188720"/>
          </a:xfrm>
        </p:grpSpPr>
        <p:sp>
          <p:nvSpPr>
            <p:cNvPr id="10" name="Rounded Rectangle 9"/>
            <p:cNvSpPr/>
            <p:nvPr/>
          </p:nvSpPr>
          <p:spPr>
            <a:xfrm>
              <a:off x="3657600" y="1691640"/>
              <a:ext cx="2743200" cy="118872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840480" y="1837944"/>
              <a:ext cx="2423160" cy="228600"/>
            </a:xfrm>
            <a:prstGeom prst="rect">
              <a:avLst/>
            </a:prstGeom>
            <a:noFill/>
          </p:spPr>
          <p:txBody>
            <a:bodyPr wrap="none" lIns="45720" rIns="45720" anchor="t">
              <a:spAutoFit/>
            </a:bodyPr>
            <a:lstStyle/>
            <a:p>
              <a:pPr algn="l">
                <a:spcAft>
                  <a:spcPts val="400"/>
                </a:spcAft>
                <a:defRPr sz="900" b="1">
                  <a:solidFill>
                    <a:srgbClr val="687586"/>
                  </a:solidFill>
                  <a:latin typeface="Aptos"/>
                </a:defRPr>
              </a:pPr>
              <a:r>
                <a:t>GOOD (0)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840480" y="2130552"/>
              <a:ext cx="2423160" cy="438912"/>
            </a:xfrm>
            <a:prstGeom prst="rect">
              <a:avLst/>
            </a:prstGeom>
            <a:noFill/>
          </p:spPr>
          <p:txBody>
            <a:bodyPr wrap="none" lIns="45720" rIns="45720" anchor="t">
              <a:spAutoFit/>
            </a:bodyPr>
            <a:lstStyle/>
            <a:p>
              <a:pPr algn="l">
                <a:spcAft>
                  <a:spcPts val="400"/>
                </a:spcAft>
                <a:defRPr sz="2300" b="1">
                  <a:solidFill>
                    <a:srgbClr val="101C32"/>
                  </a:solidFill>
                  <a:latin typeface="Aptos"/>
                </a:defRPr>
              </a:pPr>
              <a:r>
                <a:rPr dirty="0"/>
                <a:t>186.727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840480" y="2551176"/>
              <a:ext cx="2423160" cy="210312"/>
            </a:xfrm>
            <a:prstGeom prst="rect">
              <a:avLst/>
            </a:prstGeom>
            <a:noFill/>
          </p:spPr>
          <p:txBody>
            <a:bodyPr wrap="none" lIns="45720" rIns="45720" anchor="t">
              <a:spAutoFit/>
            </a:bodyPr>
            <a:lstStyle/>
            <a:p>
              <a:pPr algn="l">
                <a:spcAft>
                  <a:spcPts val="400"/>
                </a:spcAft>
                <a:defRPr sz="900" b="0">
                  <a:solidFill>
                    <a:srgbClr val="687586"/>
                  </a:solidFill>
                  <a:latin typeface="Aptos"/>
                </a:defRPr>
              </a:pPr>
              <a:r>
                <a:t>80,91% dari data berlabel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9513F10-FF02-74BA-8C6F-393FB7D8B59D}"/>
              </a:ext>
            </a:extLst>
          </p:cNvPr>
          <p:cNvGrpSpPr/>
          <p:nvPr/>
        </p:nvGrpSpPr>
        <p:grpSpPr>
          <a:xfrm>
            <a:off x="6431280" y="1691640"/>
            <a:ext cx="2606040" cy="1188720"/>
            <a:chOff x="6458171" y="1691640"/>
            <a:chExt cx="2606040" cy="1188720"/>
          </a:xfrm>
        </p:grpSpPr>
        <p:sp>
          <p:nvSpPr>
            <p:cNvPr id="15" name="Rounded Rectangle 14"/>
            <p:cNvSpPr/>
            <p:nvPr/>
          </p:nvSpPr>
          <p:spPr>
            <a:xfrm>
              <a:off x="6458171" y="1691640"/>
              <a:ext cx="2606040" cy="118872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641051" y="1837944"/>
              <a:ext cx="2423160" cy="228600"/>
            </a:xfrm>
            <a:prstGeom prst="rect">
              <a:avLst/>
            </a:prstGeom>
            <a:noFill/>
          </p:spPr>
          <p:txBody>
            <a:bodyPr wrap="none" lIns="45720" rIns="45720" anchor="t">
              <a:spAutoFit/>
            </a:bodyPr>
            <a:lstStyle/>
            <a:p>
              <a:pPr algn="l">
                <a:spcAft>
                  <a:spcPts val="400"/>
                </a:spcAft>
                <a:defRPr sz="900" b="1">
                  <a:solidFill>
                    <a:srgbClr val="687586"/>
                  </a:solidFill>
                  <a:latin typeface="Aptos"/>
                </a:defRPr>
              </a:pPr>
              <a:r>
                <a:t>BAD (1)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641051" y="2130552"/>
              <a:ext cx="2423160" cy="438912"/>
            </a:xfrm>
            <a:prstGeom prst="rect">
              <a:avLst/>
            </a:prstGeom>
            <a:noFill/>
          </p:spPr>
          <p:txBody>
            <a:bodyPr wrap="none" lIns="45720" rIns="45720" anchor="t">
              <a:spAutoFit/>
            </a:bodyPr>
            <a:lstStyle/>
            <a:p>
              <a:pPr algn="l">
                <a:spcAft>
                  <a:spcPts val="400"/>
                </a:spcAft>
                <a:defRPr sz="2300" b="1">
                  <a:solidFill>
                    <a:srgbClr val="101C32"/>
                  </a:solidFill>
                  <a:latin typeface="Aptos"/>
                </a:defRPr>
              </a:pPr>
              <a:r>
                <a:t>44.068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641051" y="2551176"/>
              <a:ext cx="2423160" cy="210312"/>
            </a:xfrm>
            <a:prstGeom prst="rect">
              <a:avLst/>
            </a:prstGeom>
            <a:noFill/>
          </p:spPr>
          <p:txBody>
            <a:bodyPr wrap="none" lIns="45720" rIns="45720" anchor="t">
              <a:spAutoFit/>
            </a:bodyPr>
            <a:lstStyle/>
            <a:p>
              <a:pPr algn="l">
                <a:spcAft>
                  <a:spcPts val="400"/>
                </a:spcAft>
                <a:defRPr sz="900" b="0">
                  <a:solidFill>
                    <a:srgbClr val="687586"/>
                  </a:solidFill>
                  <a:latin typeface="Aptos"/>
                </a:defRPr>
              </a:pPr>
              <a:r>
                <a:t>19,09% dari data berlabel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EEAD7FA-AB8D-1B4F-6DA9-AF844C3B94C7}"/>
              </a:ext>
            </a:extLst>
          </p:cNvPr>
          <p:cNvGrpSpPr/>
          <p:nvPr/>
        </p:nvGrpSpPr>
        <p:grpSpPr>
          <a:xfrm>
            <a:off x="9144000" y="1691640"/>
            <a:ext cx="2286000" cy="1188720"/>
            <a:chOff x="9144000" y="1691640"/>
            <a:chExt cx="2286000" cy="1188720"/>
          </a:xfrm>
        </p:grpSpPr>
        <p:sp>
          <p:nvSpPr>
            <p:cNvPr id="20" name="Rounded Rectangle 19"/>
            <p:cNvSpPr/>
            <p:nvPr/>
          </p:nvSpPr>
          <p:spPr>
            <a:xfrm>
              <a:off x="9144000" y="1691640"/>
              <a:ext cx="2286000" cy="118872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326880" y="1837944"/>
              <a:ext cx="1965960" cy="228600"/>
            </a:xfrm>
            <a:prstGeom prst="rect">
              <a:avLst/>
            </a:prstGeom>
            <a:noFill/>
          </p:spPr>
          <p:txBody>
            <a:bodyPr wrap="none" lIns="45720" rIns="45720" anchor="t">
              <a:spAutoFit/>
            </a:bodyPr>
            <a:lstStyle/>
            <a:p>
              <a:pPr algn="l">
                <a:spcAft>
                  <a:spcPts val="400"/>
                </a:spcAft>
                <a:defRPr sz="900" b="1">
                  <a:solidFill>
                    <a:srgbClr val="687586"/>
                  </a:solidFill>
                  <a:latin typeface="Aptos"/>
                </a:defRPr>
              </a:pPr>
              <a:r>
                <a:t>TANPA LABEL FINAL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326880" y="2130552"/>
              <a:ext cx="1965960" cy="438912"/>
            </a:xfrm>
            <a:prstGeom prst="rect">
              <a:avLst/>
            </a:prstGeom>
            <a:noFill/>
          </p:spPr>
          <p:txBody>
            <a:bodyPr wrap="none" lIns="45720" rIns="45720" anchor="t">
              <a:spAutoFit/>
            </a:bodyPr>
            <a:lstStyle/>
            <a:p>
              <a:pPr algn="l">
                <a:spcAft>
                  <a:spcPts val="400"/>
                </a:spcAft>
                <a:defRPr sz="2300" b="1">
                  <a:solidFill>
                    <a:srgbClr val="101C32"/>
                  </a:solidFill>
                  <a:latin typeface="Aptos"/>
                </a:defRPr>
              </a:pPr>
              <a:r>
                <a:rPr dirty="0"/>
                <a:t>235.490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326880" y="2551176"/>
              <a:ext cx="1965960" cy="210312"/>
            </a:xfrm>
            <a:prstGeom prst="rect">
              <a:avLst/>
            </a:prstGeom>
            <a:noFill/>
          </p:spPr>
          <p:txBody>
            <a:bodyPr wrap="none" lIns="45720" rIns="45720" anchor="t">
              <a:spAutoFit/>
            </a:bodyPr>
            <a:lstStyle/>
            <a:p>
              <a:pPr algn="l">
                <a:spcAft>
                  <a:spcPts val="400"/>
                </a:spcAft>
                <a:defRPr sz="900" b="0">
                  <a:solidFill>
                    <a:srgbClr val="687586"/>
                  </a:solidFill>
                  <a:latin typeface="Aptos"/>
                </a:defRPr>
              </a:pPr>
              <a:r>
                <a:t>Dikecualikan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914400" y="3429000"/>
            <a:ext cx="36576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D648C"/>
                </a:solidFill>
                <a:latin typeface="Aptos"/>
              </a:defRPr>
            </a:pPr>
            <a:r>
              <a:t>KOMPOSISI DATA BERLABEL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47542" y="5257800"/>
            <a:ext cx="6792116" cy="2923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687586"/>
                </a:solidFill>
                <a:latin typeface="Aptos"/>
              </a:defRPr>
            </a:pPr>
            <a:r>
              <a:rPr dirty="0"/>
              <a:t>Status </a:t>
            </a:r>
            <a:r>
              <a:rPr dirty="0" err="1"/>
              <a:t>berjalan</a:t>
            </a:r>
            <a:r>
              <a:rPr dirty="0"/>
              <a:t> / </a:t>
            </a:r>
            <a:r>
              <a:rPr dirty="0" err="1"/>
              <a:t>belum</a:t>
            </a:r>
            <a:r>
              <a:rPr dirty="0"/>
              <a:t> final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otomatis</a:t>
            </a:r>
            <a:r>
              <a:rPr dirty="0"/>
              <a:t> </a:t>
            </a:r>
            <a:r>
              <a:rPr dirty="0" err="1"/>
              <a:t>dianggap</a:t>
            </a:r>
            <a:r>
              <a:rPr dirty="0"/>
              <a:t> Good; </a:t>
            </a:r>
            <a:r>
              <a:rPr dirty="0" err="1"/>
              <a:t>definisi</a:t>
            </a:r>
            <a:r>
              <a:rPr dirty="0"/>
              <a:t> label </a:t>
            </a:r>
            <a:r>
              <a:rPr dirty="0" err="1"/>
              <a:t>mengikuti</a:t>
            </a:r>
            <a:r>
              <a:rPr dirty="0"/>
              <a:t> notebook.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190488"/>
            <a:ext cx="10789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87586"/>
                </a:solidFill>
                <a:latin typeface="Aptos"/>
              </a:defRPr>
            </a:pPr>
            <a:r>
              <a:t>Sumber: Notebook, bagian 3.1.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2480807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87586"/>
                </a:solidFill>
                <a:latin typeface="Aptos"/>
              </a:defRPr>
            </a:pPr>
            <a:r>
              <a:rPr dirty="0"/>
              <a:t>CREDIT RISK PREDICTION </a:t>
            </a:r>
            <a:r>
              <a:rPr lang="en-ID" dirty="0"/>
              <a:t>| WILDAN KHOIRUL AMRI</a:t>
            </a:r>
            <a:endParaRPr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E4DF5AAD-D076-A54E-58DE-0F98293D5D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8584406"/>
              </p:ext>
            </p:extLst>
          </p:nvPr>
        </p:nvGraphicFramePr>
        <p:xfrm>
          <a:off x="861060" y="3570732"/>
          <a:ext cx="10469880" cy="1380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7315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D648C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01C32"/>
                </a:solidFill>
                <a:latin typeface="Aptos"/>
              </a:defRPr>
            </a:pPr>
            <a:r>
              <a:t>Chronological Split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87586"/>
                </a:solidFill>
                <a:latin typeface="Aptos"/>
              </a:defRPr>
            </a:pPr>
            <a:r>
              <a:t>Validasi berdasarkan waktu membantu menjaga test set tetap lebih baru daripada train.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375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743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D648C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67712"/>
            <a:ext cx="283464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01C32"/>
                </a:solidFill>
                <a:latin typeface="Aptos"/>
              </a:defRPr>
            </a:pPr>
            <a:r>
              <a:t>Jun 2007 – Jan 2014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24328"/>
            <a:ext cx="28346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22D3D"/>
                </a:solidFill>
                <a:latin typeface="Aptos"/>
              </a:defRPr>
            </a:pPr>
            <a:r>
              <a:t>168.010 baris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283464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586"/>
                </a:solidFill>
                <a:latin typeface="Aptos"/>
              </a:defRPr>
            </a:pPr>
            <a:r>
              <a:t>Bad rate 18,32%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737360"/>
            <a:ext cx="33375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1965960"/>
            <a:ext cx="2743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5A18E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267712"/>
            <a:ext cx="283464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01C32"/>
                </a:solidFill>
                <a:latin typeface="Aptos"/>
              </a:defRPr>
            </a:pPr>
            <a:r>
              <a:t>Feb – Jun 2014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624328"/>
            <a:ext cx="28346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22D3D"/>
                </a:solidFill>
                <a:latin typeface="Aptos"/>
              </a:defRPr>
            </a:pPr>
            <a:r>
              <a:t>30.680 baris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880360"/>
            <a:ext cx="283464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586"/>
                </a:solidFill>
                <a:latin typeface="Aptos"/>
              </a:defRPr>
            </a:pPr>
            <a:r>
              <a:t>Bad rate 21,78%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737360"/>
            <a:ext cx="33375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1965960"/>
            <a:ext cx="2743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DE8740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267712"/>
            <a:ext cx="283464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01C32"/>
                </a:solidFill>
                <a:latin typeface="Aptos"/>
              </a:defRPr>
            </a:pPr>
            <a:r>
              <a:t>Jul – Dec 2014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624328"/>
            <a:ext cx="28346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22D3D"/>
                </a:solidFill>
                <a:latin typeface="Aptos"/>
              </a:defRPr>
            </a:pPr>
            <a:r>
              <a:t>32.105 baris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880360"/>
            <a:ext cx="283464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586"/>
                </a:solidFill>
                <a:latin typeface="Aptos"/>
              </a:defRPr>
            </a:pPr>
            <a:r>
              <a:t>Bad rate 20,57%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657600"/>
            <a:ext cx="5120640" cy="1417320"/>
          </a:xfrm>
          <a:prstGeom prst="roundRect">
            <a:avLst>
              <a:gd name="adj" fmla="val 12000"/>
            </a:avLst>
          </a:prstGeom>
          <a:solidFill>
            <a:srgbClr val="E0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3867912"/>
            <a:ext cx="45720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D648C"/>
                </a:solidFill>
                <a:latin typeface="Aptos"/>
              </a:defRPr>
            </a:pPr>
            <a:r>
              <a:t>FITUR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206240"/>
            <a:ext cx="45720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01C32"/>
                </a:solidFill>
                <a:latin typeface="Aptos"/>
              </a:defRPr>
            </a:pPr>
            <a:r>
              <a:t>27 kandidat → 79 setelah encoding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617720"/>
            <a:ext cx="45720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87586"/>
                </a:solidFill>
                <a:latin typeface="Aptos"/>
              </a:defRPr>
            </a:pPr>
            <a:r>
              <a:t>18 numerik • 9 kategorikal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657600"/>
            <a:ext cx="52578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3867912"/>
            <a:ext cx="45720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5A18E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206240"/>
            <a:ext cx="46634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01C32"/>
                </a:solidFill>
                <a:latin typeface="Aptos"/>
              </a:defRPr>
            </a:pPr>
            <a:r>
              <a:t>Imputasi + transformasi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617720"/>
            <a:ext cx="46634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586"/>
                </a:solidFill>
                <a:latin typeface="Aptos"/>
              </a:defRPr>
            </a:pPr>
            <a:r>
              <a:t>Numerik: median &amp; scaling; kategori: modus &amp; one-hot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190488"/>
            <a:ext cx="10789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87586"/>
                </a:solidFill>
                <a:latin typeface="Aptos"/>
              </a:defRPr>
            </a:pPr>
            <a:r>
              <a:t>Sumber: Notebook, bagian 3.2–3.3.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2480807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87586"/>
                </a:solidFill>
                <a:latin typeface="Aptos"/>
              </a:defRPr>
            </a:pPr>
            <a:r>
              <a:rPr dirty="0"/>
              <a:t>CREDIT RISK PREDICTION </a:t>
            </a:r>
            <a:r>
              <a:rPr lang="en-ID" dirty="0"/>
              <a:t>| WILDAN KHOIRUL AMRI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0F815F-E857-317A-0094-1AE98F188823}"/>
              </a:ext>
            </a:extLst>
          </p:cNvPr>
          <p:cNvSpPr txBox="1"/>
          <p:nvPr/>
        </p:nvSpPr>
        <p:spPr>
          <a:xfrm>
            <a:off x="805571" y="5522521"/>
            <a:ext cx="10495566" cy="27699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687586"/>
                </a:solidFill>
                <a:latin typeface="Aptos"/>
              </a:defRPr>
            </a:pPr>
            <a:r>
              <a:rPr lang="en-US" dirty="0"/>
              <a:t>Hanya </a:t>
            </a:r>
            <a:r>
              <a:rPr lang="en-US" dirty="0" err="1"/>
              <a:t>fitur</a:t>
            </a:r>
            <a:r>
              <a:rPr lang="en-US" dirty="0"/>
              <a:t> yang </a:t>
            </a:r>
            <a:r>
              <a:rPr lang="en-US" dirty="0" err="1"/>
              <a:t>tersedia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pengajuan</a:t>
            </a:r>
            <a:r>
              <a:rPr lang="en-US" dirty="0"/>
              <a:t> yang </a:t>
            </a:r>
            <a:r>
              <a:rPr lang="en-US" dirty="0" err="1"/>
              <a:t>dipakai</a:t>
            </a:r>
            <a:r>
              <a:rPr lang="en-US" dirty="0"/>
              <a:t>. Grade, </a:t>
            </a:r>
            <a:r>
              <a:rPr lang="en-US" dirty="0" err="1"/>
              <a:t>suku</a:t>
            </a:r>
            <a:r>
              <a:rPr lang="en-US" dirty="0"/>
              <a:t> bunga, </a:t>
            </a:r>
            <a:r>
              <a:rPr lang="en-US" dirty="0" err="1"/>
              <a:t>cicilan</a:t>
            </a:r>
            <a:r>
              <a:rPr lang="en-US" dirty="0"/>
              <a:t>, dan data </a:t>
            </a:r>
            <a:r>
              <a:rPr lang="en-US" dirty="0" err="1"/>
              <a:t>pembayaran</a:t>
            </a:r>
            <a:r>
              <a:rPr lang="en-US" dirty="0"/>
              <a:t> </a:t>
            </a:r>
            <a:r>
              <a:rPr lang="en-US" dirty="0" err="1"/>
              <a:t>sengaja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dipakai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mencegah</a:t>
            </a:r>
            <a:r>
              <a:rPr lang="en-US" dirty="0"/>
              <a:t> data leakage.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7315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D648C"/>
                </a:solidFill>
                <a:latin typeface="Aptos"/>
              </a:defRPr>
            </a:pPr>
            <a:r>
              <a:t>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01C32"/>
                </a:solidFill>
                <a:latin typeface="Aptos"/>
              </a:defRPr>
            </a:pPr>
            <a:r>
              <a:t>Model Comparison: Baseline to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87586"/>
                </a:solidFill>
                <a:latin typeface="Aptos"/>
              </a:defRPr>
            </a:pPr>
            <a:r>
              <a:t>Tiga pendekatan dibandingkan pada validation set; angka confusion matrix menunjukkan trade-off klasifikasi.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4526280"/>
            <a:ext cx="10698480" cy="822960"/>
          </a:xfrm>
          <a:prstGeom prst="roundRect">
            <a:avLst>
              <a:gd name="adj" fmla="val 12000"/>
            </a:avLst>
          </a:prstGeom>
          <a:solidFill>
            <a:srgbClr val="E0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51559" y="4755340"/>
            <a:ext cx="10217075" cy="4308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22D3D"/>
                </a:solidFill>
                <a:latin typeface="Aptos"/>
              </a:defRPr>
            </a:pPr>
            <a:r>
              <a:rPr dirty="0"/>
              <a:t>*</a:t>
            </a:r>
            <a:r>
              <a:rPr dirty="0" err="1"/>
              <a:t>Dihitung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confusion matrix validation yang </a:t>
            </a:r>
            <a:r>
              <a:rPr lang="en-US" dirty="0"/>
              <a:t>pada threshold </a:t>
            </a:r>
            <a:r>
              <a:rPr lang="en-US" dirty="0" err="1"/>
              <a:t>awal</a:t>
            </a:r>
            <a:r>
              <a:rPr lang="en-US" dirty="0"/>
              <a:t> 0,5</a:t>
            </a:r>
            <a:r>
              <a:rPr dirty="0"/>
              <a:t>. ROC-AUC dan Average Precision </a:t>
            </a:r>
            <a:r>
              <a:rPr dirty="0" err="1"/>
              <a:t>tidak</a:t>
            </a:r>
            <a:r>
              <a:rPr dirty="0"/>
              <a:t> </a:t>
            </a:r>
            <a:r>
              <a:rPr lang="en-US" dirty="0" err="1"/>
              <a:t>bergantung</a:t>
            </a:r>
            <a:r>
              <a:rPr lang="en-US" dirty="0"/>
              <a:t> pada threshold. Threshold final (0,4948) </a:t>
            </a:r>
            <a:r>
              <a:rPr lang="en-US" dirty="0" err="1"/>
              <a:t>dipilih</a:t>
            </a:r>
            <a:r>
              <a:rPr lang="en-US" dirty="0"/>
              <a:t> pada </a:t>
            </a:r>
            <a:r>
              <a:rPr lang="en-US" dirty="0" err="1"/>
              <a:t>tahap</a:t>
            </a:r>
            <a:r>
              <a:rPr lang="en-US" dirty="0"/>
              <a:t> </a:t>
            </a:r>
            <a:r>
              <a:rPr lang="en-US" dirty="0" err="1"/>
              <a:t>berikutnya</a:t>
            </a:r>
            <a:r>
              <a:rPr dirty="0"/>
              <a:t>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190488"/>
            <a:ext cx="4035720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87586"/>
                </a:solidFill>
                <a:latin typeface="Aptos"/>
              </a:defRPr>
            </a:pPr>
            <a:r>
              <a:rPr dirty="0" err="1"/>
              <a:t>Sumber</a:t>
            </a:r>
            <a:r>
              <a:rPr dirty="0"/>
              <a:t>: Notebook, </a:t>
            </a:r>
            <a:r>
              <a:rPr dirty="0" err="1"/>
              <a:t>bagian</a:t>
            </a:r>
            <a:r>
              <a:rPr dirty="0"/>
              <a:t> 4.1</a:t>
            </a:r>
            <a:r>
              <a:rPr lang="en-US" dirty="0"/>
              <a:t> (table </a:t>
            </a:r>
            <a:r>
              <a:rPr lang="en-US" dirty="0" err="1"/>
              <a:t>perbandingan</a:t>
            </a:r>
            <a:r>
              <a:rPr lang="en-US" dirty="0"/>
              <a:t> model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confusionmatrix</a:t>
            </a:r>
            <a:r>
              <a:rPr lang="en-US" dirty="0"/>
              <a:t> validation)</a:t>
            </a:r>
            <a:endParaRPr dirty="0"/>
          </a:p>
        </p:txBody>
      </p:sp>
      <p:sp>
        <p:nvSpPr>
          <p:cNvPr id="48" name="TextBox 47"/>
          <p:cNvSpPr txBox="1"/>
          <p:nvPr/>
        </p:nvSpPr>
        <p:spPr>
          <a:xfrm>
            <a:off x="502920" y="6510528"/>
            <a:ext cx="2480807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87586"/>
                </a:solidFill>
                <a:latin typeface="Aptos"/>
              </a:defRPr>
            </a:pPr>
            <a:r>
              <a:rPr dirty="0"/>
              <a:t>CREDIT RISK PREDICTION </a:t>
            </a:r>
            <a:r>
              <a:rPr lang="en-ID" dirty="0"/>
              <a:t>| WILDAN KHOIRUL AMRI</a:t>
            </a:r>
            <a:endParaRPr dirty="0"/>
          </a:p>
        </p:txBody>
      </p: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308D7E23-53A8-7625-9091-25565E39D5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439636"/>
              </p:ext>
            </p:extLst>
          </p:nvPr>
        </p:nvGraphicFramePr>
        <p:xfrm>
          <a:off x="723898" y="2063496"/>
          <a:ext cx="10843260" cy="162153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32870">
                  <a:extLst>
                    <a:ext uri="{9D8B030D-6E8A-4147-A177-3AD203B41FA5}">
                      <a16:colId xmlns:a16="http://schemas.microsoft.com/office/drawing/2014/main" val="1855070657"/>
                    </a:ext>
                  </a:extLst>
                </a:gridCol>
                <a:gridCol w="1365205">
                  <a:extLst>
                    <a:ext uri="{9D8B030D-6E8A-4147-A177-3AD203B41FA5}">
                      <a16:colId xmlns:a16="http://schemas.microsoft.com/office/drawing/2014/main" val="2057018940"/>
                    </a:ext>
                  </a:extLst>
                </a:gridCol>
                <a:gridCol w="1549037">
                  <a:extLst>
                    <a:ext uri="{9D8B030D-6E8A-4147-A177-3AD203B41FA5}">
                      <a16:colId xmlns:a16="http://schemas.microsoft.com/office/drawing/2014/main" val="2715146045"/>
                    </a:ext>
                  </a:extLst>
                </a:gridCol>
                <a:gridCol w="1549037">
                  <a:extLst>
                    <a:ext uri="{9D8B030D-6E8A-4147-A177-3AD203B41FA5}">
                      <a16:colId xmlns:a16="http://schemas.microsoft.com/office/drawing/2014/main" val="3868559928"/>
                    </a:ext>
                  </a:extLst>
                </a:gridCol>
                <a:gridCol w="1549037">
                  <a:extLst>
                    <a:ext uri="{9D8B030D-6E8A-4147-A177-3AD203B41FA5}">
                      <a16:colId xmlns:a16="http://schemas.microsoft.com/office/drawing/2014/main" val="3150446385"/>
                    </a:ext>
                  </a:extLst>
                </a:gridCol>
                <a:gridCol w="1549037">
                  <a:extLst>
                    <a:ext uri="{9D8B030D-6E8A-4147-A177-3AD203B41FA5}">
                      <a16:colId xmlns:a16="http://schemas.microsoft.com/office/drawing/2014/main" val="351773741"/>
                    </a:ext>
                  </a:extLst>
                </a:gridCol>
                <a:gridCol w="1549037">
                  <a:extLst>
                    <a:ext uri="{9D8B030D-6E8A-4147-A177-3AD203B41FA5}">
                      <a16:colId xmlns:a16="http://schemas.microsoft.com/office/drawing/2014/main" val="232309318"/>
                    </a:ext>
                  </a:extLst>
                </a:gridCol>
              </a:tblGrid>
              <a:tr h="40538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en-ID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1D30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ROC-AUC</a:t>
                      </a:r>
                      <a:endParaRPr lang="en-ID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1D30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Avg. Precision</a:t>
                      </a:r>
                      <a:endParaRPr lang="en-ID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1D30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Precision*</a:t>
                      </a:r>
                      <a:endParaRPr lang="en-ID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1D30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Recall*</a:t>
                      </a:r>
                      <a:endParaRPr lang="en-ID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1D30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F1-Score*</a:t>
                      </a:r>
                      <a:endParaRPr lang="en-ID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1D30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en-ID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1D30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4540746"/>
                  </a:ext>
                </a:extLst>
              </a:tr>
              <a:tr h="405384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Dummy Baseline</a:t>
                      </a:r>
                      <a:endParaRPr lang="en-ID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0,5</a:t>
                      </a:r>
                      <a:endParaRPr lang="en-ID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0,2178</a:t>
                      </a:r>
                      <a:endParaRPr lang="en-ID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0%</a:t>
                      </a:r>
                      <a:endParaRPr lang="en-ID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0%</a:t>
                      </a:r>
                      <a:endParaRPr lang="en-ID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0%</a:t>
                      </a:r>
                      <a:endParaRPr lang="en-ID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78,2%</a:t>
                      </a:r>
                      <a:endParaRPr lang="en-ID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5350973"/>
                  </a:ext>
                </a:extLst>
              </a:tr>
              <a:tr h="405384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Logistic Regression</a:t>
                      </a:r>
                      <a:endParaRPr lang="en-ID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0,678</a:t>
                      </a:r>
                      <a:endParaRPr lang="en-ID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0,3599</a:t>
                      </a:r>
                      <a:endParaRPr lang="en-ID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31,3%</a:t>
                      </a:r>
                      <a:endParaRPr lang="en-ID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66,2%</a:t>
                      </a:r>
                      <a:endParaRPr lang="en-ID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42,5%</a:t>
                      </a:r>
                      <a:endParaRPr lang="en-ID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61,1%</a:t>
                      </a:r>
                      <a:endParaRPr lang="en-ID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232882"/>
                  </a:ext>
                </a:extLst>
              </a:tr>
              <a:tr h="405384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Random Forest</a:t>
                      </a:r>
                      <a:endParaRPr lang="en-ID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0,6819</a:t>
                      </a:r>
                      <a:endParaRPr lang="en-ID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0,3652</a:t>
                      </a:r>
                      <a:endParaRPr lang="en-ID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32,4%</a:t>
                      </a:r>
                      <a:endParaRPr lang="en-ID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63,5%</a:t>
                      </a:r>
                      <a:endParaRPr lang="en-ID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42,9%</a:t>
                      </a:r>
                      <a:endParaRPr lang="en-ID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63,2%</a:t>
                      </a:r>
                      <a:endParaRPr lang="en-ID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57059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679032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D648C"/>
                </a:solidFill>
                <a:latin typeface="Aptos"/>
              </a:defRPr>
            </a:pPr>
            <a:r>
              <a:rPr lang="en-US" dirty="0"/>
              <a:t>MODELING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01C32"/>
                </a:solidFill>
                <a:latin typeface="Aptos"/>
              </a:defRPr>
            </a:pPr>
            <a:r>
              <a:t>Threshold Selection: Prioritizing Risk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87586"/>
                </a:solidFill>
                <a:latin typeface="Aptos"/>
              </a:defRPr>
            </a:pPr>
            <a:r>
              <a:t>Threshold dipilih hanya menggunakan validation set dengan recall minimum 65%.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9718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975104"/>
            <a:ext cx="26517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87586"/>
                </a:solidFill>
                <a:latin typeface="Aptos"/>
              </a:defRPr>
            </a:pPr>
            <a:r>
              <a:t>MODEL TERPILIH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67712"/>
            <a:ext cx="265176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101C32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16936"/>
            <a:ext cx="2651760" cy="2103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586"/>
                </a:solidFill>
                <a:latin typeface="Aptos"/>
              </a:defRPr>
            </a:pPr>
            <a:r>
              <a:t>Average Precision tertinggi, lalu ROC-AUC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828800"/>
            <a:ext cx="29718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51960" y="1975104"/>
            <a:ext cx="26517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87586"/>
                </a:solidFill>
                <a:latin typeface="Aptos"/>
              </a:defRPr>
            </a:pPr>
            <a:r>
              <a:t>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267712"/>
            <a:ext cx="265176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101C32"/>
                </a:solidFill>
                <a:latin typeface="Aptos"/>
              </a:defRPr>
            </a:pPr>
            <a:r>
              <a:t>0,4948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916936"/>
            <a:ext cx="1509388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586"/>
                </a:solidFill>
                <a:latin typeface="Aptos"/>
              </a:defRPr>
            </a:pPr>
            <a:r>
              <a:rPr lang="en-US" dirty="0"/>
              <a:t>Skor </a:t>
            </a:r>
            <a:r>
              <a:rPr lang="en-US" dirty="0" err="1"/>
              <a:t>risiko</a:t>
            </a:r>
            <a:r>
              <a:rPr dirty="0"/>
              <a:t> ≥ threshold → Bad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828800"/>
            <a:ext cx="29718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79" y="1975104"/>
            <a:ext cx="26517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87586"/>
                </a:solidFill>
                <a:latin typeface="Aptos"/>
              </a:defRPr>
            </a:pPr>
            <a:r>
              <a:t>RECALL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267712"/>
            <a:ext cx="265176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101C32"/>
                </a:solidFill>
                <a:latin typeface="Aptos"/>
              </a:defRPr>
            </a:pPr>
            <a:r>
              <a:t>65,05%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916936"/>
            <a:ext cx="2651760" cy="2103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586"/>
                </a:solidFill>
                <a:latin typeface="Aptos"/>
              </a:defRPr>
            </a:pPr>
            <a:r>
              <a:t>Melewati batas minimum 65%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794760"/>
            <a:ext cx="103784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4023360"/>
            <a:ext cx="978408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01C32"/>
                </a:solidFill>
                <a:latin typeface="Aptos"/>
              </a:defRPr>
            </a:pPr>
            <a:r>
              <a:rPr dirty="0" err="1"/>
              <a:t>Prinsip</a:t>
            </a:r>
            <a:r>
              <a:rPr dirty="0"/>
              <a:t> </a:t>
            </a:r>
            <a:r>
              <a:rPr dirty="0" err="1"/>
              <a:t>keputusan</a:t>
            </a:r>
            <a:r>
              <a:rPr dirty="0"/>
              <a:t>: di </a:t>
            </a:r>
            <a:r>
              <a:rPr dirty="0" err="1"/>
              <a:t>antara</a:t>
            </a:r>
            <a:r>
              <a:rPr dirty="0"/>
              <a:t> threshold yang </a:t>
            </a:r>
            <a:r>
              <a:rPr dirty="0" err="1"/>
              <a:t>memenuhi</a:t>
            </a:r>
            <a:r>
              <a:rPr dirty="0"/>
              <a:t> recall ≥ 65%, </a:t>
            </a:r>
            <a:r>
              <a:rPr dirty="0" err="1"/>
              <a:t>dipilih</a:t>
            </a:r>
            <a:r>
              <a:rPr dirty="0"/>
              <a:t> yang </a:t>
            </a:r>
            <a:r>
              <a:rPr dirty="0" err="1"/>
              <a:t>memiliki</a:t>
            </a:r>
            <a:r>
              <a:rPr dirty="0"/>
              <a:t> precision </a:t>
            </a:r>
            <a:r>
              <a:rPr dirty="0" err="1"/>
              <a:t>tertinggi</a:t>
            </a:r>
            <a:r>
              <a:rPr dirty="0"/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074920"/>
            <a:ext cx="6184578" cy="27699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87586"/>
                </a:solidFill>
                <a:latin typeface="Aptos"/>
              </a:defRPr>
            </a:pPr>
            <a:r>
              <a:rPr dirty="0"/>
              <a:t>Test set Juli</a:t>
            </a:r>
            <a:r>
              <a:rPr lang="en-US" dirty="0"/>
              <a:t>-</a:t>
            </a:r>
            <a:r>
              <a:rPr dirty="0" err="1"/>
              <a:t>Desember</a:t>
            </a:r>
            <a:r>
              <a:rPr dirty="0"/>
              <a:t> 2014 </a:t>
            </a:r>
            <a:r>
              <a:rPr dirty="0" err="1"/>
              <a:t>tetap</a:t>
            </a:r>
            <a:r>
              <a:rPr dirty="0"/>
              <a:t> </a:t>
            </a:r>
            <a:r>
              <a:rPr dirty="0" err="1"/>
              <a:t>independen</a:t>
            </a:r>
            <a:r>
              <a:rPr dirty="0"/>
              <a:t> dan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digunakan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memilih</a:t>
            </a:r>
            <a:r>
              <a:rPr dirty="0"/>
              <a:t> threshold.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90488"/>
            <a:ext cx="10789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87586"/>
                </a:solidFill>
                <a:latin typeface="Aptos"/>
              </a:defRPr>
            </a:pPr>
            <a:r>
              <a:t>Sumber: Notebook, bagian 5.1.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2480807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87586"/>
                </a:solidFill>
                <a:latin typeface="Aptos"/>
              </a:defRPr>
            </a:pPr>
            <a:r>
              <a:rPr dirty="0"/>
              <a:t>CREDIT RISK PREDICTION </a:t>
            </a:r>
            <a:r>
              <a:rPr lang="en-ID" dirty="0"/>
              <a:t>| WILDAN KHOIRUL AMRI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7315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D648C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01C32"/>
                </a:solidFill>
                <a:latin typeface="Aptos"/>
              </a:defRPr>
            </a:pPr>
            <a:r>
              <a:t>Final Test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87586"/>
                </a:solidFill>
                <a:latin typeface="Aptos"/>
              </a:defRPr>
            </a:pPr>
            <a:r>
              <a:t>Hasil final diukur pada 32.105 baris test set menggunakan threshold 0,4948.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29384"/>
            <a:ext cx="31089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87586"/>
                </a:solidFill>
                <a:latin typeface="Aptos"/>
              </a:defRPr>
            </a:pPr>
            <a:r>
              <a:t>ROC-AUC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21991"/>
            <a:ext cx="310896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101C32"/>
                </a:solidFill>
                <a:latin typeface="Aptos"/>
              </a:defRPr>
            </a:pPr>
            <a:r>
              <a:t>0,6894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783080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929384"/>
            <a:ext cx="31089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87586"/>
                </a:solidFill>
                <a:latin typeface="Aptos"/>
              </a:defRPr>
            </a:pPr>
            <a:r>
              <a:t>AVERAGE 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21991"/>
            <a:ext cx="310896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101C32"/>
                </a:solidFill>
                <a:latin typeface="Aptos"/>
              </a:defRPr>
            </a:pPr>
            <a:r>
              <a:t>0,3488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783080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1929384"/>
            <a:ext cx="31089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87586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221991"/>
            <a:ext cx="310896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101C32"/>
                </a:solidFill>
                <a:latin typeface="Aptos"/>
              </a:defRPr>
            </a:pPr>
            <a:r>
              <a:t>30,83%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291839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438144"/>
            <a:ext cx="31089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87586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730752"/>
            <a:ext cx="310896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101C32"/>
                </a:solidFill>
                <a:latin typeface="Aptos"/>
              </a:defRPr>
            </a:pPr>
            <a:r>
              <a:t>65,63%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291839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3438144"/>
            <a:ext cx="31089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87586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730752"/>
            <a:ext cx="310896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101C32"/>
                </a:solidFill>
                <a:latin typeface="Aptos"/>
              </a:defRPr>
            </a:pPr>
            <a:r>
              <a:t>41,95%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291839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49640" y="3438144"/>
            <a:ext cx="31089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87586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730752"/>
            <a:ext cx="310896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101C32"/>
                </a:solidFill>
                <a:latin typeface="Aptos"/>
              </a:defRPr>
            </a:pPr>
            <a:r>
              <a:t>62,63%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074920"/>
            <a:ext cx="10515600" cy="566928"/>
          </a:xfrm>
          <a:prstGeom prst="roundRect">
            <a:avLst>
              <a:gd name="adj" fmla="val 12000"/>
            </a:avLst>
          </a:prstGeom>
          <a:solidFill>
            <a:srgbClr val="E0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1560" y="5230368"/>
            <a:ext cx="100584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01C32"/>
                </a:solidFill>
                <a:latin typeface="Aptos"/>
              </a:defRPr>
            </a:pPr>
            <a:r>
              <a:t>Recall cukup menangkap sebagian kelas Bad, namun precision rendah menandakan beban false positive yang besar.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190488"/>
            <a:ext cx="10789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87586"/>
                </a:solidFill>
                <a:latin typeface="Aptos"/>
              </a:defRPr>
            </a:pPr>
            <a:r>
              <a:t>Sumber: Notebook, bagian 5.2.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2480807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87586"/>
                </a:solidFill>
                <a:latin typeface="Aptos"/>
              </a:defRPr>
            </a:pPr>
            <a:r>
              <a:rPr dirty="0"/>
              <a:t>CREDIT RISK PREDICTION </a:t>
            </a:r>
            <a:r>
              <a:rPr lang="en-ID" dirty="0"/>
              <a:t>| WILDAN KHOIRUL AMRI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7315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D648C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01C32"/>
                </a:solidFill>
                <a:latin typeface="Aptos"/>
              </a:defRPr>
            </a:pPr>
            <a:r>
              <a:t>Confusion Matrix: The Cost of Misclassification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87586"/>
                </a:solidFill>
                <a:latin typeface="Aptos"/>
              </a:defRPr>
            </a:pPr>
            <a:r>
              <a:t>Kinerja perlu dibaca dari jenis kesalahan, bukan accuracy saja.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554480"/>
            <a:ext cx="43891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2D648C"/>
                </a:solidFill>
                <a:latin typeface="Aptos"/>
              </a:defRPr>
            </a:pPr>
            <a:r>
              <a:t>PREDICTED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9144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687586"/>
                </a:solidFill>
                <a:latin typeface="Aptos"/>
              </a:defRPr>
            </a:pPr>
            <a:r>
              <a:t>ACTUAL</a:t>
            </a:r>
          </a:p>
          <a:p>
            <a:pPr algn="ctr">
              <a:spcAft>
                <a:spcPts val="400"/>
              </a:spcAft>
              <a:defRPr sz="1000" b="1">
                <a:solidFill>
                  <a:srgbClr val="687586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9144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687586"/>
                </a:solidFill>
                <a:latin typeface="Aptos"/>
              </a:defRPr>
            </a:pPr>
            <a:r>
              <a:t>ACTUAL</a:t>
            </a:r>
          </a:p>
          <a:p>
            <a:pPr algn="ctr">
              <a:spcAft>
                <a:spcPts val="400"/>
              </a:spcAft>
              <a:defRPr sz="1000" b="1">
                <a:solidFill>
                  <a:srgbClr val="687586"/>
                </a:solidFill>
                <a:latin typeface="Aptos"/>
              </a:defRPr>
            </a:pPr>
            <a:r>
              <a:t>BAD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783080"/>
            <a:ext cx="21031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687586"/>
                </a:solidFill>
                <a:latin typeface="Aptos"/>
              </a:defRPr>
            </a:pPr>
            <a:r>
              <a:t>GOOD (0)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783080"/>
            <a:ext cx="21031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687586"/>
                </a:solidFill>
                <a:latin typeface="Aptos"/>
              </a:defRPr>
            </a:pPr>
            <a:r>
              <a:t>BAD (1)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05740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DA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03120" y="2277597"/>
            <a:ext cx="192024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101C32"/>
                </a:solidFill>
                <a:latin typeface="Aptos"/>
              </a:defRPr>
            </a:pPr>
            <a:r>
              <a:rPr dirty="0"/>
              <a:t>15.772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5026" y="2660904"/>
            <a:ext cx="996427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687586"/>
                </a:solidFill>
                <a:latin typeface="Aptos"/>
              </a:defRPr>
            </a:pPr>
            <a:r>
              <a:rPr lang="en-ID" dirty="0"/>
              <a:t>Lunas, </a:t>
            </a:r>
            <a:r>
              <a:rPr lang="en-ID" dirty="0" err="1"/>
              <a:t>dinilai</a:t>
            </a:r>
            <a:r>
              <a:rPr lang="en-ID" dirty="0"/>
              <a:t> </a:t>
            </a:r>
            <a:r>
              <a:rPr lang="en-ID" dirty="0" err="1"/>
              <a:t>aman</a:t>
            </a:r>
            <a:endParaRPr lang="en-ID" dirty="0"/>
          </a:p>
        </p:txBody>
      </p:sp>
      <p:sp>
        <p:nvSpPr>
          <p:cNvPr id="13" name="Rounded Rectangle 12"/>
          <p:cNvSpPr/>
          <p:nvPr/>
        </p:nvSpPr>
        <p:spPr>
          <a:xfrm>
            <a:off x="4297680" y="205740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FA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2277597"/>
            <a:ext cx="192024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101C32"/>
                </a:solidFill>
                <a:latin typeface="Aptos"/>
              </a:defRPr>
            </a:pPr>
            <a:r>
              <a:t>9.728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2660904"/>
            <a:ext cx="2132913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687586"/>
                </a:solidFill>
                <a:latin typeface="Aptos"/>
              </a:defRPr>
            </a:pPr>
            <a:r>
              <a:rPr lang="en-US" sz="800" dirty="0"/>
              <a:t>Lunas, </a:t>
            </a:r>
            <a:r>
              <a:rPr lang="en-US" sz="800" dirty="0" err="1"/>
              <a:t>tetap</a:t>
            </a:r>
            <a:r>
              <a:rPr lang="en-US" sz="800" dirty="0"/>
              <a:t> </a:t>
            </a:r>
            <a:r>
              <a:rPr lang="en-US" sz="800" dirty="0" err="1"/>
              <a:t>ditandai</a:t>
            </a:r>
            <a:r>
              <a:rPr lang="en-US" sz="800" dirty="0"/>
              <a:t> </a:t>
            </a:r>
            <a:r>
              <a:rPr lang="en-US" sz="800" dirty="0" err="1"/>
              <a:t>berisiko</a:t>
            </a:r>
            <a:r>
              <a:rPr lang="en-US" sz="800" dirty="0"/>
              <a:t> (salah </a:t>
            </a:r>
            <a:r>
              <a:rPr lang="en-US" sz="800" dirty="0" err="1"/>
              <a:t>deteksi</a:t>
            </a:r>
            <a:r>
              <a:rPr lang="en-US" sz="800" dirty="0"/>
              <a:t>)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2011680" y="315468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FA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03120" y="3374877"/>
            <a:ext cx="192024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101C32"/>
                </a:solidFill>
                <a:latin typeface="Aptos"/>
              </a:defRPr>
            </a:pPr>
            <a:r>
              <a:t>2.270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4319" y="3758184"/>
            <a:ext cx="1757854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687586"/>
                </a:solidFill>
                <a:latin typeface="Aptos"/>
              </a:defRPr>
            </a:pPr>
            <a:r>
              <a:rPr lang="en-US" dirty="0" err="1"/>
              <a:t>Gagal</a:t>
            </a:r>
            <a:r>
              <a:rPr lang="en-US" dirty="0"/>
              <a:t> </a:t>
            </a:r>
            <a:r>
              <a:rPr lang="en-US" dirty="0" err="1"/>
              <a:t>bayar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terdeteksi</a:t>
            </a:r>
            <a:r>
              <a:rPr lang="en-US" dirty="0"/>
              <a:t> </a:t>
            </a:r>
            <a:r>
              <a:rPr lang="en-US" dirty="0" err="1"/>
              <a:t>aman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4297680" y="315468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DA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0" y="3374877"/>
            <a:ext cx="192024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101C32"/>
                </a:solidFill>
                <a:latin typeface="Aptos"/>
              </a:defRPr>
            </a:pPr>
            <a:r>
              <a:t>4.335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4590" y="3758184"/>
            <a:ext cx="1469313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687586"/>
                </a:solidFill>
                <a:latin typeface="Aptos"/>
              </a:defRPr>
            </a:pPr>
            <a:r>
              <a:rPr lang="en-US" dirty="0" err="1"/>
              <a:t>Gagal</a:t>
            </a:r>
            <a:r>
              <a:rPr lang="en-US" dirty="0"/>
              <a:t> </a:t>
            </a:r>
            <a:r>
              <a:rPr lang="en-US" dirty="0" err="1"/>
              <a:t>bayar</a:t>
            </a:r>
            <a:r>
              <a:rPr lang="en-US" dirty="0"/>
              <a:t>, </a:t>
            </a:r>
            <a:r>
              <a:rPr lang="en-US" dirty="0" err="1"/>
              <a:t>terdetaksi</a:t>
            </a:r>
            <a:r>
              <a:rPr lang="en-US" dirty="0"/>
              <a:t> </a:t>
            </a:r>
            <a:r>
              <a:rPr lang="en-US" dirty="0" err="1"/>
              <a:t>benar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6995160" y="2011680"/>
            <a:ext cx="416052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69480" y="2240280"/>
            <a:ext cx="3566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D648C"/>
                </a:solidFill>
                <a:latin typeface="Aptos"/>
              </a:defRPr>
            </a:pPr>
            <a:r>
              <a:t>INTERPRETASI BISNIS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2761488"/>
            <a:ext cx="82296" cy="82296"/>
          </a:xfrm>
          <a:prstGeom prst="rect">
            <a:avLst/>
          </a:prstGeom>
          <a:solidFill>
            <a:srgbClr val="25A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70648" y="2697480"/>
            <a:ext cx="3364991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22D3D"/>
                </a:solidFill>
                <a:latin typeface="Aptos"/>
              </a:defRPr>
            </a:pPr>
            <a:r>
              <a:t>9.728 pinjaman Good salah ditandai Bad.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80" y="3191256"/>
            <a:ext cx="82296" cy="82296"/>
          </a:xfrm>
          <a:prstGeom prst="rect">
            <a:avLst/>
          </a:prstGeom>
          <a:solidFill>
            <a:srgbClr val="25A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70648" y="3127248"/>
            <a:ext cx="3364991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22D3D"/>
                </a:solidFill>
                <a:latin typeface="Aptos"/>
              </a:defRPr>
            </a:pPr>
            <a:r>
              <a:t>2.270 pinjaman Bad tidak terdeteksi.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9480" y="3621024"/>
            <a:ext cx="82296" cy="82296"/>
          </a:xfrm>
          <a:prstGeom prst="rect">
            <a:avLst/>
          </a:prstGeom>
          <a:solidFill>
            <a:srgbClr val="25A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70648" y="3557016"/>
            <a:ext cx="3457328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22D3D"/>
                </a:solidFill>
                <a:latin typeface="Aptos"/>
              </a:defRPr>
            </a:pPr>
            <a:r>
              <a:rPr dirty="0"/>
              <a:t>Trade-off </a:t>
            </a:r>
            <a:r>
              <a:rPr dirty="0" err="1"/>
              <a:t>perlu</a:t>
            </a:r>
            <a:r>
              <a:rPr dirty="0"/>
              <a:t> </a:t>
            </a:r>
            <a:r>
              <a:rPr dirty="0" err="1"/>
              <a:t>disesuaikan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biaya</a:t>
            </a:r>
            <a:r>
              <a:rPr dirty="0"/>
              <a:t> review dan </a:t>
            </a:r>
            <a:r>
              <a:rPr dirty="0" err="1"/>
              <a:t>risiko</a:t>
            </a:r>
            <a:r>
              <a:rPr dirty="0"/>
              <a:t> </a:t>
            </a:r>
            <a:r>
              <a:rPr dirty="0" err="1"/>
              <a:t>gagal</a:t>
            </a:r>
            <a:r>
              <a:rPr dirty="0"/>
              <a:t> </a:t>
            </a:r>
            <a:r>
              <a:rPr dirty="0" err="1"/>
              <a:t>bayar</a:t>
            </a:r>
            <a:r>
              <a:rPr dirty="0"/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190488"/>
            <a:ext cx="10789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87586"/>
                </a:solidFill>
                <a:latin typeface="Aptos"/>
              </a:defRPr>
            </a:pPr>
            <a:r>
              <a:t>Sumber: Notebook, bagian 5.2; test set final.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2480807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87586"/>
                </a:solidFill>
                <a:latin typeface="Aptos"/>
              </a:defRPr>
            </a:pPr>
            <a:r>
              <a:rPr dirty="0"/>
              <a:t>CREDIT RISK PREDICTION </a:t>
            </a:r>
            <a:r>
              <a:rPr lang="en-ID" dirty="0"/>
              <a:t>| WILDAN KHOIRUL AMRI</a:t>
            </a:r>
            <a:endParaRPr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98508D-AA4F-0DEC-A752-2C0A30E72A02}"/>
              </a:ext>
            </a:extLst>
          </p:cNvPr>
          <p:cNvSpPr txBox="1"/>
          <p:nvPr/>
        </p:nvSpPr>
        <p:spPr>
          <a:xfrm>
            <a:off x="2011680" y="2069324"/>
            <a:ext cx="2103120" cy="2154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687586"/>
                </a:solidFill>
                <a:latin typeface="Aptos"/>
              </a:defRPr>
            </a:pPr>
            <a:r>
              <a:rPr dirty="0"/>
              <a:t>TRUE NEGATIVE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3EA71B-33F0-1548-F4C7-BA37726D81D1}"/>
              </a:ext>
            </a:extLst>
          </p:cNvPr>
          <p:cNvSpPr txBox="1"/>
          <p:nvPr/>
        </p:nvSpPr>
        <p:spPr>
          <a:xfrm>
            <a:off x="4389120" y="2098548"/>
            <a:ext cx="19202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687586"/>
                </a:solidFill>
                <a:latin typeface="Aptos"/>
              </a:defRPr>
            </a:pPr>
            <a:r>
              <a:rPr dirty="0"/>
              <a:t>FALSE POSITIVE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6D4742-6192-1B8D-6B8A-A7DCE5C19E21}"/>
              </a:ext>
            </a:extLst>
          </p:cNvPr>
          <p:cNvSpPr txBox="1"/>
          <p:nvPr/>
        </p:nvSpPr>
        <p:spPr>
          <a:xfrm>
            <a:off x="2117672" y="3180588"/>
            <a:ext cx="19202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687586"/>
                </a:solidFill>
                <a:latin typeface="Aptos"/>
              </a:defRPr>
            </a:pPr>
            <a:r>
              <a:rPr dirty="0"/>
              <a:t>FALSE NEGATIVE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26FA4A-BD19-6109-98AD-664297CFF921}"/>
              </a:ext>
            </a:extLst>
          </p:cNvPr>
          <p:cNvSpPr txBox="1"/>
          <p:nvPr/>
        </p:nvSpPr>
        <p:spPr>
          <a:xfrm>
            <a:off x="4389120" y="3180588"/>
            <a:ext cx="19202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687586"/>
                </a:solidFill>
                <a:latin typeface="Aptos"/>
              </a:defRPr>
            </a:pPr>
            <a:r>
              <a:rPr dirty="0"/>
              <a:t>TRUE POSITIVE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7315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D648C"/>
                </a:solidFill>
                <a:latin typeface="Aptos"/>
              </a:defRPr>
            </a:pPr>
            <a:r>
              <a:rPr dirty="0"/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01C32"/>
                </a:solidFill>
                <a:latin typeface="Aptos"/>
              </a:defRPr>
            </a:pPr>
            <a:r>
              <a:rPr dirty="0"/>
              <a:t>Limitations, Risks &amp; Model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87586"/>
                </a:solidFill>
                <a:latin typeface="Aptos"/>
              </a:defRPr>
            </a:pPr>
            <a:r>
              <a:rPr dirty="0"/>
              <a:t>Hasil </a:t>
            </a:r>
            <a:r>
              <a:rPr dirty="0" err="1"/>
              <a:t>evaluasi</a:t>
            </a:r>
            <a:r>
              <a:rPr dirty="0"/>
              <a:t>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bukti</a:t>
            </a:r>
            <a:r>
              <a:rPr dirty="0"/>
              <a:t> </a:t>
            </a:r>
            <a:r>
              <a:rPr dirty="0" err="1"/>
              <a:t>bahwa</a:t>
            </a:r>
            <a:r>
              <a:rPr dirty="0"/>
              <a:t> model </a:t>
            </a:r>
            <a:r>
              <a:rPr dirty="0" err="1"/>
              <a:t>siap</a:t>
            </a:r>
            <a:r>
              <a:rPr dirty="0"/>
              <a:t> </a:t>
            </a:r>
            <a:r>
              <a:rPr dirty="0" err="1"/>
              <a:t>digunakan</a:t>
            </a:r>
            <a:r>
              <a:rPr dirty="0"/>
              <a:t> </a:t>
            </a:r>
            <a:r>
              <a:rPr dirty="0" err="1"/>
              <a:t>dalam</a:t>
            </a:r>
            <a:r>
              <a:rPr dirty="0"/>
              <a:t> </a:t>
            </a:r>
            <a:r>
              <a:rPr dirty="0" err="1"/>
              <a:t>keputusan</a:t>
            </a:r>
            <a:r>
              <a:rPr dirty="0"/>
              <a:t> </a:t>
            </a:r>
            <a:r>
              <a:rPr dirty="0" err="1"/>
              <a:t>kredit</a:t>
            </a:r>
            <a:r>
              <a:rPr dirty="0"/>
              <a:t> </a:t>
            </a:r>
            <a:r>
              <a:rPr dirty="0" err="1"/>
              <a:t>nyata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45720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D648C"/>
                </a:solidFill>
                <a:latin typeface="Aptos"/>
              </a:defRPr>
            </a:pPr>
            <a:r>
              <a:t>BATASAN YANG PERLU DIKETAHUI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423160"/>
            <a:ext cx="4370832" cy="26981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171450" indent="-171450" algn="l">
              <a:lnSpc>
                <a:spcPct val="150000"/>
              </a:lnSpc>
              <a:spcAft>
                <a:spcPts val="400"/>
              </a:spcAft>
              <a:buFont typeface="Wingdings" panose="05000000000000000000" pitchFamily="2" charset="2"/>
              <a:buChar char="§"/>
              <a:defRPr sz="1200" b="0">
                <a:solidFill>
                  <a:srgbClr val="222D3D"/>
                </a:solidFill>
                <a:latin typeface="Aptos"/>
              </a:defRPr>
            </a:pPr>
            <a:r>
              <a:rPr dirty="0"/>
              <a:t>Data </a:t>
            </a:r>
            <a:r>
              <a:rPr dirty="0" err="1"/>
              <a:t>berasal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Lending Club 2007–2014; </a:t>
            </a:r>
            <a:r>
              <a:rPr dirty="0" err="1"/>
              <a:t>kondisi</a:t>
            </a:r>
            <a:r>
              <a:rPr dirty="0"/>
              <a:t> </a:t>
            </a:r>
            <a:r>
              <a:rPr dirty="0" err="1"/>
              <a:t>kredit</a:t>
            </a:r>
            <a:r>
              <a:rPr dirty="0"/>
              <a:t> </a:t>
            </a:r>
            <a:r>
              <a:rPr dirty="0" err="1"/>
              <a:t>dapat</a:t>
            </a:r>
            <a:r>
              <a:rPr dirty="0"/>
              <a:t> </a:t>
            </a:r>
            <a:r>
              <a:rPr dirty="0" err="1"/>
              <a:t>berubah</a:t>
            </a:r>
            <a:r>
              <a:rPr dirty="0"/>
              <a:t>.</a:t>
            </a:r>
            <a:endParaRPr lang="en-US" dirty="0"/>
          </a:p>
          <a:p>
            <a:pPr marL="171450" indent="-171450">
              <a:lnSpc>
                <a:spcPct val="150000"/>
              </a:lnSpc>
              <a:spcAft>
                <a:spcPts val="400"/>
              </a:spcAft>
              <a:buFont typeface="Wingdings" panose="05000000000000000000" pitchFamily="2" charset="2"/>
              <a:buChar char="§"/>
              <a:defRPr sz="1200" b="0">
                <a:solidFill>
                  <a:srgbClr val="222D3D"/>
                </a:solidFill>
                <a:latin typeface="Aptos"/>
              </a:defRPr>
            </a:pPr>
            <a:r>
              <a:rPr lang="en-ID" dirty="0"/>
              <a:t>Hanya outcome final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label;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menimbulkan</a:t>
            </a:r>
            <a:r>
              <a:rPr lang="en-ID" dirty="0"/>
              <a:t> selection bias.</a:t>
            </a:r>
          </a:p>
          <a:p>
            <a:pPr marL="171450" indent="-171450">
              <a:lnSpc>
                <a:spcPct val="150000"/>
              </a:lnSpc>
              <a:spcAft>
                <a:spcPts val="400"/>
              </a:spcAft>
              <a:buFont typeface="Wingdings" panose="05000000000000000000" pitchFamily="2" charset="2"/>
              <a:buChar char="§"/>
              <a:defRPr sz="1200" b="0">
                <a:solidFill>
                  <a:srgbClr val="222D3D"/>
                </a:solidFill>
                <a:latin typeface="Aptos"/>
              </a:defRPr>
            </a:pPr>
            <a:r>
              <a:rPr lang="en-ID" dirty="0"/>
              <a:t>Precision </a:t>
            </a:r>
            <a:r>
              <a:rPr lang="en-ID" dirty="0" err="1"/>
              <a:t>rendah</a:t>
            </a:r>
            <a:r>
              <a:rPr lang="en-ID" dirty="0"/>
              <a:t> </a:t>
            </a:r>
            <a:r>
              <a:rPr lang="en-ID" dirty="0" err="1"/>
              <a:t>berarti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kasus</a:t>
            </a:r>
            <a:r>
              <a:rPr lang="en-ID" dirty="0"/>
              <a:t> yang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ditinjau</a:t>
            </a:r>
            <a:r>
              <a:rPr lang="en-ID" dirty="0"/>
              <a:t>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berstatus</a:t>
            </a:r>
            <a:r>
              <a:rPr lang="en-ID" dirty="0"/>
              <a:t> Bad.</a:t>
            </a:r>
          </a:p>
          <a:p>
            <a:pPr marL="171450" indent="-171450">
              <a:lnSpc>
                <a:spcPct val="150000"/>
              </a:lnSpc>
              <a:spcAft>
                <a:spcPts val="400"/>
              </a:spcAft>
              <a:buFont typeface="Wingdings" panose="05000000000000000000" pitchFamily="2" charset="2"/>
              <a:buChar char="§"/>
              <a:defRPr sz="1200" b="0">
                <a:solidFill>
                  <a:srgbClr val="222D3D"/>
                </a:solidFill>
                <a:latin typeface="Aptos"/>
              </a:defRPr>
            </a:pPr>
            <a:r>
              <a:rPr lang="en-ID" dirty="0"/>
              <a:t>Belum </a:t>
            </a:r>
            <a:r>
              <a:rPr lang="en-ID" dirty="0" err="1"/>
              <a:t>membuktikan</a:t>
            </a:r>
            <a:r>
              <a:rPr lang="en-ID" dirty="0"/>
              <a:t> fairness, </a:t>
            </a:r>
            <a:r>
              <a:rPr lang="en-ID" dirty="0" err="1"/>
              <a:t>kalibrasi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stabilitas</a:t>
            </a:r>
            <a:r>
              <a:rPr lang="en-ID" dirty="0"/>
              <a:t> pada data </a:t>
            </a:r>
            <a:r>
              <a:rPr lang="en-ID" dirty="0" err="1"/>
              <a:t>terbaru</a:t>
            </a:r>
            <a:r>
              <a:rPr lang="en-ID" dirty="0"/>
              <a:t>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22D3D"/>
                </a:solidFill>
                <a:latin typeface="Aptos"/>
              </a:defRPr>
            </a:pP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6263640" y="1737360"/>
            <a:ext cx="5166360" cy="3383280"/>
          </a:xfrm>
          <a:prstGeom prst="roundRect">
            <a:avLst>
              <a:gd name="adj" fmla="val 12000"/>
            </a:avLst>
          </a:prstGeom>
          <a:solidFill>
            <a:srgbClr val="E0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1965960"/>
            <a:ext cx="45720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D648C"/>
                </a:solidFill>
                <a:latin typeface="Aptos"/>
              </a:defRPr>
            </a:pPr>
            <a:r>
              <a:t>FEATURE IMPORTANCE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440680"/>
            <a:ext cx="10424160" cy="457200"/>
          </a:xfrm>
          <a:prstGeom prst="roundRect">
            <a:avLst>
              <a:gd name="adj" fmla="val 12000"/>
            </a:avLst>
          </a:prstGeom>
          <a:solidFill>
            <a:srgbClr val="1D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5550408"/>
            <a:ext cx="100584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Sebelum implementasi: uji pada data lebih baru • evaluasi biaya kesalahan • cek kalibrasi &amp; fairness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90488"/>
            <a:ext cx="10789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87586"/>
                </a:solidFill>
                <a:latin typeface="Aptos"/>
              </a:defRPr>
            </a:pPr>
            <a:r>
              <a:t>Sumber: Notebook, bagian 6.1 dan dokumentasi proyek.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2480807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87586"/>
                </a:solidFill>
                <a:latin typeface="Aptos"/>
              </a:defRPr>
            </a:pPr>
            <a:r>
              <a:rPr dirty="0"/>
              <a:t>CREDIT RISK PREDICTION </a:t>
            </a:r>
            <a:r>
              <a:rPr lang="en-ID" dirty="0"/>
              <a:t>| WILDAN KHOIRUL AMRI</a:t>
            </a:r>
            <a:endParaRPr dirty="0"/>
          </a:p>
        </p:txBody>
      </p: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861969DD-A1AE-4996-8E54-F677D8B3F6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9456861"/>
              </p:ext>
            </p:extLst>
          </p:nvPr>
        </p:nvGraphicFramePr>
        <p:xfrm>
          <a:off x="6263640" y="2107691"/>
          <a:ext cx="5120640" cy="2121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5E5336C4-F4F3-50C4-129D-D49D98DE9592}"/>
              </a:ext>
            </a:extLst>
          </p:cNvPr>
          <p:cNvSpPr txBox="1"/>
          <p:nvPr/>
        </p:nvSpPr>
        <p:spPr>
          <a:xfrm>
            <a:off x="6263640" y="4229100"/>
            <a:ext cx="51663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22D3D"/>
                </a:solidFill>
                <a:latin typeface="Aptos"/>
              </a:defRPr>
            </a:pPr>
            <a:r>
              <a:rPr lang="en-ID" sz="1100" dirty="0">
                <a:solidFill>
                  <a:srgbClr val="222D3D"/>
                </a:solidFill>
                <a:latin typeface="Aptos"/>
              </a:rPr>
              <a:t>Importance </a:t>
            </a:r>
            <a:r>
              <a:rPr lang="en-ID" sz="1100" dirty="0" err="1">
                <a:solidFill>
                  <a:srgbClr val="222D3D"/>
                </a:solidFill>
                <a:latin typeface="Aptos"/>
              </a:rPr>
              <a:t>menunjukkan</a:t>
            </a:r>
            <a:r>
              <a:rPr lang="en-ID" sz="1100" dirty="0">
                <a:solidFill>
                  <a:srgbClr val="222D3D"/>
                </a:solidFill>
                <a:latin typeface="Aptos"/>
              </a:rPr>
              <a:t> </a:t>
            </a:r>
            <a:r>
              <a:rPr lang="en-ID" sz="1100" dirty="0" err="1">
                <a:solidFill>
                  <a:srgbClr val="222D3D"/>
                </a:solidFill>
                <a:latin typeface="Aptos"/>
              </a:rPr>
              <a:t>kontribusi</a:t>
            </a:r>
            <a:r>
              <a:rPr lang="en-ID" sz="1100" dirty="0">
                <a:solidFill>
                  <a:srgbClr val="222D3D"/>
                </a:solidFill>
                <a:latin typeface="Aptos"/>
              </a:rPr>
              <a:t> </a:t>
            </a:r>
            <a:r>
              <a:rPr lang="en-ID" sz="1100" dirty="0" err="1">
                <a:solidFill>
                  <a:srgbClr val="222D3D"/>
                </a:solidFill>
                <a:latin typeface="Aptos"/>
              </a:rPr>
              <a:t>prediktif</a:t>
            </a:r>
            <a:r>
              <a:rPr lang="en-ID" sz="1100" dirty="0">
                <a:solidFill>
                  <a:srgbClr val="222D3D"/>
                </a:solidFill>
                <a:latin typeface="Aptos"/>
              </a:rPr>
              <a:t>, </a:t>
            </a:r>
            <a:r>
              <a:rPr lang="en-ID" sz="1100" dirty="0" err="1">
                <a:solidFill>
                  <a:srgbClr val="222D3D"/>
                </a:solidFill>
                <a:latin typeface="Aptos"/>
              </a:rPr>
              <a:t>bukan</a:t>
            </a:r>
            <a:r>
              <a:rPr lang="en-ID" sz="1100" dirty="0">
                <a:solidFill>
                  <a:srgbClr val="222D3D"/>
                </a:solidFill>
                <a:latin typeface="Aptos"/>
              </a:rPr>
              <a:t> </a:t>
            </a:r>
            <a:r>
              <a:rPr lang="en-ID" sz="1100" dirty="0" err="1">
                <a:solidFill>
                  <a:srgbClr val="222D3D"/>
                </a:solidFill>
                <a:latin typeface="Aptos"/>
              </a:rPr>
              <a:t>kausalitas</a:t>
            </a:r>
            <a:r>
              <a:rPr lang="en-ID" sz="1100" dirty="0">
                <a:solidFill>
                  <a:srgbClr val="222D3D"/>
                </a:solidFill>
                <a:latin typeface="Aptos"/>
              </a:rPr>
              <a:t>. term </a:t>
            </a:r>
            <a:r>
              <a:rPr lang="en-ID" sz="1100" dirty="0" err="1">
                <a:solidFill>
                  <a:srgbClr val="222D3D"/>
                </a:solidFill>
                <a:latin typeface="Aptos"/>
              </a:rPr>
              <a:t>perlu</a:t>
            </a:r>
            <a:r>
              <a:rPr lang="en-ID" sz="1100" dirty="0">
                <a:solidFill>
                  <a:srgbClr val="222D3D"/>
                </a:solidFill>
                <a:latin typeface="Aptos"/>
              </a:rPr>
              <a:t> </a:t>
            </a:r>
            <a:r>
              <a:rPr lang="en-ID" sz="1100" dirty="0" err="1">
                <a:solidFill>
                  <a:srgbClr val="222D3D"/>
                </a:solidFill>
                <a:latin typeface="Aptos"/>
              </a:rPr>
              <a:t>ditinjau</a:t>
            </a:r>
            <a:r>
              <a:rPr lang="en-ID" sz="1100" dirty="0">
                <a:solidFill>
                  <a:srgbClr val="222D3D"/>
                </a:solidFill>
                <a:latin typeface="Aptos"/>
              </a:rPr>
              <a:t> </a:t>
            </a:r>
            <a:r>
              <a:rPr lang="en-ID" sz="1100" dirty="0" err="1">
                <a:solidFill>
                  <a:srgbClr val="222D3D"/>
                </a:solidFill>
                <a:latin typeface="Aptos"/>
              </a:rPr>
              <a:t>terhadap</a:t>
            </a:r>
            <a:r>
              <a:rPr lang="en-ID" sz="1100" dirty="0">
                <a:solidFill>
                  <a:srgbClr val="222D3D"/>
                </a:solidFill>
                <a:latin typeface="Aptos"/>
              </a:rPr>
              <a:t> </a:t>
            </a:r>
            <a:r>
              <a:rPr lang="en-ID" sz="1100" dirty="0" err="1">
                <a:solidFill>
                  <a:srgbClr val="222D3D"/>
                </a:solidFill>
                <a:latin typeface="Aptos"/>
              </a:rPr>
              <a:t>waktu</a:t>
            </a:r>
            <a:r>
              <a:rPr lang="en-ID" sz="1100" dirty="0">
                <a:solidFill>
                  <a:srgbClr val="222D3D"/>
                </a:solidFill>
                <a:latin typeface="Aptos"/>
              </a:rPr>
              <a:t> </a:t>
            </a:r>
            <a:r>
              <a:rPr lang="en-ID" sz="1100" dirty="0" err="1">
                <a:solidFill>
                  <a:srgbClr val="222D3D"/>
                </a:solidFill>
                <a:latin typeface="Aptos"/>
              </a:rPr>
              <a:t>ketersediaannya</a:t>
            </a:r>
            <a:endParaRPr lang="en-ID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7FC7A-476D-3654-4CD4-1A232B935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9144A3-F474-897B-C3A9-D293D29F651D}"/>
              </a:ext>
            </a:extLst>
          </p:cNvPr>
          <p:cNvSpPr txBox="1"/>
          <p:nvPr/>
        </p:nvSpPr>
        <p:spPr>
          <a:xfrm>
            <a:off x="566928" y="292608"/>
            <a:ext cx="780022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D648C"/>
                </a:solidFill>
                <a:latin typeface="Aptos"/>
              </a:defRPr>
            </a:pPr>
            <a:r>
              <a:rPr lang="en-US" dirty="0"/>
              <a:t>SAVE MODEL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A06924-EBE4-A557-1CED-B66A45848013}"/>
              </a:ext>
            </a:extLst>
          </p:cNvPr>
          <p:cNvSpPr txBox="1"/>
          <p:nvPr/>
        </p:nvSpPr>
        <p:spPr>
          <a:xfrm>
            <a:off x="566928" y="621792"/>
            <a:ext cx="4899290" cy="49244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01C32"/>
                </a:solidFill>
                <a:latin typeface="Aptos"/>
              </a:defRPr>
            </a:pPr>
            <a:r>
              <a:rPr lang="en-US" dirty="0"/>
              <a:t>Artifact dan Langkah </a:t>
            </a:r>
            <a:r>
              <a:rPr lang="en-US" dirty="0" err="1"/>
              <a:t>Berikutnya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602245-553C-2D0D-66AD-72ADBCAB497E}"/>
              </a:ext>
            </a:extLst>
          </p:cNvPr>
          <p:cNvSpPr txBox="1"/>
          <p:nvPr/>
        </p:nvSpPr>
        <p:spPr>
          <a:xfrm>
            <a:off x="594360" y="1170432"/>
            <a:ext cx="4633641" cy="26161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87586"/>
                </a:solidFill>
                <a:latin typeface="Aptos"/>
              </a:defRPr>
            </a:pPr>
            <a:r>
              <a:rPr lang="en-ID" dirty="0"/>
              <a:t>Output </a:t>
            </a:r>
            <a:r>
              <a:rPr lang="en-ID" dirty="0" err="1"/>
              <a:t>proyek</a:t>
            </a:r>
            <a:r>
              <a:rPr lang="en-ID" dirty="0"/>
              <a:t> </a:t>
            </a:r>
            <a:r>
              <a:rPr lang="en-ID" dirty="0" err="1"/>
              <a:t>dirancang</a:t>
            </a:r>
            <a:r>
              <a:rPr lang="en-ID" dirty="0"/>
              <a:t> agar model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dimuat</a:t>
            </a:r>
            <a:r>
              <a:rPr lang="en-ID" dirty="0"/>
              <a:t> dan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kembali</a:t>
            </a:r>
            <a:r>
              <a:rPr lang="en-ID"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29747D-E542-D30D-F516-513231901428}"/>
              </a:ext>
            </a:extLst>
          </p:cNvPr>
          <p:cNvSpPr txBox="1"/>
          <p:nvPr/>
        </p:nvSpPr>
        <p:spPr>
          <a:xfrm>
            <a:off x="502920" y="6510528"/>
            <a:ext cx="2480807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87586"/>
                </a:solidFill>
                <a:latin typeface="Aptos"/>
              </a:defRPr>
            </a:pPr>
            <a:r>
              <a:rPr dirty="0"/>
              <a:t>CREDIT RISK PREDICTION </a:t>
            </a:r>
            <a:r>
              <a:rPr lang="en-ID" dirty="0"/>
              <a:t>| WILDAN KHOIRUL AMRI</a:t>
            </a:r>
            <a:endParaRPr dirty="0"/>
          </a:p>
        </p:txBody>
      </p:sp>
      <p:sp>
        <p:nvSpPr>
          <p:cNvPr id="36" name="Rounded Rectangle 4">
            <a:extLst>
              <a:ext uri="{FF2B5EF4-FFF2-40B4-BE49-F238E27FC236}">
                <a16:creationId xmlns:a16="http://schemas.microsoft.com/office/drawing/2014/main" id="{8C0372F2-60DD-0CDA-8CA1-A9545284838D}"/>
              </a:ext>
            </a:extLst>
          </p:cNvPr>
          <p:cNvSpPr/>
          <p:nvPr/>
        </p:nvSpPr>
        <p:spPr>
          <a:xfrm>
            <a:off x="777240" y="1783080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4244E7-3F6C-8EA0-A4FB-45119A392FF6}"/>
              </a:ext>
            </a:extLst>
          </p:cNvPr>
          <p:cNvSpPr txBox="1"/>
          <p:nvPr/>
        </p:nvSpPr>
        <p:spPr>
          <a:xfrm>
            <a:off x="960120" y="1929384"/>
            <a:ext cx="1480534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87586"/>
                </a:solidFill>
                <a:latin typeface="Aptos"/>
              </a:defRPr>
            </a:pPr>
            <a:r>
              <a:rPr lang="en-US" sz="1400" dirty="0"/>
              <a:t>MODEL PIPELINE</a:t>
            </a:r>
            <a:endParaRPr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D787D9-71DB-C342-D3B6-4E42D857DB30}"/>
              </a:ext>
            </a:extLst>
          </p:cNvPr>
          <p:cNvSpPr txBox="1"/>
          <p:nvPr/>
        </p:nvSpPr>
        <p:spPr>
          <a:xfrm>
            <a:off x="960120" y="2221991"/>
            <a:ext cx="2464393" cy="46166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200" b="0">
                <a:solidFill>
                  <a:srgbClr val="DAE2ED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</a:rPr>
              <a:t>credit_risk_random_forest_v2.joblib</a:t>
            </a:r>
          </a:p>
          <a:p>
            <a:pPr>
              <a:defRPr sz="1200" b="0">
                <a:solidFill>
                  <a:srgbClr val="DAE2ED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</a:rPr>
              <a:t>Preprocessing + classifier</a:t>
            </a:r>
          </a:p>
        </p:txBody>
      </p:sp>
      <p:sp>
        <p:nvSpPr>
          <p:cNvPr id="42" name="Rounded Rectangle 8">
            <a:extLst>
              <a:ext uri="{FF2B5EF4-FFF2-40B4-BE49-F238E27FC236}">
                <a16:creationId xmlns:a16="http://schemas.microsoft.com/office/drawing/2014/main" id="{BAC7B6F5-55A4-1D1E-57A8-4958B8AE5568}"/>
              </a:ext>
            </a:extLst>
          </p:cNvPr>
          <p:cNvSpPr/>
          <p:nvPr/>
        </p:nvSpPr>
        <p:spPr>
          <a:xfrm>
            <a:off x="4572000" y="1783080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FC22FD-07D2-2E44-76C4-749ACCE3A98D}"/>
              </a:ext>
            </a:extLst>
          </p:cNvPr>
          <p:cNvSpPr txBox="1"/>
          <p:nvPr/>
        </p:nvSpPr>
        <p:spPr>
          <a:xfrm>
            <a:off x="4754880" y="1929384"/>
            <a:ext cx="1246047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87586"/>
                </a:solidFill>
                <a:latin typeface="Aptos"/>
              </a:defRPr>
            </a:pPr>
            <a:r>
              <a:rPr lang="en-US" sz="1400" dirty="0"/>
              <a:t>KONFIGURASI</a:t>
            </a:r>
            <a:endParaRPr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35FB2F-4458-F765-93C2-9CA1B08FBE3C}"/>
              </a:ext>
            </a:extLst>
          </p:cNvPr>
          <p:cNvSpPr txBox="1"/>
          <p:nvPr/>
        </p:nvSpPr>
        <p:spPr>
          <a:xfrm>
            <a:off x="4754880" y="2221991"/>
            <a:ext cx="2307170" cy="46166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200" b="0">
                <a:solidFill>
                  <a:srgbClr val="DAE2ED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</a:rPr>
              <a:t>credit_risk_model_config_v2.json</a:t>
            </a:r>
          </a:p>
          <a:p>
            <a:pPr>
              <a:defRPr sz="1200" b="0">
                <a:solidFill>
                  <a:srgbClr val="DAE2ED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</a:rPr>
              <a:t>Threshold, </a:t>
            </a:r>
            <a:r>
              <a:rPr lang="en-US" dirty="0" err="1">
                <a:solidFill>
                  <a:schemeClr val="bg1"/>
                </a:solidFill>
              </a:rPr>
              <a:t>fitur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metrik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59C270C1-3613-FA49-9F7E-5648C8343AAF}"/>
              </a:ext>
            </a:extLst>
          </p:cNvPr>
          <p:cNvSpPr/>
          <p:nvPr/>
        </p:nvSpPr>
        <p:spPr>
          <a:xfrm>
            <a:off x="8366760" y="1783080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C16437-2F5A-89EF-7C4F-187A1B291E7A}"/>
              </a:ext>
            </a:extLst>
          </p:cNvPr>
          <p:cNvSpPr txBox="1"/>
          <p:nvPr/>
        </p:nvSpPr>
        <p:spPr>
          <a:xfrm>
            <a:off x="8549640" y="1929384"/>
            <a:ext cx="1317092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87586"/>
                </a:solidFill>
                <a:latin typeface="Aptos"/>
              </a:defRPr>
            </a:pPr>
            <a:r>
              <a:rPr lang="en-US" sz="1400" dirty="0"/>
              <a:t>DOKUMNETASI</a:t>
            </a:r>
            <a:endParaRPr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08FE993-56CE-C810-C808-AD309D4B63E9}"/>
              </a:ext>
            </a:extLst>
          </p:cNvPr>
          <p:cNvSpPr txBox="1"/>
          <p:nvPr/>
        </p:nvSpPr>
        <p:spPr>
          <a:xfrm>
            <a:off x="8549640" y="2221991"/>
            <a:ext cx="1848135" cy="46166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defRPr sz="1200" b="0">
                <a:solidFill>
                  <a:srgbClr val="DAE2ED"/>
                </a:solidFill>
                <a:latin typeface="Aptos"/>
              </a:defRPr>
            </a:pPr>
            <a:r>
              <a:rPr lang="it-IT" dirty="0">
                <a:solidFill>
                  <a:schemeClr val="bg1"/>
                </a:solidFill>
              </a:rPr>
              <a:t>README_v2.md</a:t>
            </a:r>
          </a:p>
          <a:p>
            <a:pPr>
              <a:defRPr sz="1200" b="0">
                <a:solidFill>
                  <a:srgbClr val="DAE2ED"/>
                </a:solidFill>
                <a:latin typeface="Aptos"/>
              </a:defRPr>
            </a:pPr>
            <a:r>
              <a:rPr lang="it-IT" dirty="0">
                <a:solidFill>
                  <a:schemeClr val="bg1"/>
                </a:solidFill>
              </a:rPr>
              <a:t>Metodologi, hasil, batasan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088FC83-0DC4-474A-CD94-C6AABFA76502}"/>
              </a:ext>
            </a:extLst>
          </p:cNvPr>
          <p:cNvSpPr txBox="1"/>
          <p:nvPr/>
        </p:nvSpPr>
        <p:spPr>
          <a:xfrm>
            <a:off x="960120" y="3277118"/>
            <a:ext cx="10424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687586"/>
                </a:solidFill>
                <a:latin typeface="Aptos"/>
              </a:defRPr>
            </a:pPr>
            <a:r>
              <a:rPr sz="1600" b="1" dirty="0">
                <a:solidFill>
                  <a:srgbClr val="687586"/>
                </a:solidFill>
                <a:latin typeface="Aptos"/>
              </a:rPr>
              <a:t>Langkah </a:t>
            </a:r>
            <a:r>
              <a:rPr sz="1600" b="1" dirty="0" err="1">
                <a:solidFill>
                  <a:srgbClr val="687586"/>
                </a:solidFill>
                <a:latin typeface="Aptos"/>
              </a:rPr>
              <a:t>lanjutan</a:t>
            </a:r>
            <a:endParaRPr sz="1600" b="1" dirty="0">
              <a:solidFill>
                <a:srgbClr val="687586"/>
              </a:solidFill>
              <a:latin typeface="Apto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56A275C-6FC3-CC23-F207-C6543A14EBF9}"/>
              </a:ext>
            </a:extLst>
          </p:cNvPr>
          <p:cNvSpPr txBox="1"/>
          <p:nvPr/>
        </p:nvSpPr>
        <p:spPr>
          <a:xfrm>
            <a:off x="1051560" y="3688598"/>
            <a:ext cx="1024128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687586"/>
                </a:solidFill>
                <a:latin typeface="Aptos"/>
              </a:defRPr>
            </a:pPr>
            <a:r>
              <a:rPr sz="1200" dirty="0">
                <a:solidFill>
                  <a:srgbClr val="687586"/>
                </a:solidFill>
                <a:latin typeface="Aptos"/>
              </a:rPr>
              <a:t>1. </a:t>
            </a:r>
            <a:r>
              <a:rPr sz="1200" dirty="0" err="1">
                <a:solidFill>
                  <a:srgbClr val="687586"/>
                </a:solidFill>
                <a:latin typeface="Aptos"/>
              </a:rPr>
              <a:t>Verifikasi</a:t>
            </a:r>
            <a:r>
              <a:rPr sz="1200" dirty="0">
                <a:solidFill>
                  <a:srgbClr val="687586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687586"/>
                </a:solidFill>
                <a:latin typeface="Aptos"/>
              </a:rPr>
              <a:t>seluruh</a:t>
            </a:r>
            <a:r>
              <a:rPr sz="1200" dirty="0">
                <a:solidFill>
                  <a:srgbClr val="687586"/>
                </a:solidFill>
                <a:latin typeface="Aptos"/>
              </a:rPr>
              <a:t> artifact </a:t>
            </a:r>
            <a:r>
              <a:rPr sz="1200" dirty="0" err="1">
                <a:solidFill>
                  <a:srgbClr val="687586"/>
                </a:solidFill>
                <a:latin typeface="Aptos"/>
              </a:rPr>
              <a:t>akhir</a:t>
            </a:r>
            <a:r>
              <a:rPr sz="1200" dirty="0">
                <a:solidFill>
                  <a:srgbClr val="687586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  <a:defRPr sz="1200" b="0">
                <a:solidFill>
                  <a:srgbClr val="687586"/>
                </a:solidFill>
                <a:latin typeface="Aptos"/>
              </a:defRPr>
            </a:pPr>
            <a:r>
              <a:rPr sz="1200" dirty="0">
                <a:solidFill>
                  <a:srgbClr val="687586"/>
                </a:solidFill>
                <a:latin typeface="Aptos"/>
              </a:rPr>
              <a:t>2. </a:t>
            </a:r>
            <a:r>
              <a:rPr sz="1200" dirty="0" err="1">
                <a:solidFill>
                  <a:srgbClr val="687586"/>
                </a:solidFill>
                <a:latin typeface="Aptos"/>
              </a:rPr>
              <a:t>Validasi</a:t>
            </a:r>
            <a:r>
              <a:rPr sz="1200" dirty="0">
                <a:solidFill>
                  <a:srgbClr val="687586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687586"/>
                </a:solidFill>
                <a:latin typeface="Aptos"/>
              </a:rPr>
              <a:t>ketersediaan</a:t>
            </a:r>
            <a:r>
              <a:rPr sz="1200" dirty="0">
                <a:solidFill>
                  <a:srgbClr val="687586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687586"/>
                </a:solidFill>
                <a:latin typeface="Aptos"/>
              </a:rPr>
              <a:t>fitur</a:t>
            </a:r>
            <a:r>
              <a:rPr sz="1200" dirty="0">
                <a:solidFill>
                  <a:srgbClr val="687586"/>
                </a:solidFill>
                <a:latin typeface="Aptos"/>
              </a:rPr>
              <a:t> pada </a:t>
            </a:r>
            <a:r>
              <a:rPr sz="1200" dirty="0" err="1">
                <a:solidFill>
                  <a:srgbClr val="687586"/>
                </a:solidFill>
                <a:latin typeface="Aptos"/>
              </a:rPr>
              <a:t>saat</a:t>
            </a:r>
            <a:r>
              <a:rPr sz="1200" dirty="0">
                <a:solidFill>
                  <a:srgbClr val="687586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687586"/>
                </a:solidFill>
                <a:latin typeface="Aptos"/>
              </a:rPr>
              <a:t>aplikasi</a:t>
            </a:r>
            <a:r>
              <a:rPr sz="1200" dirty="0">
                <a:solidFill>
                  <a:srgbClr val="687586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687586"/>
                </a:solidFill>
                <a:latin typeface="Aptos"/>
              </a:rPr>
              <a:t>kredit</a:t>
            </a:r>
            <a:r>
              <a:rPr sz="1200" dirty="0">
                <a:solidFill>
                  <a:srgbClr val="687586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  <a:defRPr sz="1200" b="0">
                <a:solidFill>
                  <a:srgbClr val="687586"/>
                </a:solidFill>
                <a:latin typeface="Aptos"/>
              </a:defRPr>
            </a:pPr>
            <a:r>
              <a:rPr sz="1200" dirty="0">
                <a:solidFill>
                  <a:srgbClr val="687586"/>
                </a:solidFill>
                <a:latin typeface="Aptos"/>
              </a:rPr>
              <a:t>3. </a:t>
            </a:r>
            <a:r>
              <a:rPr sz="1200" dirty="0" err="1">
                <a:solidFill>
                  <a:srgbClr val="687586"/>
                </a:solidFill>
                <a:latin typeface="Aptos"/>
              </a:rPr>
              <a:t>Kalibrasi</a:t>
            </a:r>
            <a:r>
              <a:rPr sz="1200" dirty="0">
                <a:solidFill>
                  <a:srgbClr val="687586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687586"/>
                </a:solidFill>
                <a:latin typeface="Aptos"/>
              </a:rPr>
              <a:t>probabilitas</a:t>
            </a:r>
            <a:r>
              <a:rPr sz="1200" dirty="0">
                <a:solidFill>
                  <a:srgbClr val="687586"/>
                </a:solidFill>
                <a:latin typeface="Aptos"/>
              </a:rPr>
              <a:t> dan threshold </a:t>
            </a:r>
            <a:r>
              <a:rPr sz="1200" dirty="0" err="1">
                <a:solidFill>
                  <a:srgbClr val="687586"/>
                </a:solidFill>
                <a:latin typeface="Aptos"/>
              </a:rPr>
              <a:t>berdasarkan</a:t>
            </a:r>
            <a:r>
              <a:rPr sz="1200" dirty="0">
                <a:solidFill>
                  <a:srgbClr val="687586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687586"/>
                </a:solidFill>
                <a:latin typeface="Aptos"/>
              </a:rPr>
              <a:t>biaya</a:t>
            </a:r>
            <a:r>
              <a:rPr sz="1200" dirty="0">
                <a:solidFill>
                  <a:srgbClr val="687586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687586"/>
                </a:solidFill>
                <a:latin typeface="Aptos"/>
              </a:rPr>
              <a:t>bisnis</a:t>
            </a:r>
            <a:r>
              <a:rPr sz="1200" dirty="0">
                <a:solidFill>
                  <a:srgbClr val="687586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  <a:defRPr sz="1200" b="0">
                <a:solidFill>
                  <a:srgbClr val="687586"/>
                </a:solidFill>
                <a:latin typeface="Aptos"/>
              </a:defRPr>
            </a:pPr>
            <a:r>
              <a:rPr sz="1200" dirty="0">
                <a:solidFill>
                  <a:srgbClr val="687586"/>
                </a:solidFill>
                <a:latin typeface="Aptos"/>
              </a:rPr>
              <a:t>4. Uji pada data out-of-time yang </a:t>
            </a:r>
            <a:r>
              <a:rPr sz="1200" dirty="0" err="1">
                <a:solidFill>
                  <a:srgbClr val="687586"/>
                </a:solidFill>
                <a:latin typeface="Aptos"/>
              </a:rPr>
              <a:t>lebih</a:t>
            </a:r>
            <a:r>
              <a:rPr sz="1200" dirty="0">
                <a:solidFill>
                  <a:srgbClr val="687586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687586"/>
                </a:solidFill>
                <a:latin typeface="Aptos"/>
              </a:rPr>
              <a:t>baru</a:t>
            </a:r>
            <a:r>
              <a:rPr sz="1200" dirty="0">
                <a:solidFill>
                  <a:srgbClr val="687586"/>
                </a:solidFill>
                <a:latin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4413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777240" y="251460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1D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2724912"/>
            <a:ext cx="5029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5A18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090672"/>
            <a:ext cx="2880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What worked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529584"/>
            <a:ext cx="2880360" cy="4308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D6E0EC"/>
                </a:solidFill>
                <a:latin typeface="Aptos"/>
              </a:defRPr>
            </a:pPr>
            <a:r>
              <a:rPr dirty="0"/>
              <a:t>Model </a:t>
            </a:r>
            <a:r>
              <a:rPr dirty="0" err="1"/>
              <a:t>mendeteksi</a:t>
            </a:r>
            <a:r>
              <a:rPr dirty="0"/>
              <a:t> 65,63% </a:t>
            </a:r>
            <a:r>
              <a:rPr dirty="0" err="1"/>
              <a:t>pinjaman</a:t>
            </a:r>
            <a:r>
              <a:rPr dirty="0"/>
              <a:t> Bad pada test 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51460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1D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73168" y="2724912"/>
            <a:ext cx="5029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5A18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3090672"/>
            <a:ext cx="2880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What needs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3529584"/>
            <a:ext cx="2945444" cy="4308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D6E0EC"/>
                </a:solidFill>
                <a:latin typeface="Aptos"/>
              </a:defRPr>
            </a:pPr>
            <a:r>
              <a:rPr dirty="0"/>
              <a:t>Precision 30,83% </a:t>
            </a:r>
            <a:r>
              <a:rPr dirty="0" err="1"/>
              <a:t>menghasilkan</a:t>
            </a:r>
            <a:r>
              <a:rPr dirty="0"/>
              <a:t> </a:t>
            </a:r>
            <a:r>
              <a:rPr dirty="0" err="1"/>
              <a:t>banyak</a:t>
            </a:r>
            <a:r>
              <a:rPr dirty="0"/>
              <a:t> false positive.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51460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1D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67928" y="2724912"/>
            <a:ext cx="5029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5A18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3090672"/>
            <a:ext cx="2880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What comes 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3529584"/>
            <a:ext cx="2907792" cy="4308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D6E0EC"/>
                </a:solidFill>
                <a:latin typeface="Aptos"/>
              </a:defRPr>
            </a:pPr>
            <a:r>
              <a:rPr dirty="0" err="1"/>
              <a:t>Validasi</a:t>
            </a:r>
            <a:r>
              <a:rPr dirty="0"/>
              <a:t> temporal </a:t>
            </a:r>
            <a:r>
              <a:rPr dirty="0" err="1"/>
              <a:t>terbaru</a:t>
            </a:r>
            <a:r>
              <a:rPr dirty="0"/>
              <a:t>, </a:t>
            </a:r>
            <a:r>
              <a:rPr dirty="0" err="1"/>
              <a:t>kalibrasi</a:t>
            </a:r>
            <a:r>
              <a:rPr dirty="0"/>
              <a:t>, fairness, dan </a:t>
            </a:r>
            <a:r>
              <a:rPr dirty="0" err="1"/>
              <a:t>analisis</a:t>
            </a:r>
            <a:r>
              <a:rPr dirty="0"/>
              <a:t> </a:t>
            </a:r>
            <a:r>
              <a:rPr dirty="0" err="1"/>
              <a:t>biaya</a:t>
            </a:r>
            <a:r>
              <a:rPr dirty="0"/>
              <a:t> </a:t>
            </a:r>
            <a:r>
              <a:rPr dirty="0" err="1"/>
              <a:t>kesalahan</a:t>
            </a:r>
            <a:r>
              <a:rPr dirty="0"/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754880"/>
            <a:ext cx="10698480" cy="822960"/>
          </a:xfrm>
          <a:prstGeom prst="roundRect">
            <a:avLst>
              <a:gd name="adj" fmla="val 12000"/>
            </a:avLst>
          </a:prstGeom>
          <a:solidFill>
            <a:srgbClr val="25A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011465"/>
            <a:ext cx="102412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rPr dirty="0"/>
              <a:t>Kesimpulan: proof of concept </a:t>
            </a:r>
            <a:r>
              <a:rPr dirty="0" err="1"/>
              <a:t>untuk</a:t>
            </a:r>
            <a:r>
              <a:rPr dirty="0"/>
              <a:t> risk screening,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persetujuan</a:t>
            </a:r>
            <a:r>
              <a:rPr dirty="0"/>
              <a:t> </a:t>
            </a:r>
            <a:r>
              <a:rPr dirty="0" err="1"/>
              <a:t>kredit</a:t>
            </a:r>
            <a:r>
              <a:rPr dirty="0"/>
              <a:t> </a:t>
            </a:r>
            <a:r>
              <a:rPr dirty="0" err="1"/>
              <a:t>otomatis</a:t>
            </a:r>
            <a:r>
              <a:rPr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3C52C2-EFE9-0805-BE45-8C73F4CA8B55}"/>
              </a:ext>
            </a:extLst>
          </p:cNvPr>
          <p:cNvSpPr txBox="1"/>
          <p:nvPr/>
        </p:nvSpPr>
        <p:spPr>
          <a:xfrm>
            <a:off x="502920" y="6510528"/>
            <a:ext cx="2480807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87586"/>
                </a:solidFill>
                <a:latin typeface="Aptos"/>
              </a:defRPr>
            </a:pPr>
            <a:r>
              <a:rPr dirty="0"/>
              <a:t>CREDIT RISK PREDICTION </a:t>
            </a:r>
            <a:r>
              <a:rPr lang="en-ID" dirty="0"/>
              <a:t>| WILDAN KHOIRUL AMRI</a:t>
            </a:r>
            <a:endParaRPr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37B857-CDC7-F3AB-31A9-89D36403C806}"/>
              </a:ext>
            </a:extLst>
          </p:cNvPr>
          <p:cNvSpPr txBox="1"/>
          <p:nvPr/>
        </p:nvSpPr>
        <p:spPr>
          <a:xfrm>
            <a:off x="566928" y="292608"/>
            <a:ext cx="1607171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D648C"/>
                </a:solidFill>
                <a:latin typeface="Aptos"/>
              </a:defRPr>
            </a:pPr>
            <a:r>
              <a:rPr lang="en-ID" sz="900" b="1" dirty="0">
                <a:solidFill>
                  <a:srgbClr val="2D648C"/>
                </a:solidFill>
                <a:latin typeface="Aptos"/>
              </a:rPr>
              <a:t>CONCLUSION  /  NEXT STEPS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A58127-ACB9-7368-1A36-CE11CD49307F}"/>
              </a:ext>
            </a:extLst>
          </p:cNvPr>
          <p:cNvSpPr txBox="1"/>
          <p:nvPr/>
        </p:nvSpPr>
        <p:spPr>
          <a:xfrm>
            <a:off x="566928" y="621792"/>
            <a:ext cx="5547929" cy="49244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101C32"/>
                </a:solidFill>
                <a:latin typeface="Aptos"/>
              </a:defRPr>
            </a:pPr>
            <a:r>
              <a:rPr lang="en-US" sz="2600" b="1" dirty="0">
                <a:solidFill>
                  <a:srgbClr val="101C32"/>
                </a:solidFill>
                <a:latin typeface="Aptos"/>
              </a:rPr>
              <a:t>A useful prototype - with clear limits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A8522A-351C-CF34-DED2-8378C5AD4602}"/>
              </a:ext>
            </a:extLst>
          </p:cNvPr>
          <p:cNvSpPr txBox="1"/>
          <p:nvPr/>
        </p:nvSpPr>
        <p:spPr>
          <a:xfrm>
            <a:off x="594360" y="1170432"/>
            <a:ext cx="6356868" cy="26161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87586"/>
                </a:solidFill>
                <a:latin typeface="Aptos"/>
              </a:defRPr>
            </a:pPr>
            <a:r>
              <a:rPr lang="en-ID" sz="1100" dirty="0" err="1">
                <a:solidFill>
                  <a:srgbClr val="687586"/>
                </a:solidFill>
                <a:latin typeface="Aptos"/>
              </a:rPr>
              <a:t>Proyek</a:t>
            </a:r>
            <a:r>
              <a:rPr lang="en-ID" sz="1100" dirty="0">
                <a:solidFill>
                  <a:srgbClr val="687586"/>
                </a:solidFill>
                <a:latin typeface="Aptos"/>
              </a:rPr>
              <a:t> </a:t>
            </a:r>
            <a:r>
              <a:rPr lang="en-ID" sz="1100" dirty="0" err="1">
                <a:solidFill>
                  <a:srgbClr val="687586"/>
                </a:solidFill>
                <a:latin typeface="Aptos"/>
              </a:rPr>
              <a:t>ini</a:t>
            </a:r>
            <a:r>
              <a:rPr lang="en-ID" sz="1100" dirty="0">
                <a:solidFill>
                  <a:srgbClr val="687586"/>
                </a:solidFill>
                <a:latin typeface="Aptos"/>
              </a:rPr>
              <a:t> </a:t>
            </a:r>
            <a:r>
              <a:rPr lang="en-ID" sz="1100" dirty="0" err="1">
                <a:solidFill>
                  <a:srgbClr val="687586"/>
                </a:solidFill>
                <a:latin typeface="Aptos"/>
              </a:rPr>
              <a:t>menunjukkan</a:t>
            </a:r>
            <a:r>
              <a:rPr lang="en-ID" sz="1100" dirty="0">
                <a:solidFill>
                  <a:srgbClr val="687586"/>
                </a:solidFill>
                <a:latin typeface="Aptos"/>
              </a:rPr>
              <a:t> </a:t>
            </a:r>
            <a:r>
              <a:rPr lang="en-ID" sz="1100" dirty="0" err="1">
                <a:solidFill>
                  <a:srgbClr val="687586"/>
                </a:solidFill>
                <a:latin typeface="Aptos"/>
              </a:rPr>
              <a:t>alur</a:t>
            </a:r>
            <a:r>
              <a:rPr lang="en-ID" sz="1100" dirty="0">
                <a:solidFill>
                  <a:srgbClr val="687586"/>
                </a:solidFill>
                <a:latin typeface="Aptos"/>
              </a:rPr>
              <a:t> </a:t>
            </a:r>
            <a:r>
              <a:rPr lang="en-ID" sz="1100" dirty="0" err="1">
                <a:solidFill>
                  <a:srgbClr val="687586"/>
                </a:solidFill>
                <a:latin typeface="Aptos"/>
              </a:rPr>
              <a:t>kerja</a:t>
            </a:r>
            <a:r>
              <a:rPr lang="en-ID" sz="1100" dirty="0">
                <a:solidFill>
                  <a:srgbClr val="687586"/>
                </a:solidFill>
                <a:latin typeface="Aptos"/>
              </a:rPr>
              <a:t> yang </a:t>
            </a:r>
            <a:r>
              <a:rPr lang="en-ID" sz="1100" dirty="0" err="1">
                <a:solidFill>
                  <a:srgbClr val="687586"/>
                </a:solidFill>
                <a:latin typeface="Aptos"/>
              </a:rPr>
              <a:t>dapat</a:t>
            </a:r>
            <a:r>
              <a:rPr lang="en-ID" sz="1100" dirty="0">
                <a:solidFill>
                  <a:srgbClr val="687586"/>
                </a:solidFill>
                <a:latin typeface="Aptos"/>
              </a:rPr>
              <a:t> </a:t>
            </a:r>
            <a:r>
              <a:rPr lang="en-ID" sz="1100" dirty="0" err="1">
                <a:solidFill>
                  <a:srgbClr val="687586"/>
                </a:solidFill>
                <a:latin typeface="Aptos"/>
              </a:rPr>
              <a:t>direproduksi</a:t>
            </a:r>
            <a:r>
              <a:rPr lang="en-ID" sz="1100" dirty="0">
                <a:solidFill>
                  <a:srgbClr val="687586"/>
                </a:solidFill>
                <a:latin typeface="Aptos"/>
              </a:rPr>
              <a:t> </a:t>
            </a:r>
            <a:r>
              <a:rPr lang="en-ID" sz="1100" dirty="0" err="1">
                <a:solidFill>
                  <a:srgbClr val="687586"/>
                </a:solidFill>
                <a:latin typeface="Aptos"/>
              </a:rPr>
              <a:t>dari</a:t>
            </a:r>
            <a:r>
              <a:rPr lang="en-ID" sz="1100" dirty="0">
                <a:solidFill>
                  <a:srgbClr val="687586"/>
                </a:solidFill>
                <a:latin typeface="Aptos"/>
              </a:rPr>
              <a:t> data preparation </a:t>
            </a:r>
            <a:r>
              <a:rPr lang="en-ID" sz="1100" dirty="0" err="1">
                <a:solidFill>
                  <a:srgbClr val="687586"/>
                </a:solidFill>
                <a:latin typeface="Aptos"/>
              </a:rPr>
              <a:t>hingga</a:t>
            </a:r>
            <a:r>
              <a:rPr lang="en-ID" sz="1100" dirty="0">
                <a:solidFill>
                  <a:srgbClr val="687586"/>
                </a:solidFill>
                <a:latin typeface="Aptos"/>
              </a:rPr>
              <a:t> </a:t>
            </a:r>
            <a:r>
              <a:rPr lang="en-ID" sz="1100" dirty="0" err="1">
                <a:solidFill>
                  <a:srgbClr val="687586"/>
                </a:solidFill>
                <a:latin typeface="Aptos"/>
              </a:rPr>
              <a:t>evaluasi</a:t>
            </a:r>
            <a:r>
              <a:rPr lang="en-ID" sz="1100" dirty="0">
                <a:solidFill>
                  <a:srgbClr val="687586"/>
                </a:solidFill>
                <a:latin typeface="Aptos"/>
              </a:rPr>
              <a:t>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4CA25A-DB6C-5E43-2913-6F068B5AB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">
            <a:extLst>
              <a:ext uri="{FF2B5EF4-FFF2-40B4-BE49-F238E27FC236}">
                <a16:creationId xmlns:a16="http://schemas.microsoft.com/office/drawing/2014/main" id="{F7307AF2-8679-B9EA-EA84-F4EE21A8B36D}"/>
              </a:ext>
            </a:extLst>
          </p:cNvPr>
          <p:cNvSpPr/>
          <p:nvPr/>
        </p:nvSpPr>
        <p:spPr>
          <a:xfrm>
            <a:off x="3457575" y="4429125"/>
            <a:ext cx="2457450" cy="371475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">
            <a:extLst>
              <a:ext uri="{FF2B5EF4-FFF2-40B4-BE49-F238E27FC236}">
                <a16:creationId xmlns:a16="http://schemas.microsoft.com/office/drawing/2014/main" id="{923ABE59-4A9F-7694-62DC-56EC762EC8BF}"/>
              </a:ext>
            </a:extLst>
          </p:cNvPr>
          <p:cNvSpPr/>
          <p:nvPr/>
        </p:nvSpPr>
        <p:spPr>
          <a:xfrm>
            <a:off x="6143625" y="4429125"/>
            <a:ext cx="2590800" cy="371475"/>
          </a:xfrm>
          <a:prstGeom prst="roundRect">
            <a:avLst>
              <a:gd name="adj" fmla="val 50000"/>
            </a:avLst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EBAA3A2A-67C7-2A18-A17B-F1A665481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057400"/>
            <a:ext cx="609600" cy="609600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BF93B4B8-5AF5-31C9-2376-641330D13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12" y="2228850"/>
            <a:ext cx="333375" cy="266700"/>
          </a:xfrm>
          <a:prstGeom prst="rect">
            <a:avLst/>
          </a:prstGeom>
        </p:spPr>
      </p:pic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BC60C91C-7888-88AB-F3B7-31C8349DE7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175" y="4543425"/>
            <a:ext cx="142875" cy="142875"/>
          </a:xfrm>
          <a:prstGeom prst="rect">
            <a:avLst/>
          </a:prstGeom>
        </p:spPr>
      </p:pic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AD0265C7-6EA9-21FB-8388-3D1DDD838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4543425"/>
            <a:ext cx="142875" cy="14287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9332B93-9D5A-DB71-B325-22FF58406A0A}"/>
              </a:ext>
            </a:extLst>
          </p:cNvPr>
          <p:cNvSpPr txBox="1"/>
          <p:nvPr/>
        </p:nvSpPr>
        <p:spPr>
          <a:xfrm>
            <a:off x="4264521" y="2895600"/>
            <a:ext cx="3662957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Plus Jakarta Sans"/>
              </a:rPr>
              <a:t>Terima Kasih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4E3068-F46A-32B0-B36D-24119237B0F2}"/>
              </a:ext>
            </a:extLst>
          </p:cNvPr>
          <p:cNvSpPr txBox="1"/>
          <p:nvPr/>
        </p:nvSpPr>
        <p:spPr>
          <a:xfrm>
            <a:off x="2524125" y="3629025"/>
            <a:ext cx="7143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Demikian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portofolio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Credit Risk Prediction. Mari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berdiskusi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lebih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lanjut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mengenai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metodologi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dan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hasil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analisis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13CCAA-71C1-EBBF-D4F7-57315950362E}"/>
              </a:ext>
            </a:extLst>
          </p:cNvPr>
          <p:cNvSpPr txBox="1"/>
          <p:nvPr/>
        </p:nvSpPr>
        <p:spPr>
          <a:xfrm>
            <a:off x="3378993" y="4524375"/>
            <a:ext cx="261461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93C5FD"/>
                </a:solidFill>
                <a:latin typeface="Inter"/>
              </a:rPr>
              <a:t>Repository GitHub Proyek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3B428E-38EA-24E7-C582-B6D24AFAC4BF}"/>
              </a:ext>
            </a:extLst>
          </p:cNvPr>
          <p:cNvSpPr txBox="1"/>
          <p:nvPr/>
        </p:nvSpPr>
        <p:spPr>
          <a:xfrm>
            <a:off x="6048375" y="4524375"/>
            <a:ext cx="278130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125" b="1" i="0" u="none" dirty="0">
                <a:solidFill>
                  <a:srgbClr val="6EE7B7"/>
                </a:solidFill>
                <a:latin typeface="Inter"/>
              </a:rPr>
              <a:t>wildankamri@gmail.com</a:t>
            </a:r>
            <a:endParaRPr sz="1125" b="1" i="0" u="none" dirty="0">
              <a:solidFill>
                <a:srgbClr val="6EE7B7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253337663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502</TotalTime>
  <Words>1387</Words>
  <Application>Microsoft Office PowerPoint</Application>
  <PresentationFormat>Widescreen</PresentationFormat>
  <Paragraphs>284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Arial</vt:lpstr>
      <vt:lpstr>Arial Nova Light</vt:lpstr>
      <vt:lpstr>Calibri</vt:lpstr>
      <vt:lpstr>Inter</vt:lpstr>
      <vt:lpstr>Plus Jakarta Sans</vt:lpstr>
      <vt:lpstr>Wingdings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Risk Prediction: From Historical Loan Data to Risk Signals</dc:title>
  <dc:subject>Portfolio case study for Data Analyst / Data Scientist roles</dc:subject>
  <dc:creator>Portfolio Project</dc:creator>
  <cp:keywords>Credit Risk, Random Forest, Lending Club, Data Science, Classification</cp:keywords>
  <dc:description>generated using python-pptx</dc:description>
  <cp:lastModifiedBy>Wildan Khoirul Amri</cp:lastModifiedBy>
  <cp:revision>16</cp:revision>
  <dcterms:created xsi:type="dcterms:W3CDTF">2013-01-27T09:14:16Z</dcterms:created>
  <dcterms:modified xsi:type="dcterms:W3CDTF">2026-10-15T10:37:24Z</dcterms:modified>
  <cp:category/>
</cp:coreProperties>
</file>