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4.xml" ContentType="application/vnd.openxmlformats-officedocument.presentationml.notesSlide+xml"/>
  <Override PartName="/ppt/slides/slide6.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 id="260" r:id="RelId3"/>
    <p:sldId id="261" r:id="RelId4"/>
    <p:sldId id="262" r:id="RelId5"/>
    <p:sldId id="263" r:id="RelId6"/>
    <p:sldId id="264" r:id="Rel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 Type="http://schemas.openxmlformats.org/officeDocument/2006/relationships/slide" Target="/ppt/slides/slide5.xml" Id="RelId3" /><Relationship Type="http://schemas.openxmlformats.org/officeDocument/2006/relationships/slide" Target="/ppt/slides/slide6.xml" Id="RelId4" /><Relationship Type="http://schemas.openxmlformats.org/officeDocument/2006/relationships/slide" Target="/ppt/slides/slide7.xml" Id="RelId5" /><Relationship Type="http://schemas.openxmlformats.org/officeDocument/2006/relationships/slide" Target="/ppt/slides/slide8.xml" Id="RelId6" /><Relationship Type="http://schemas.openxmlformats.org/officeDocument/2006/relationships/slide" Target="/ppt/slides/slide9.xml" Id="RelId7"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Customer Aktif</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Revenue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Gross Margin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Pencapaian Target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advancedSlicerVisual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pageNavigator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Top 10 Customer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Aktual vs Target per Tahun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Tren Revenue &amp; Order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Kontribusi Revenue Per Region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Revenue Per Material</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Province 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shapeMap</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pageNavigator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level_nav</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year_slicer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Sebaran Penjualan Provinsi</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Layer</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Revenue per Provinsi</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Dimensions 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year_slicer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pageNavigator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Revenue vs Margin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pivotTable</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4.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year_slicer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Selisih Terhadap Target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Jembatan Revenue: Tahun Lalu ke Tahun Ini</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Aktual vs Target per Material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pageNavigator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Penyebab Perubahan Revenue</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5.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pageNavigator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Peta Customer: Recency vs Nilai Belanja</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Tabel Ringkasan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year_slicer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Jumlah Customer per Segmen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advancedSlicerVisual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20 Costumer Beresiko Dengan Nilai Tertinggi</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Revenue per Segmen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6.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pageNavigator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Retensi Customer per Cohort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Ringkasan cohort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Customer Baru per Tahun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Kurva Retensi per Cohort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Revenue per Cohort per Tahun</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7.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Proyeksi 2020 vs Target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Pembanding: Forecast Bawaan Power BI</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Revenue Bulanan dan Proyeksi Sampai Des 2020 (rentang 80%)</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Catatan Metode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Proyeksi Bulanan Mar-Des 2020</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pageNavigator</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8.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Baseline Sisa Tahun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Dampak Tiap Tuas (Revenue Tambahan)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Jembatan Skenario Revenue 2020</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Rekomendasi per Segmen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pageNavigator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Reset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Catatan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cardVisual</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a86406b2-b45e-4299-bf5d-22951b22ace8?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10d121ebbe2340c2" /><Relationship Type="http://schemas.openxmlformats.org/officeDocument/2006/relationships/slideLayout" Target="/ppt/slideLayouts/slideLayout8.xml" Id="R6b4edc5d981e4659" /><Relationship Type="http://schemas.openxmlformats.org/officeDocument/2006/relationships/hyperlink" Target="https://app.powerbi.com/groups/me/reports/a86406b2-b45e-4299-bf5d-22951b22ace8/?pbi_source=PowerPoint" TargetMode="External" Id="RelId0" /><Relationship Type="http://schemas.openxmlformats.org/officeDocument/2006/relationships/image" Target="/ppt/media/image4.png" Id="imgId190815180"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9581321b83924b6c" /><Relationship Type="http://schemas.openxmlformats.org/officeDocument/2006/relationships/slideLayout" Target="/ppt/slideLayouts/slideLayout8.xml" Id="R873900016b6448a8" /><Relationship Type="http://schemas.openxmlformats.org/officeDocument/2006/relationships/hyperlink" Target="https://app.powerbi.com/groups/me/reports/a86406b2-b45e-4299-bf5d-22951b22ace8/?pbi_source=PowerPoint" TargetMode="External" Id="RelId1" /><Relationship Type="http://schemas.openxmlformats.org/officeDocument/2006/relationships/image" Target="/ppt/media/image5.png" Id="imgId190815176"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21ae23b5ba134b60" /><Relationship Type="http://schemas.openxmlformats.org/officeDocument/2006/relationships/slideLayout" Target="/ppt/slideLayouts/slideLayout8.xml" Id="R3abbf7ccc9d74f5f" /><Relationship Type="http://schemas.openxmlformats.org/officeDocument/2006/relationships/hyperlink" Target="https://app.powerbi.com/groups/me/reports/a86406b2-b45e-4299-bf5d-22951b22ace8/?pbi_source=PowerPoint" TargetMode="External" Id="RelId2" /><Relationship Type="http://schemas.openxmlformats.org/officeDocument/2006/relationships/image" Target="/ppt/media/image6.png" Id="imgId190815179" /></Relationships>
</file>

<file path=ppt/slides/_rels/slide5.xml.rels>&#65279;<?xml version="1.0" encoding="utf-8"?><Relationships xmlns="http://schemas.openxmlformats.org/package/2006/relationships"><Relationship Type="http://schemas.openxmlformats.org/officeDocument/2006/relationships/notesSlide" Target="/ppt/notesSlides/notesSlide4.xml" Id="R78b0beb1a9aa4a91" /><Relationship Type="http://schemas.openxmlformats.org/officeDocument/2006/relationships/slideLayout" Target="/ppt/slideLayouts/slideLayout8.xml" Id="R4b9fba5bd88648ad" /><Relationship Type="http://schemas.openxmlformats.org/officeDocument/2006/relationships/hyperlink" Target="https://app.powerbi.com/groups/me/reports/a86406b2-b45e-4299-bf5d-22951b22ace8/?pbi_source=PowerPoint" TargetMode="External" Id="RelId3" /><Relationship Type="http://schemas.openxmlformats.org/officeDocument/2006/relationships/image" Target="/ppt/media/image7.png" Id="imgId190815183" /></Relationships>
</file>

<file path=ppt/slides/_rels/slide6.xml.rels>&#65279;<?xml version="1.0" encoding="utf-8"?><Relationships xmlns="http://schemas.openxmlformats.org/package/2006/relationships"><Relationship Type="http://schemas.openxmlformats.org/officeDocument/2006/relationships/notesSlide" Target="/ppt/notesSlides/notesSlide5.xml" Id="R8f3c89f6203246d3" /><Relationship Type="http://schemas.openxmlformats.org/officeDocument/2006/relationships/slideLayout" Target="/ppt/slideLayouts/slideLayout8.xml" Id="R5745664f39d940db" /><Relationship Type="http://schemas.openxmlformats.org/officeDocument/2006/relationships/hyperlink" Target="https://app.powerbi.com/groups/me/reports/a86406b2-b45e-4299-bf5d-22951b22ace8/?pbi_source=PowerPoint" TargetMode="External" Id="RelId4" /><Relationship Type="http://schemas.openxmlformats.org/officeDocument/2006/relationships/image" Target="/ppt/media/image8.png" Id="imgId190815177" /></Relationships>
</file>

<file path=ppt/slides/_rels/slide7.xml.rels>&#65279;<?xml version="1.0" encoding="utf-8"?><Relationships xmlns="http://schemas.openxmlformats.org/package/2006/relationships"><Relationship Type="http://schemas.openxmlformats.org/officeDocument/2006/relationships/notesSlide" Target="/ppt/notesSlides/notesSlide6.xml" Id="R8238a3d036974a21" /><Relationship Type="http://schemas.openxmlformats.org/officeDocument/2006/relationships/slideLayout" Target="/ppt/slideLayouts/slideLayout8.xml" Id="R6916721b84984ba7" /><Relationship Type="http://schemas.openxmlformats.org/officeDocument/2006/relationships/hyperlink" Target="https://app.powerbi.com/groups/me/reports/a86406b2-b45e-4299-bf5d-22951b22ace8/?pbi_source=PowerPoint" TargetMode="External" Id="RelId5" /><Relationship Type="http://schemas.openxmlformats.org/officeDocument/2006/relationships/image" Target="/ppt/media/image9.png" Id="imgId190815182" /></Relationships>
</file>

<file path=ppt/slides/_rels/slide8.xml.rels>&#65279;<?xml version="1.0" encoding="utf-8"?><Relationships xmlns="http://schemas.openxmlformats.org/package/2006/relationships"><Relationship Type="http://schemas.openxmlformats.org/officeDocument/2006/relationships/notesSlide" Target="/ppt/notesSlides/notesSlide7.xml" Id="R36a677b021ab4f04" /><Relationship Type="http://schemas.openxmlformats.org/officeDocument/2006/relationships/slideLayout" Target="/ppt/slideLayouts/slideLayout8.xml" Id="Rfbf8c184cdb54184" /><Relationship Type="http://schemas.openxmlformats.org/officeDocument/2006/relationships/hyperlink" Target="https://app.powerbi.com/groups/me/reports/a86406b2-b45e-4299-bf5d-22951b22ace8/?pbi_source=PowerPoint" TargetMode="External" Id="RelId6" /><Relationship Type="http://schemas.openxmlformats.org/officeDocument/2006/relationships/image" Target="/ppt/media/imagea.png" Id="imgId190815185" /></Relationships>
</file>

<file path=ppt/slides/_rels/slide9.xml.rels>&#65279;<?xml version="1.0" encoding="utf-8"?><Relationships xmlns="http://schemas.openxmlformats.org/package/2006/relationships"><Relationship Type="http://schemas.openxmlformats.org/officeDocument/2006/relationships/notesSlide" Target="/ppt/notesSlides/notesSlide8.xml" Id="R43d38c7a995a4688" /><Relationship Type="http://schemas.openxmlformats.org/officeDocument/2006/relationships/slideLayout" Target="/ppt/slideLayouts/slideLayout8.xml" Id="R6aa569767bd74a98" /><Relationship Type="http://schemas.openxmlformats.org/officeDocument/2006/relationships/hyperlink" Target="https://app.powerbi.com/groups/me/reports/a86406b2-b45e-4299-bf5d-22951b22ace8/?pbi_source=PowerPoint" TargetMode="External" Id="RelId7" /><Relationship Type="http://schemas.openxmlformats.org/officeDocument/2006/relationships/image" Target="/ppt/media/imageb.png" Id="imgId190815178"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Dashboard_Kerinci_Utama</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10/21/2026 2:08:02 PM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10/20/2026 5:58:13 AM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Customer Aktif ,Total Revenue ,Gross Margin ,textbox ,Pencapaian Target ,advancedSlicerVisual ,pageNavigator ,Top 10 Customer ,Aktual vs Target per Tahun ,Tren Revenue &amp; Order ,Kontribusi Revenue Per Region ,Revenue Per Material.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190815180"/>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Overview</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textbox ,Province Slicer ,shapeMap ,pageNavigator ,level_nav ,slicer ,year_slicer ,Sebaran Penjualan Provinsi ,Layer.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190815176"/>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Map</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Revenue per Provinsi ,Dimensions slicer ,year_slicer ,pageNavigator ,Revenue vs Margin ,textbox ,pivotTable.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190815179"/>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Performance</a:t>
            </a:r>
          </a:p>
        </p:txBody>
      </p:sp>
    </p:spTree>
    <p:clrMapOvr>
      <a:masterClrMapping xmlns:a="http://schemas.openxmlformats.org/drawingml/2006/main"/>
    </p:clrMapOvr>
  </p:cSld>
</p:sld>
</file>

<file path=ppt/slides/slide5.xml><?xml version="1.0" encoding="utf-8"?>
<p:sld xmlns:p="http://schemas.openxmlformats.org/presentationml/2006/main">
  <p:cSld>
    <p:spTree>
      <p:nvGrpSpPr>
        <p:cNvPr id="1" name=""/>
        <p:cNvGrpSpPr/>
        <p:nvPr/>
      </p:nvGrpSpPr>
      <p:grpSpPr/>
      <p:pic>
        <p:nvPicPr>
          <p:cNvPr id="3" name="Picture" title="This slide contains the following visuals: cardVisual ,year_slicer ,textbox ,Selisih Terhadap Target ,cardVisual ,Jembatan Revenue: Tahun Lalu ke Tahun Ini ,cardVisual ,cardVisual ,Aktual vs Target per Material ,pageNavigator ,Penyebab Perubahan Revenue. Please refer to the notes on this slide for details">
            <a:hlinkClick xmlns:r="http://schemas.openxmlformats.org/officeDocument/2006/relationships" xmlns:a="http://schemas.openxmlformats.org/drawingml/2006/main" r:id="RelId3"/>
          </p:cNvPr>
          <p:cNvPicPr>
            <a:picLocks xmlns:a="http://schemas.openxmlformats.org/drawingml/2006/main" noChangeAspect="1"/>
          </p:cNvPicPr>
          <p:nvPr/>
        </p:nvPicPr>
        <p:blipFill>
          <a:blip xmlns:r="http://schemas.openxmlformats.org/officeDocument/2006/relationships" xmlns:a="http://schemas.openxmlformats.org/drawingml/2006/main" r:embed="imgId190815183"/>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Target</a:t>
            </a:r>
          </a:p>
        </p:txBody>
      </p:sp>
    </p:spTree>
    <p:clrMapOvr>
      <a:masterClrMapping xmlns:a="http://schemas.openxmlformats.org/drawingml/2006/main"/>
    </p:clrMapOvr>
  </p:cSld>
</p:sld>
</file>

<file path=ppt/slides/slide6.xml><?xml version="1.0" encoding="utf-8"?>
<p:sld xmlns:p="http://schemas.openxmlformats.org/presentationml/2006/main">
  <p:cSld>
    <p:spTree>
      <p:nvGrpSpPr>
        <p:cNvPr id="1" name=""/>
        <p:cNvGrpSpPr/>
        <p:nvPr/>
      </p:nvGrpSpPr>
      <p:grpSpPr/>
      <p:pic>
        <p:nvPicPr>
          <p:cNvPr id="3" name="Picture" title="This slide contains the following visuals: cardVisual ,pageNavigator ,cardVisual ,Peta Customer: Recency vs Nilai Belanja ,Tabel Ringkasan ,year_slicer ,Jumlah Customer per Segmen ,textbox ,cardVisual ,advancedSlicerVisual ,20 Costumer Beresiko Dengan Nilai Tertinggi ,Revenue per Segmen ,cardVisual. Please refer to the notes on this slide for details">
            <a:hlinkClick xmlns:r="http://schemas.openxmlformats.org/officeDocument/2006/relationships" xmlns:a="http://schemas.openxmlformats.org/drawingml/2006/main" r:id="RelId4"/>
          </p:cNvPr>
          <p:cNvPicPr>
            <a:picLocks xmlns:a="http://schemas.openxmlformats.org/drawingml/2006/main" noChangeAspect="1"/>
          </p:cNvPicPr>
          <p:nvPr/>
        </p:nvPicPr>
        <p:blipFill>
          <a:blip xmlns:r="http://schemas.openxmlformats.org/officeDocument/2006/relationships" xmlns:a="http://schemas.openxmlformats.org/drawingml/2006/main" r:embed="imgId190815177"/>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Segmentation</a:t>
            </a:r>
          </a:p>
        </p:txBody>
      </p:sp>
    </p:spTree>
    <p:clrMapOvr>
      <a:masterClrMapping xmlns:a="http://schemas.openxmlformats.org/drawingml/2006/main"/>
    </p:clrMapOvr>
  </p:cSld>
</p:sld>
</file>

<file path=ppt/slides/slide7.xml><?xml version="1.0" encoding="utf-8"?>
<p:sld xmlns:p="http://schemas.openxmlformats.org/presentationml/2006/main">
  <p:cSld>
    <p:spTree>
      <p:nvGrpSpPr>
        <p:cNvPr id="1" name=""/>
        <p:cNvGrpSpPr/>
        <p:nvPr/>
      </p:nvGrpSpPr>
      <p:grpSpPr/>
      <p:pic>
        <p:nvPicPr>
          <p:cNvPr id="3" name="Picture" title="This slide contains the following visuals: pageNavigator ,Retensi Customer per Cohort ,cardVisual ,textbox ,Ringkasan cohort ,Customer Baru per Tahun ,cardVisual ,Kurva Retensi per Cohort ,textbox ,cardVisual ,cardVisual ,Revenue per Cohort per Tahun. Please refer to the notes on this slide for details">
            <a:hlinkClick xmlns:r="http://schemas.openxmlformats.org/officeDocument/2006/relationships" xmlns:a="http://schemas.openxmlformats.org/drawingml/2006/main" r:id="RelId5"/>
          </p:cNvPr>
          <p:cNvPicPr>
            <a:picLocks xmlns:a="http://schemas.openxmlformats.org/drawingml/2006/main" noChangeAspect="1"/>
          </p:cNvPicPr>
          <p:nvPr/>
        </p:nvPicPr>
        <p:blipFill>
          <a:blip xmlns:r="http://schemas.openxmlformats.org/officeDocument/2006/relationships" xmlns:a="http://schemas.openxmlformats.org/drawingml/2006/main" r:embed="imgId190815182"/>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Cohort</a:t>
            </a:r>
          </a:p>
        </p:txBody>
      </p:sp>
    </p:spTree>
    <p:clrMapOvr>
      <a:masterClrMapping xmlns:a="http://schemas.openxmlformats.org/drawingml/2006/main"/>
    </p:clrMapOvr>
  </p:cSld>
</p:sld>
</file>

<file path=ppt/slides/slide8.xml><?xml version="1.0" encoding="utf-8"?>
<p:sld xmlns:p="http://schemas.openxmlformats.org/presentationml/2006/main">
  <p:cSld>
    <p:spTree>
      <p:nvGrpSpPr>
        <p:cNvPr id="1" name=""/>
        <p:cNvGrpSpPr/>
        <p:nvPr/>
      </p:nvGrpSpPr>
      <p:grpSpPr/>
      <p:pic>
        <p:nvPicPr>
          <p:cNvPr id="3" name="Picture" title="This slide contains the following visuals: Proyeksi 2020 vs Target ,textbox ,cardVisual ,cardVisual ,Pembanding: Forecast Bawaan Power BI ,Revenue Bulanan dan Proyeksi Sampai Des 2020 (rentang 80%) ,Catatan Metode ,cardVisual ,cardVisual ,Proyeksi Bulanan Mar-Des 2020 ,pageNavigator. Please refer to the notes on this slide for details">
            <a:hlinkClick xmlns:r="http://schemas.openxmlformats.org/officeDocument/2006/relationships" xmlns:a="http://schemas.openxmlformats.org/drawingml/2006/main" r:id="RelId6"/>
          </p:cNvPr>
          <p:cNvPicPr>
            <a:picLocks xmlns:a="http://schemas.openxmlformats.org/drawingml/2006/main" noChangeAspect="1"/>
          </p:cNvPicPr>
          <p:nvPr/>
        </p:nvPicPr>
        <p:blipFill>
          <a:blip xmlns:r="http://schemas.openxmlformats.org/officeDocument/2006/relationships" xmlns:a="http://schemas.openxmlformats.org/drawingml/2006/main" r:embed="imgId190815185"/>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Forecast</a:t>
            </a:r>
          </a:p>
        </p:txBody>
      </p:sp>
    </p:spTree>
    <p:clrMapOvr>
      <a:masterClrMapping xmlns:a="http://schemas.openxmlformats.org/drawingml/2006/main"/>
    </p:clrMapOvr>
  </p:cSld>
</p:sld>
</file>

<file path=ppt/slides/slide9.xml><?xml version="1.0" encoding="utf-8"?>
<p:sld xmlns:p="http://schemas.openxmlformats.org/presentationml/2006/main">
  <p:cSld>
    <p:spTree>
      <p:nvGrpSpPr>
        <p:cNvPr id="1" name=""/>
        <p:cNvGrpSpPr/>
        <p:nvPr/>
      </p:nvGrpSpPr>
      <p:grpSpPr/>
      <p:pic>
        <p:nvPicPr>
          <p:cNvPr id="3" name="Picture" title="This slide contains the following visuals: cardVisual ,Baseline Sisa Tahun ,slicer ,Dampak Tiap Tuas (Revenue Tambahan) ,cardVisual ,Jembatan Skenario Revenue 2020 ,slicer ,Rekomendasi per Segmen ,cardVisual ,slicer ,textbox ,textbox ,pageNavigator ,Reset ,Catatan ,cardVisual ,slicer ,shape ,slicer ,cardVisual. Please refer to the notes on this slide for details">
            <a:hlinkClick xmlns:r="http://schemas.openxmlformats.org/officeDocument/2006/relationships" xmlns:a="http://schemas.openxmlformats.org/drawingml/2006/main" r:id="RelId7"/>
          </p:cNvPr>
          <p:cNvPicPr>
            <a:picLocks xmlns:a="http://schemas.openxmlformats.org/drawingml/2006/main" noChangeAspect="1"/>
          </p:cNvPicPr>
          <p:nvPr/>
        </p:nvPicPr>
        <p:blipFill>
          <a:blip xmlns:r="http://schemas.openxmlformats.org/officeDocument/2006/relationships" xmlns:a="http://schemas.openxmlformats.org/drawingml/2006/main" r:embed="imgId190815178"/>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What If</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