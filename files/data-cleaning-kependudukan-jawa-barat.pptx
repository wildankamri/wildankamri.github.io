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jabar.bps.go.id/id/publication/2023/02/28/57231a828abbfdd50a21fe31/provinsi-jawa-barat-dalam-angka-2023.html" TargetMode="External"/><Relationship Id="rId2" Type="http://schemas.openxmlformats.org/officeDocument/2006/relationships/hyperlink" Target="https://jabar.bps.go.id/id/publication/2022/02/25/d0261f828b581d8082bbc6c1/provinsi-jawa-barat-dalam-angka-2022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jabar.bps.go.id/id/publication/2026/02/27/2f027354da10870634aa1648/provinsi-jawa-barat-dalam-angka-2026.html" TargetMode="External"/><Relationship Id="rId5" Type="http://schemas.openxmlformats.org/officeDocument/2006/relationships/hyperlink" Target="https://jabar.bps.go.id/id/publication/2025/02/28/d906b36c4b300ab77908dfe2/provinsi-jawa-barat-dalam-angka-2025.html" TargetMode="External"/><Relationship Id="rId4" Type="http://schemas.openxmlformats.org/officeDocument/2006/relationships/hyperlink" Target="https://jabar.bps.go.id/id/publication/2024/02/28/35ffe2d35104b59feb577e8f/provinsi-jawa-barat-dalam-angka-2024.html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Fg4R4sDvBp4205hZxKDfwmOoYl0blivqPSWMtHC9srg/edit?gid=575462909#gid=575462909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Fg4R4sDvBp4205hZxKDfwmOoYl0blivqPSWMtHC9srg/edit?gid=0#gid=0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cs.google.com/spreadsheets/d/1GUM80oriq8OnbJdt9sT5WHOGPiexogOo5mvXjb-ZgPc/edit?gid=0#gid=0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5074920"/>
            <a:ext cx="2468880" cy="146304"/>
          </a:xfrm>
          <a:prstGeom prst="roundRect">
            <a:avLst>
              <a:gd name="adj" fmla="val 12000"/>
            </a:avLst>
          </a:prstGeom>
          <a:solidFill>
            <a:srgbClr val="E5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5394959"/>
            <a:ext cx="1920240" cy="146304"/>
          </a:xfrm>
          <a:prstGeom prst="roundRect">
            <a:avLst>
              <a:gd name="adj" fmla="val 12000"/>
            </a:avLst>
          </a:prstGeom>
          <a:solidFill>
            <a:srgbClr val="5B9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5715000"/>
            <a:ext cx="1463040" cy="146304"/>
          </a:xfrm>
          <a:prstGeom prst="roundRect">
            <a:avLst>
              <a:gd name="adj" fmla="val 12000"/>
            </a:avLst>
          </a:prstGeom>
          <a:solidFill>
            <a:srgbClr val="8ABB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2743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9D6E6"/>
                </a:solidFill>
                <a:latin typeface="Aptos"/>
              </a:rPr>
              <a:t>DATA ANALYTICS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2743200" cy="2011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ptos"/>
              </a:rPr>
              <a:t>FROM PDF
TO GOLD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3337559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 dirty="0">
                <a:solidFill>
                  <a:srgbClr val="DCEAF2"/>
                </a:solidFill>
                <a:latin typeface="Aptos"/>
              </a:rPr>
              <a:t>Data cleaning • </a:t>
            </a:r>
            <a:r>
              <a:rPr lang="en-ID" sz="1200" b="0" i="0" dirty="0">
                <a:solidFill>
                  <a:srgbClr val="DCEAF2"/>
                </a:solidFill>
                <a:latin typeface="Aptos"/>
              </a:rPr>
              <a:t>Standardization</a:t>
            </a:r>
            <a:r>
              <a:rPr sz="1200" b="0" i="0" dirty="0">
                <a:solidFill>
                  <a:srgbClr val="DCEAF2"/>
                </a:solidFill>
                <a:latin typeface="Aptos"/>
              </a:rPr>
              <a:t> </a:t>
            </a:r>
            <a:endParaRPr lang="en-US" sz="1200" b="0" i="0" dirty="0">
              <a:solidFill>
                <a:srgbClr val="DCEAF2"/>
              </a:solidFill>
              <a:latin typeface="Aptos"/>
            </a:endParaRPr>
          </a:p>
          <a:p>
            <a:r>
              <a:rPr lang="en-ID" sz="1200" dirty="0">
                <a:solidFill>
                  <a:srgbClr val="DCEAF2"/>
                </a:solidFill>
                <a:latin typeface="Aptos"/>
              </a:rPr>
              <a:t>Google Sheet </a:t>
            </a:r>
            <a:r>
              <a:rPr sz="1200" b="0" i="0" dirty="0">
                <a:solidFill>
                  <a:srgbClr val="DCEAF2"/>
                </a:solidFill>
                <a:latin typeface="Aptos"/>
              </a:rPr>
              <a:t>• Quality assurance</a:t>
            </a:r>
            <a:endParaRPr lang="en-US" sz="1200" b="0" i="0" dirty="0">
              <a:solidFill>
                <a:srgbClr val="DCEAF2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6172200"/>
            <a:ext cx="27432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900" b="1" i="0" dirty="0">
                <a:solidFill>
                  <a:srgbClr val="B9D6E6"/>
                </a:solidFill>
                <a:latin typeface="Aptos"/>
              </a:rPr>
              <a:t>WILDAN KHOIRUL AMRI</a:t>
            </a:r>
            <a:endParaRPr sz="900" b="1" i="0" dirty="0">
              <a:solidFill>
                <a:srgbClr val="B9D6E6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34840" y="1170432"/>
            <a:ext cx="69494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6324F"/>
                </a:solidFill>
                <a:latin typeface="Aptos"/>
              </a:rPr>
              <a:t>WEST JAVA POPULATION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719072"/>
            <a:ext cx="69494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976A8"/>
                </a:solidFill>
                <a:latin typeface="Aptos"/>
              </a:rPr>
              <a:t>Data Cleaning &amp; Standardization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514600"/>
            <a:ext cx="658368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53746"/>
                </a:solidFill>
                <a:latin typeface="Aptos"/>
              </a:rPr>
              <a:t>Mengubah tabel kependudukan dari publikasi BPS menjadi dataset terstruktur, terlacak sumbernya, dan siap digunakan untuk analisis.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84048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0288" y="4096512"/>
            <a:ext cx="1645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6324F"/>
                </a:solidFill>
                <a:latin typeface="Aptos"/>
              </a:rPr>
              <a:t>PDF BPS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4443984"/>
            <a:ext cx="1645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27383"/>
                </a:solidFill>
                <a:latin typeface="Aptos"/>
              </a:rPr>
              <a:t>Sumber resmi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384048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22008" y="4096512"/>
            <a:ext cx="1645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6324F"/>
                </a:solidFill>
                <a:latin typeface="Aptos"/>
              </a:rPr>
              <a:t>RAW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8" y="4443984"/>
            <a:ext cx="1645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27383"/>
                </a:solidFill>
                <a:latin typeface="Aptos"/>
              </a:rPr>
              <a:t>Data sumber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384048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53728" y="4096512"/>
            <a:ext cx="1645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6324F"/>
                </a:solidFill>
                <a:latin typeface="Aptos"/>
              </a:rPr>
              <a:t>GOLD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4443984"/>
            <a:ext cx="1645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27383"/>
                </a:solidFill>
                <a:latin typeface="Aptos"/>
              </a:rPr>
              <a:t>Data terstandar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0" y="4315968"/>
            <a:ext cx="320040" cy="0"/>
          </a:xfrm>
          <a:prstGeom prst="line">
            <a:avLst/>
          </a:prstGeom>
          <a:ln w="25400">
            <a:solidFill>
              <a:srgbClr val="E58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732520" y="4315968"/>
            <a:ext cx="320040" cy="0"/>
          </a:xfrm>
          <a:prstGeom prst="line">
            <a:avLst/>
          </a:prstGeom>
          <a:ln w="25400">
            <a:solidFill>
              <a:srgbClr val="197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4864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dirty="0">
                <a:solidFill>
                  <a:srgbClr val="1976A8"/>
                </a:solidFill>
                <a:latin typeface="Aptos"/>
              </a:rPr>
              <a:t>1  | 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324F"/>
                </a:solidFill>
                <a:latin typeface="Aptos"/>
              </a:rPr>
              <a:t>Mengapa data ini perlu dibersihkan?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4937760" cy="65864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 dirty="0">
                <a:solidFill>
                  <a:srgbClr val="16324F"/>
                </a:solidFill>
                <a:latin typeface="Aptos"/>
              </a:rPr>
              <a:t>Tabel PDF </a:t>
            </a:r>
            <a:r>
              <a:rPr sz="1900" b="1" i="0" dirty="0" err="1">
                <a:solidFill>
                  <a:srgbClr val="16324F"/>
                </a:solidFill>
                <a:latin typeface="Aptos"/>
              </a:rPr>
              <a:t>dirancang</a:t>
            </a:r>
            <a:r>
              <a:rPr sz="1900" b="1" i="0" dirty="0">
                <a:solidFill>
                  <a:srgbClr val="16324F"/>
                </a:solidFill>
                <a:latin typeface="Aptos"/>
              </a:rPr>
              <a:t> </a:t>
            </a:r>
            <a:r>
              <a:rPr sz="1900" b="1" i="0" dirty="0" err="1">
                <a:solidFill>
                  <a:srgbClr val="16324F"/>
                </a:solidFill>
                <a:latin typeface="Aptos"/>
              </a:rPr>
              <a:t>untuk</a:t>
            </a:r>
            <a:r>
              <a:rPr sz="1900" b="1" i="0" dirty="0">
                <a:solidFill>
                  <a:srgbClr val="16324F"/>
                </a:solidFill>
                <a:latin typeface="Aptos"/>
              </a:rPr>
              <a:t> </a:t>
            </a:r>
            <a:r>
              <a:rPr sz="1900" b="1" i="0" dirty="0" err="1">
                <a:solidFill>
                  <a:srgbClr val="16324F"/>
                </a:solidFill>
                <a:latin typeface="Aptos"/>
              </a:rPr>
              <a:t>dibaca</a:t>
            </a:r>
            <a:r>
              <a:rPr sz="1900" b="1" i="0" dirty="0">
                <a:solidFill>
                  <a:srgbClr val="16324F"/>
                </a:solidFill>
                <a:latin typeface="Aptos"/>
              </a:rPr>
              <a:t> </a:t>
            </a:r>
            <a:r>
              <a:rPr sz="1900" b="1" i="0" dirty="0" err="1">
                <a:solidFill>
                  <a:srgbClr val="16324F"/>
                </a:solidFill>
                <a:latin typeface="Aptos"/>
              </a:rPr>
              <a:t>manusia</a:t>
            </a:r>
            <a:r>
              <a:rPr lang="en-US" sz="1900" b="1" dirty="0">
                <a:solidFill>
                  <a:srgbClr val="16324F"/>
                </a:solidFill>
                <a:latin typeface="Aptos"/>
              </a:rPr>
              <a:t>, </a:t>
            </a:r>
            <a:r>
              <a:rPr sz="1900" b="1" i="0" dirty="0" err="1">
                <a:solidFill>
                  <a:srgbClr val="16324F"/>
                </a:solidFill>
                <a:latin typeface="Aptos"/>
              </a:rPr>
              <a:t>bukan</a:t>
            </a:r>
            <a:r>
              <a:rPr sz="1900" b="1" i="0" dirty="0">
                <a:solidFill>
                  <a:srgbClr val="16324F"/>
                </a:solidFill>
                <a:latin typeface="Aptos"/>
              </a:rPr>
              <a:t> </a:t>
            </a:r>
            <a:r>
              <a:rPr sz="1900" b="1" i="0" dirty="0" err="1">
                <a:solidFill>
                  <a:srgbClr val="16324F"/>
                </a:solidFill>
                <a:latin typeface="Aptos"/>
              </a:rPr>
              <a:t>langsung</a:t>
            </a:r>
            <a:r>
              <a:rPr sz="1900" b="1" i="0" dirty="0">
                <a:solidFill>
                  <a:srgbClr val="16324F"/>
                </a:solidFill>
                <a:latin typeface="Aptos"/>
              </a:rPr>
              <a:t> </a:t>
            </a:r>
            <a:r>
              <a:rPr sz="1900" b="1" i="0" dirty="0" err="1">
                <a:solidFill>
                  <a:srgbClr val="16324F"/>
                </a:solidFill>
                <a:latin typeface="Aptos"/>
              </a:rPr>
              <a:t>dianalisis</a:t>
            </a:r>
            <a:r>
              <a:rPr sz="1900" b="1" i="0" dirty="0">
                <a:solidFill>
                  <a:srgbClr val="16324F"/>
                </a:solidFill>
                <a:latin typeface="Apto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11680"/>
            <a:ext cx="35204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2157984"/>
            <a:ext cx="313639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324F"/>
                </a:solidFill>
                <a:latin typeface="Aptos"/>
              </a:rPr>
              <a:t>Struktur tidak seragam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542032"/>
            <a:ext cx="3136392" cy="7955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3746"/>
                </a:solidFill>
                <a:latin typeface="Aptos"/>
              </a:rPr>
              <a:t>Header bertingkat, susunan tabel, dan layout publikasi berbeda antarperiode.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011680"/>
            <a:ext cx="35204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2157984"/>
            <a:ext cx="313639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324F"/>
                </a:solidFill>
                <a:latin typeface="Aptos"/>
              </a:rPr>
              <a:t>Risiko saat copy–paste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542032"/>
            <a:ext cx="3136392" cy="7955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3746"/>
                </a:solidFill>
                <a:latin typeface="Aptos"/>
              </a:rPr>
              <a:t>Nilai dan nama wilayah dapat tergabung atau terpecah di kolom yang salah.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011680"/>
            <a:ext cx="35204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93608" y="2157984"/>
            <a:ext cx="313639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324F"/>
                </a:solidFill>
                <a:latin typeface="Aptos"/>
              </a:rPr>
              <a:t>Sulit digabungkan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542032"/>
            <a:ext cx="3136392" cy="7955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3746"/>
                </a:solidFill>
                <a:latin typeface="Aptos"/>
              </a:rPr>
              <a:t>Data perlu diseragamkan agar bisa dibandingkan lintas wilayah dan tahun.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977639"/>
            <a:ext cx="10927080" cy="1325880"/>
          </a:xfrm>
          <a:prstGeom prst="roundRect">
            <a:avLst>
              <a:gd name="adj" fmla="val 12000"/>
            </a:avLst>
          </a:prstGeom>
          <a:solidFill>
            <a:srgbClr val="EA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22452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76A8"/>
                </a:solidFill>
                <a:latin typeface="Aptos"/>
              </a:rPr>
              <a:t>TUJUAN PROYEK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72000"/>
            <a:ext cx="99669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6324F"/>
                </a:solidFill>
                <a:latin typeface="Aptos"/>
              </a:rPr>
              <a:t>Menyusun data penduduk berdasarkan jenis kelamin dan luas wilayah ke dalam satu struktur yang konsisten, lengkap, dan dapat ditelusuri ke sumber BPS.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06440"/>
            <a:ext cx="1078992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200" b="0" i="1" dirty="0" err="1">
                <a:solidFill>
                  <a:srgbClr val="627383"/>
                </a:solidFill>
                <a:latin typeface="Aptos"/>
              </a:rPr>
              <a:t>Fokus</a:t>
            </a:r>
            <a:r>
              <a:rPr lang="en-ID" sz="1200" b="0" i="1" dirty="0">
                <a:solidFill>
                  <a:srgbClr val="627383"/>
                </a:solidFill>
                <a:latin typeface="Aptos"/>
              </a:rPr>
              <a:t> </a:t>
            </a:r>
            <a:r>
              <a:rPr lang="en-ID" sz="1200" b="0" i="1" dirty="0" err="1">
                <a:solidFill>
                  <a:srgbClr val="627383"/>
                </a:solidFill>
                <a:latin typeface="Aptos"/>
              </a:rPr>
              <a:t>proyek</a:t>
            </a:r>
            <a:r>
              <a:rPr lang="en-ID" sz="1200" b="0" i="1" dirty="0">
                <a:solidFill>
                  <a:srgbClr val="627383"/>
                </a:solidFill>
                <a:latin typeface="Aptos"/>
              </a:rPr>
              <a:t>: </a:t>
            </a:r>
            <a:r>
              <a:rPr lang="en-ID" sz="1200" b="0" i="1" dirty="0" err="1">
                <a:solidFill>
                  <a:srgbClr val="627383"/>
                </a:solidFill>
                <a:latin typeface="Aptos"/>
              </a:rPr>
              <a:t>meningkatkan</a:t>
            </a:r>
            <a:r>
              <a:rPr lang="en-ID" sz="1200" b="0" i="1" dirty="0">
                <a:solidFill>
                  <a:srgbClr val="627383"/>
                </a:solidFill>
                <a:latin typeface="Aptos"/>
              </a:rPr>
              <a:t> </a:t>
            </a:r>
            <a:r>
              <a:rPr lang="en-ID" sz="1200" b="0" i="1" dirty="0" err="1">
                <a:solidFill>
                  <a:srgbClr val="627383"/>
                </a:solidFill>
                <a:latin typeface="Aptos"/>
              </a:rPr>
              <a:t>kualitas</a:t>
            </a:r>
            <a:r>
              <a:rPr lang="en-ID" sz="1200" b="0" i="1" dirty="0">
                <a:solidFill>
                  <a:srgbClr val="627383"/>
                </a:solidFill>
                <a:latin typeface="Aptos"/>
              </a:rPr>
              <a:t>, </a:t>
            </a:r>
            <a:r>
              <a:rPr lang="en-ID" sz="1200" b="0" i="1" dirty="0" err="1">
                <a:solidFill>
                  <a:srgbClr val="627383"/>
                </a:solidFill>
                <a:latin typeface="Aptos"/>
              </a:rPr>
              <a:t>konsistensi</a:t>
            </a:r>
            <a:r>
              <a:rPr lang="en-ID" sz="1200" b="0" i="1" dirty="0">
                <a:solidFill>
                  <a:srgbClr val="627383"/>
                </a:solidFill>
                <a:latin typeface="Aptos"/>
              </a:rPr>
              <a:t>, dan </a:t>
            </a:r>
            <a:r>
              <a:rPr lang="en-ID" sz="1200" b="0" i="1" dirty="0" err="1">
                <a:solidFill>
                  <a:srgbClr val="627383"/>
                </a:solidFill>
                <a:latin typeface="Aptos"/>
              </a:rPr>
              <a:t>keterlacakan</a:t>
            </a:r>
            <a:r>
              <a:rPr lang="en-ID" sz="1200" b="0" i="1" dirty="0">
                <a:solidFill>
                  <a:srgbClr val="627383"/>
                </a:solidFill>
                <a:latin typeface="Aptos"/>
              </a:rPr>
              <a:t> data </a:t>
            </a:r>
            <a:r>
              <a:rPr lang="en-ID" sz="1200" b="0" i="1" dirty="0" err="1">
                <a:solidFill>
                  <a:srgbClr val="627383"/>
                </a:solidFill>
                <a:latin typeface="Aptos"/>
              </a:rPr>
              <a:t>sebagai</a:t>
            </a:r>
            <a:r>
              <a:rPr lang="en-ID" sz="1200" b="0" i="1" dirty="0">
                <a:solidFill>
                  <a:srgbClr val="627383"/>
                </a:solidFill>
                <a:latin typeface="Aptos"/>
              </a:rPr>
              <a:t> </a:t>
            </a:r>
            <a:r>
              <a:rPr lang="en-ID" sz="1200" b="0" i="1" dirty="0" err="1">
                <a:solidFill>
                  <a:srgbClr val="627383"/>
                </a:solidFill>
                <a:latin typeface="Aptos"/>
              </a:rPr>
              <a:t>fondasi</a:t>
            </a:r>
            <a:r>
              <a:rPr lang="en-ID" sz="1200" b="0" i="1" dirty="0">
                <a:solidFill>
                  <a:srgbClr val="627383"/>
                </a:solidFill>
                <a:latin typeface="Aptos"/>
              </a:rPr>
              <a:t> </a:t>
            </a:r>
            <a:r>
              <a:rPr lang="en-ID" sz="1200" b="0" i="1" dirty="0" err="1">
                <a:solidFill>
                  <a:srgbClr val="627383"/>
                </a:solidFill>
                <a:latin typeface="Aptos"/>
              </a:rPr>
              <a:t>untuk</a:t>
            </a:r>
            <a:r>
              <a:rPr lang="en-ID" sz="1200" b="0" i="1" dirty="0">
                <a:solidFill>
                  <a:srgbClr val="627383"/>
                </a:solidFill>
                <a:latin typeface="Aptos"/>
              </a:rPr>
              <a:t> </a:t>
            </a:r>
            <a:r>
              <a:rPr lang="en-ID" sz="1200" b="0" i="1" dirty="0" err="1">
                <a:solidFill>
                  <a:srgbClr val="627383"/>
                </a:solidFill>
                <a:latin typeface="Aptos"/>
              </a:rPr>
              <a:t>analisis</a:t>
            </a:r>
            <a:r>
              <a:rPr lang="en-ID" sz="1200" b="0" i="1" dirty="0">
                <a:solidFill>
                  <a:srgbClr val="627383"/>
                </a:solidFill>
                <a:latin typeface="Aptos"/>
              </a:rPr>
              <a:t> </a:t>
            </a:r>
            <a:r>
              <a:rPr lang="en-ID" sz="1200" b="0" i="1" dirty="0" err="1">
                <a:solidFill>
                  <a:srgbClr val="627383"/>
                </a:solidFill>
                <a:latin typeface="Aptos"/>
              </a:rPr>
              <a:t>lanjutan</a:t>
            </a:r>
            <a:r>
              <a:rPr lang="en-ID" sz="1200" b="0" i="1" dirty="0">
                <a:solidFill>
                  <a:srgbClr val="627383"/>
                </a:solidFill>
                <a:latin typeface="Aptos"/>
              </a:rPr>
              <a:t> dan </a:t>
            </a:r>
            <a:r>
              <a:rPr lang="en-ID" sz="1200" b="0" i="1" dirty="0" err="1">
                <a:solidFill>
                  <a:srgbClr val="627383"/>
                </a:solidFill>
                <a:latin typeface="Aptos"/>
              </a:rPr>
              <a:t>pengembangan</a:t>
            </a:r>
            <a:r>
              <a:rPr lang="en-ID" sz="1200" b="0" i="1" dirty="0">
                <a:solidFill>
                  <a:srgbClr val="627383"/>
                </a:solidFill>
                <a:latin typeface="Aptos"/>
              </a:rPr>
              <a:t> dashboard.</a:t>
            </a:r>
            <a:endParaRPr sz="1200" b="0" i="1" dirty="0">
              <a:solidFill>
                <a:srgbClr val="62738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4864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900" b="1" i="0" dirty="0">
                <a:solidFill>
                  <a:srgbClr val="1976A8"/>
                </a:solidFill>
                <a:latin typeface="Aptos"/>
              </a:rPr>
              <a:t>2</a:t>
            </a:r>
            <a:r>
              <a:rPr sz="900" b="1" i="0" dirty="0">
                <a:solidFill>
                  <a:srgbClr val="1976A8"/>
                </a:solidFill>
                <a:latin typeface="Aptos"/>
              </a:rPr>
              <a:t>  |  DATA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 dirty="0" err="1">
                <a:solidFill>
                  <a:srgbClr val="16324F"/>
                </a:solidFill>
                <a:latin typeface="Aptos"/>
              </a:rPr>
              <a:t>Cakupan</a:t>
            </a:r>
            <a:r>
              <a:rPr sz="2500" b="1" i="0" dirty="0">
                <a:solidFill>
                  <a:srgbClr val="16324F"/>
                </a:solidFill>
                <a:latin typeface="Aptos"/>
              </a:rPr>
              <a:t> data dan </a:t>
            </a:r>
            <a:r>
              <a:rPr sz="2500" b="1" i="0" dirty="0" err="1">
                <a:solidFill>
                  <a:srgbClr val="16324F"/>
                </a:solidFill>
                <a:latin typeface="Aptos"/>
              </a:rPr>
              <a:t>sumber</a:t>
            </a:r>
            <a:r>
              <a:rPr sz="2500" b="1" i="0" dirty="0">
                <a:solidFill>
                  <a:srgbClr val="16324F"/>
                </a:solidFill>
                <a:latin typeface="Aptos"/>
              </a:rPr>
              <a:t> </a:t>
            </a:r>
            <a:r>
              <a:rPr sz="2500" b="1" i="0" dirty="0" err="1">
                <a:solidFill>
                  <a:srgbClr val="16324F"/>
                </a:solidFill>
                <a:latin typeface="Aptos"/>
              </a:rPr>
              <a:t>resmi</a:t>
            </a:r>
            <a:endParaRPr sz="2500" b="1" i="0" dirty="0">
              <a:solidFill>
                <a:srgbClr val="16324F"/>
              </a:solidFill>
              <a:latin typeface="Aptos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7DC515A-E60B-0C23-77ED-6DF060876F02}"/>
              </a:ext>
            </a:extLst>
          </p:cNvPr>
          <p:cNvGrpSpPr/>
          <p:nvPr/>
        </p:nvGrpSpPr>
        <p:grpSpPr>
          <a:xfrm>
            <a:off x="594360" y="1939746"/>
            <a:ext cx="3886200" cy="960120"/>
            <a:chOff x="594360" y="1325880"/>
            <a:chExt cx="3886200" cy="960120"/>
          </a:xfrm>
        </p:grpSpPr>
        <p:sp>
          <p:nvSpPr>
            <p:cNvPr id="8" name="Rounded Rectangle 7"/>
            <p:cNvSpPr/>
            <p:nvPr/>
          </p:nvSpPr>
          <p:spPr>
            <a:xfrm>
              <a:off x="594360" y="1325880"/>
              <a:ext cx="3886200" cy="96012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D9E2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95528" y="1472184"/>
              <a:ext cx="3502152" cy="304699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500" b="1" i="0" dirty="0" err="1">
                  <a:solidFill>
                    <a:srgbClr val="16324F"/>
                  </a:solidFill>
                  <a:latin typeface="Aptos"/>
                </a:rPr>
                <a:t>Periode</a:t>
              </a:r>
              <a:r>
                <a:rPr sz="1500" b="1" i="0" dirty="0">
                  <a:solidFill>
                    <a:srgbClr val="16324F"/>
                  </a:solidFill>
                  <a:latin typeface="Aptos"/>
                </a:rPr>
                <a:t> </a:t>
              </a:r>
              <a:r>
                <a:rPr lang="en-US" sz="1500" b="1" dirty="0">
                  <a:solidFill>
                    <a:srgbClr val="16324F"/>
                  </a:solidFill>
                  <a:latin typeface="Aptos"/>
                </a:rPr>
                <a:t>data</a:t>
              </a:r>
              <a:endParaRPr sz="1500" b="1" i="0" dirty="0">
                <a:solidFill>
                  <a:srgbClr val="16324F"/>
                </a:solidFill>
                <a:latin typeface="Apto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95528" y="1856231"/>
              <a:ext cx="3502152" cy="273921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0" i="0" dirty="0">
                  <a:solidFill>
                    <a:srgbClr val="253746"/>
                  </a:solidFill>
                  <a:latin typeface="Aptos"/>
                </a:rPr>
                <a:t>202</a:t>
              </a:r>
              <a:r>
                <a:rPr lang="en-US" sz="1300" b="0" i="0" dirty="0">
                  <a:solidFill>
                    <a:srgbClr val="253746"/>
                  </a:solidFill>
                  <a:latin typeface="Aptos"/>
                </a:rPr>
                <a:t>1</a:t>
              </a:r>
              <a:r>
                <a:rPr sz="1300" b="0" i="0" dirty="0">
                  <a:solidFill>
                    <a:srgbClr val="253746"/>
                  </a:solidFill>
                  <a:latin typeface="Aptos"/>
                </a:rPr>
                <a:t>–202</a:t>
              </a:r>
              <a:r>
                <a:rPr lang="en-US" sz="1300" b="0" i="0" dirty="0">
                  <a:solidFill>
                    <a:srgbClr val="253746"/>
                  </a:solidFill>
                  <a:latin typeface="Aptos"/>
                </a:rPr>
                <a:t>6</a:t>
              </a:r>
              <a:endParaRPr sz="1300" b="0" i="0" dirty="0">
                <a:solidFill>
                  <a:srgbClr val="253746"/>
                </a:solidFill>
                <a:latin typeface="Aptos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B6F777D-A8B3-297F-CA53-4F9DDB950E0C}"/>
              </a:ext>
            </a:extLst>
          </p:cNvPr>
          <p:cNvGrpSpPr/>
          <p:nvPr/>
        </p:nvGrpSpPr>
        <p:grpSpPr>
          <a:xfrm>
            <a:off x="594360" y="3311465"/>
            <a:ext cx="3886200" cy="1255197"/>
            <a:chOff x="594360" y="3611879"/>
            <a:chExt cx="3886200" cy="1255197"/>
          </a:xfrm>
        </p:grpSpPr>
        <p:sp>
          <p:nvSpPr>
            <p:cNvPr id="16" name="Rounded Rectangle 15"/>
            <p:cNvSpPr/>
            <p:nvPr/>
          </p:nvSpPr>
          <p:spPr>
            <a:xfrm>
              <a:off x="594360" y="3611879"/>
              <a:ext cx="3886200" cy="1255197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D9E2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95528" y="3758184"/>
              <a:ext cx="3502152" cy="292608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500" b="1" i="0">
                  <a:solidFill>
                    <a:srgbClr val="16324F"/>
                  </a:solidFill>
                  <a:latin typeface="Aptos"/>
                </a:rPr>
                <a:t>Cakupan wilayah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95528" y="4142232"/>
              <a:ext cx="3502152" cy="473976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0" i="0" dirty="0">
                  <a:solidFill>
                    <a:srgbClr val="253746"/>
                  </a:solidFill>
                  <a:latin typeface="Aptos"/>
                </a:rPr>
                <a:t>27 </a:t>
              </a:r>
              <a:r>
                <a:rPr sz="1300" b="0" i="0" dirty="0" err="1">
                  <a:solidFill>
                    <a:srgbClr val="253746"/>
                  </a:solidFill>
                  <a:latin typeface="Aptos"/>
                </a:rPr>
                <a:t>kabupaten</a:t>
              </a:r>
              <a:r>
                <a:rPr sz="1300" b="0" i="0" dirty="0">
                  <a:solidFill>
                    <a:srgbClr val="253746"/>
                  </a:solidFill>
                  <a:latin typeface="Aptos"/>
                </a:rPr>
                <a:t>/</a:t>
              </a:r>
              <a:r>
                <a:rPr sz="1300" b="0" i="0" dirty="0" err="1">
                  <a:solidFill>
                    <a:srgbClr val="253746"/>
                  </a:solidFill>
                  <a:latin typeface="Aptos"/>
                </a:rPr>
                <a:t>kota</a:t>
              </a:r>
              <a:r>
                <a:rPr lang="en-US" sz="1300" dirty="0">
                  <a:solidFill>
                    <a:srgbClr val="253746"/>
                  </a:solidFill>
                  <a:latin typeface="Aptos"/>
                </a:rPr>
                <a:t>,</a:t>
              </a:r>
              <a:r>
                <a:rPr sz="1300" b="0" i="0" dirty="0">
                  <a:solidFill>
                    <a:srgbClr val="253746"/>
                  </a:solidFill>
                  <a:latin typeface="Aptos"/>
                </a:rPr>
                <a:t> data </a:t>
              </a:r>
              <a:r>
                <a:rPr sz="1300" b="0" i="0" dirty="0" err="1">
                  <a:solidFill>
                    <a:srgbClr val="253746"/>
                  </a:solidFill>
                  <a:latin typeface="Aptos"/>
                </a:rPr>
                <a:t>agregat</a:t>
              </a:r>
              <a:r>
                <a:rPr sz="1300" b="0" i="0" dirty="0">
                  <a:solidFill>
                    <a:srgbClr val="253746"/>
                  </a:solidFill>
                  <a:latin typeface="Aptos"/>
                </a:rPr>
                <a:t> </a:t>
              </a:r>
              <a:r>
                <a:rPr sz="1300" b="0" i="0" dirty="0" err="1">
                  <a:solidFill>
                    <a:srgbClr val="253746"/>
                  </a:solidFill>
                  <a:latin typeface="Aptos"/>
                </a:rPr>
                <a:t>provinsi</a:t>
              </a:r>
              <a:r>
                <a:rPr sz="1300" b="0" i="0" dirty="0">
                  <a:solidFill>
                    <a:srgbClr val="253746"/>
                  </a:solidFill>
                  <a:latin typeface="Aptos"/>
                </a:rPr>
                <a:t> </a:t>
              </a:r>
              <a:r>
                <a:rPr sz="1300" b="0" i="0" dirty="0" err="1">
                  <a:solidFill>
                    <a:srgbClr val="253746"/>
                  </a:solidFill>
                  <a:latin typeface="Aptos"/>
                </a:rPr>
                <a:t>tidak</a:t>
              </a:r>
              <a:r>
                <a:rPr sz="1300" b="0" i="0" dirty="0">
                  <a:solidFill>
                    <a:srgbClr val="253746"/>
                  </a:solidFill>
                  <a:latin typeface="Aptos"/>
                </a:rPr>
                <a:t> </a:t>
              </a:r>
              <a:r>
                <a:rPr sz="1300" b="0" i="0" dirty="0" err="1">
                  <a:solidFill>
                    <a:srgbClr val="253746"/>
                  </a:solidFill>
                  <a:latin typeface="Aptos"/>
                </a:rPr>
                <a:t>dimasukkan</a:t>
              </a:r>
              <a:r>
                <a:rPr sz="1300" b="0" i="0" dirty="0">
                  <a:solidFill>
                    <a:srgbClr val="253746"/>
                  </a:solidFill>
                  <a:latin typeface="Aptos"/>
                </a:rPr>
                <a:t> </a:t>
              </a:r>
              <a:r>
                <a:rPr sz="1300" b="0" i="0" dirty="0" err="1">
                  <a:solidFill>
                    <a:srgbClr val="253746"/>
                  </a:solidFill>
                  <a:latin typeface="Aptos"/>
                </a:rPr>
                <a:t>sebagai</a:t>
              </a:r>
              <a:r>
                <a:rPr sz="1300" b="0" i="0" dirty="0">
                  <a:solidFill>
                    <a:srgbClr val="253746"/>
                  </a:solidFill>
                  <a:latin typeface="Aptos"/>
                </a:rPr>
                <a:t> wilayah ke-28.</a:t>
              </a:r>
            </a:p>
          </p:txBody>
        </p:sp>
      </p:grpSp>
      <p:sp>
        <p:nvSpPr>
          <p:cNvPr id="20" name="Rounded Rectangle 19"/>
          <p:cNvSpPr/>
          <p:nvPr/>
        </p:nvSpPr>
        <p:spPr>
          <a:xfrm>
            <a:off x="4754880" y="1337177"/>
            <a:ext cx="6766560" cy="35411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102352" y="1993391"/>
            <a:ext cx="658368" cy="310896"/>
          </a:xfrm>
          <a:prstGeom prst="roundRect">
            <a:avLst>
              <a:gd name="adj" fmla="val 12000"/>
            </a:avLst>
          </a:prstGeom>
          <a:solidFill>
            <a:srgbClr val="FF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48072" y="2058736"/>
            <a:ext cx="566928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 dirty="0">
                <a:solidFill>
                  <a:srgbClr val="E58A2B"/>
                </a:solidFill>
                <a:latin typeface="Aptos"/>
              </a:rPr>
              <a:t>2022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02352" y="2569463"/>
            <a:ext cx="658368" cy="310896"/>
          </a:xfrm>
          <a:prstGeom prst="roundRect">
            <a:avLst>
              <a:gd name="adj" fmla="val 12000"/>
            </a:avLst>
          </a:prstGeom>
          <a:solidFill>
            <a:srgbClr val="FF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48072" y="2634809"/>
            <a:ext cx="566928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E58A2B"/>
                </a:solidFill>
                <a:latin typeface="Aptos"/>
              </a:rPr>
              <a:t>2023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02352" y="3145536"/>
            <a:ext cx="658368" cy="310896"/>
          </a:xfrm>
          <a:prstGeom prst="roundRect">
            <a:avLst>
              <a:gd name="adj" fmla="val 12000"/>
            </a:avLst>
          </a:prstGeom>
          <a:solidFill>
            <a:srgbClr val="FF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48072" y="3210881"/>
            <a:ext cx="566928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E58A2B"/>
                </a:solidFill>
                <a:latin typeface="Aptos"/>
              </a:rPr>
              <a:t>2024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02352" y="3721608"/>
            <a:ext cx="658368" cy="310896"/>
          </a:xfrm>
          <a:prstGeom prst="roundRect">
            <a:avLst>
              <a:gd name="adj" fmla="val 12000"/>
            </a:avLst>
          </a:prstGeom>
          <a:solidFill>
            <a:srgbClr val="FF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48072" y="3786953"/>
            <a:ext cx="566928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 dirty="0">
                <a:solidFill>
                  <a:srgbClr val="E58A2B"/>
                </a:solidFill>
                <a:latin typeface="Aptos"/>
              </a:rPr>
              <a:t>2025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02352" y="4297680"/>
            <a:ext cx="658368" cy="310896"/>
          </a:xfrm>
          <a:prstGeom prst="roundRect">
            <a:avLst>
              <a:gd name="adj" fmla="val 12000"/>
            </a:avLst>
          </a:prstGeom>
          <a:solidFill>
            <a:srgbClr val="FF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48072" y="4363025"/>
            <a:ext cx="566928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 dirty="0">
                <a:solidFill>
                  <a:srgbClr val="E58A2B"/>
                </a:solidFill>
                <a:latin typeface="Aptos"/>
              </a:rPr>
              <a:t>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644716"/>
            <a:ext cx="1069848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 dirty="0" err="1">
                <a:solidFill>
                  <a:srgbClr val="627383"/>
                </a:solidFill>
                <a:latin typeface="Aptos"/>
              </a:rPr>
              <a:t>Catatan</a:t>
            </a:r>
            <a:r>
              <a:rPr sz="1100" b="0" i="1" dirty="0">
                <a:solidFill>
                  <a:srgbClr val="627383"/>
                </a:solidFill>
                <a:latin typeface="Aptos"/>
              </a:rPr>
              <a:t>: </a:t>
            </a:r>
            <a:r>
              <a:rPr sz="1100" b="0" i="1" dirty="0" err="1">
                <a:solidFill>
                  <a:srgbClr val="627383"/>
                </a:solidFill>
                <a:latin typeface="Aptos"/>
              </a:rPr>
              <a:t>nomor</a:t>
            </a:r>
            <a:r>
              <a:rPr sz="1100" b="0" i="1" dirty="0">
                <a:solidFill>
                  <a:srgbClr val="627383"/>
                </a:solidFill>
                <a:latin typeface="Aptos"/>
              </a:rPr>
              <a:t> </a:t>
            </a:r>
            <a:r>
              <a:rPr sz="1100" b="0" i="1" dirty="0" err="1">
                <a:solidFill>
                  <a:srgbClr val="627383"/>
                </a:solidFill>
                <a:latin typeface="Aptos"/>
              </a:rPr>
              <a:t>halaman</a:t>
            </a:r>
            <a:r>
              <a:rPr sz="1100" b="0" i="1" dirty="0">
                <a:solidFill>
                  <a:srgbClr val="627383"/>
                </a:solidFill>
                <a:latin typeface="Aptos"/>
              </a:rPr>
              <a:t> di </a:t>
            </a:r>
            <a:r>
              <a:rPr sz="1100" b="0" i="1" dirty="0" err="1">
                <a:solidFill>
                  <a:srgbClr val="627383"/>
                </a:solidFill>
                <a:latin typeface="Aptos"/>
              </a:rPr>
              <a:t>atas</a:t>
            </a:r>
            <a:r>
              <a:rPr sz="1100" b="0" i="1" dirty="0">
                <a:solidFill>
                  <a:srgbClr val="627383"/>
                </a:solidFill>
                <a:latin typeface="Aptos"/>
              </a:rPr>
              <a:t> </a:t>
            </a:r>
            <a:r>
              <a:rPr sz="1100" b="0" i="1" dirty="0" err="1">
                <a:solidFill>
                  <a:srgbClr val="627383"/>
                </a:solidFill>
                <a:latin typeface="Aptos"/>
              </a:rPr>
              <a:t>adalah</a:t>
            </a:r>
            <a:r>
              <a:rPr sz="1100" b="0" i="1" dirty="0">
                <a:solidFill>
                  <a:srgbClr val="627383"/>
                </a:solidFill>
                <a:latin typeface="Aptos"/>
              </a:rPr>
              <a:t> </a:t>
            </a:r>
            <a:r>
              <a:rPr sz="1100" b="0" i="1" dirty="0" err="1">
                <a:solidFill>
                  <a:srgbClr val="627383"/>
                </a:solidFill>
                <a:latin typeface="Aptos"/>
              </a:rPr>
              <a:t>nomor</a:t>
            </a:r>
            <a:r>
              <a:rPr sz="1100" b="0" i="1" dirty="0">
                <a:solidFill>
                  <a:srgbClr val="627383"/>
                </a:solidFill>
                <a:latin typeface="Aptos"/>
              </a:rPr>
              <a:t> </a:t>
            </a:r>
            <a:r>
              <a:rPr sz="1100" b="0" i="1" dirty="0" err="1">
                <a:solidFill>
                  <a:srgbClr val="627383"/>
                </a:solidFill>
                <a:latin typeface="Aptos"/>
              </a:rPr>
              <a:t>halaman</a:t>
            </a:r>
            <a:r>
              <a:rPr sz="1100" b="0" i="1" dirty="0">
                <a:solidFill>
                  <a:srgbClr val="627383"/>
                </a:solidFill>
                <a:latin typeface="Aptos"/>
              </a:rPr>
              <a:t> PD</a:t>
            </a:r>
            <a:r>
              <a:rPr lang="en-US" sz="1100" i="1" dirty="0">
                <a:solidFill>
                  <a:srgbClr val="627383"/>
                </a:solidFill>
                <a:latin typeface="Aptos"/>
              </a:rPr>
              <a:t>F, </a:t>
            </a:r>
            <a:r>
              <a:rPr lang="en-US" sz="1100" i="1" dirty="0" err="1">
                <a:solidFill>
                  <a:srgbClr val="627383"/>
                </a:solidFill>
                <a:latin typeface="Aptos"/>
              </a:rPr>
              <a:t>bukan</a:t>
            </a:r>
            <a:r>
              <a:rPr lang="en-US" sz="1100" i="1" dirty="0">
                <a:solidFill>
                  <a:srgbClr val="627383"/>
                </a:solidFill>
                <a:latin typeface="Aptos"/>
              </a:rPr>
              <a:t> </a:t>
            </a:r>
            <a:r>
              <a:rPr lang="en-US" sz="1100" i="1" dirty="0" err="1">
                <a:solidFill>
                  <a:srgbClr val="627383"/>
                </a:solidFill>
                <a:latin typeface="Aptos"/>
              </a:rPr>
              <a:t>halaman</a:t>
            </a:r>
            <a:r>
              <a:rPr lang="en-US" sz="1100" i="1" dirty="0">
                <a:solidFill>
                  <a:srgbClr val="627383"/>
                </a:solidFill>
                <a:latin typeface="Aptos"/>
              </a:rPr>
              <a:t> </a:t>
            </a:r>
            <a:r>
              <a:rPr lang="en-US" sz="1100" i="1" dirty="0" err="1">
                <a:solidFill>
                  <a:srgbClr val="627383"/>
                </a:solidFill>
                <a:latin typeface="Aptos"/>
              </a:rPr>
              <a:t>publikasi</a:t>
            </a:r>
            <a:endParaRPr sz="1100" b="0" i="1" dirty="0">
              <a:solidFill>
                <a:srgbClr val="627383"/>
              </a:solidFill>
              <a:latin typeface="Apto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4A8AB2-3CE5-8E73-6A85-6F83DA9E77AE}"/>
              </a:ext>
            </a:extLst>
          </p:cNvPr>
          <p:cNvSpPr txBox="1"/>
          <p:nvPr/>
        </p:nvSpPr>
        <p:spPr>
          <a:xfrm>
            <a:off x="5014856" y="1502713"/>
            <a:ext cx="411480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 dirty="0" err="1">
                <a:solidFill>
                  <a:srgbClr val="16324F"/>
                </a:solidFill>
                <a:latin typeface="Aptos"/>
              </a:rPr>
              <a:t>Publikasi</a:t>
            </a:r>
            <a:r>
              <a:rPr sz="1500" b="1" i="0" dirty="0">
                <a:solidFill>
                  <a:srgbClr val="16324F"/>
                </a:solidFill>
                <a:latin typeface="Aptos"/>
              </a:rPr>
              <a:t> BPS </a:t>
            </a:r>
            <a:r>
              <a:rPr sz="1500" b="1" i="0" dirty="0" err="1">
                <a:solidFill>
                  <a:srgbClr val="16324F"/>
                </a:solidFill>
                <a:latin typeface="Aptos"/>
              </a:rPr>
              <a:t>Provinsi</a:t>
            </a:r>
            <a:r>
              <a:rPr sz="1500" b="1" i="0" dirty="0">
                <a:solidFill>
                  <a:srgbClr val="16324F"/>
                </a:solidFill>
                <a:latin typeface="Aptos"/>
              </a:rPr>
              <a:t> Jawa Barat yang </a:t>
            </a:r>
            <a:r>
              <a:rPr lang="en-US" sz="1500" b="1" i="0" dirty="0" err="1">
                <a:solidFill>
                  <a:srgbClr val="16324F"/>
                </a:solidFill>
                <a:latin typeface="Aptos"/>
              </a:rPr>
              <a:t>dipakai</a:t>
            </a:r>
            <a:endParaRPr sz="1500" b="1" i="0" dirty="0">
              <a:solidFill>
                <a:srgbClr val="16324F"/>
              </a:solidFill>
              <a:latin typeface="Apto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5B840D-7150-B09F-3CF1-F7D1C148F6D8}"/>
              </a:ext>
            </a:extLst>
          </p:cNvPr>
          <p:cNvSpPr txBox="1"/>
          <p:nvPr/>
        </p:nvSpPr>
        <p:spPr>
          <a:xfrm>
            <a:off x="5797296" y="1939746"/>
            <a:ext cx="3657600" cy="4124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200" b="1" i="0" dirty="0" err="1">
                <a:solidFill>
                  <a:srgbClr val="16324F"/>
                </a:solidFill>
                <a:latin typeface="Aptos"/>
              </a:rPr>
              <a:t>Provinsi</a:t>
            </a:r>
            <a:r>
              <a:rPr lang="en-ID" sz="1200" b="1" i="0" dirty="0">
                <a:solidFill>
                  <a:srgbClr val="16324F"/>
                </a:solidFill>
                <a:latin typeface="Aptos"/>
              </a:rPr>
              <a:t> Jawa Barat Dalam Angka 2022</a:t>
            </a:r>
          </a:p>
          <a:p>
            <a:r>
              <a:rPr lang="en-ID" sz="1000" u="sng" dirty="0">
                <a:solidFill>
                  <a:srgbClr val="1976A8"/>
                </a:solidFill>
                <a:latin typeface="Aptos"/>
                <a:hlinkClick r:id="rId2"/>
              </a:rPr>
              <a:t>Buka </a:t>
            </a:r>
            <a:r>
              <a:rPr lang="en-ID" sz="1000" u="sng" dirty="0" err="1">
                <a:solidFill>
                  <a:srgbClr val="1976A8"/>
                </a:solidFill>
                <a:latin typeface="Aptos"/>
                <a:hlinkClick r:id="rId2"/>
              </a:rPr>
              <a:t>publikasi</a:t>
            </a:r>
            <a:r>
              <a:rPr lang="en-ID" sz="1000" u="sng" dirty="0">
                <a:solidFill>
                  <a:srgbClr val="1976A8"/>
                </a:solidFill>
                <a:latin typeface="Aptos"/>
                <a:hlinkClick r:id="rId2"/>
              </a:rPr>
              <a:t> BPS</a:t>
            </a:r>
            <a:r>
              <a:rPr lang="en-ID" sz="1000" dirty="0">
                <a:solidFill>
                  <a:srgbClr val="1976A8"/>
                </a:solidFill>
                <a:latin typeface="Aptos"/>
              </a:rPr>
              <a:t> </a:t>
            </a:r>
            <a:r>
              <a:rPr lang="en-ID" sz="1000" dirty="0">
                <a:latin typeface="Aptos"/>
              </a:rPr>
              <a:t>| </a:t>
            </a:r>
            <a:r>
              <a:rPr lang="en-ID" sz="1000" dirty="0" err="1">
                <a:solidFill>
                  <a:srgbClr val="253746"/>
                </a:solidFill>
                <a:latin typeface="Aptos"/>
              </a:rPr>
              <a:t>jumlah</a:t>
            </a:r>
            <a:r>
              <a:rPr lang="en-ID" sz="100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000" dirty="0" err="1">
                <a:solidFill>
                  <a:srgbClr val="253746"/>
                </a:solidFill>
                <a:latin typeface="Aptos"/>
              </a:rPr>
              <a:t>penduduk</a:t>
            </a:r>
            <a:r>
              <a:rPr lang="en-ID" sz="1000" dirty="0">
                <a:solidFill>
                  <a:srgbClr val="253746"/>
                </a:solidFill>
                <a:latin typeface="Aptos"/>
              </a:rPr>
              <a:t>: </a:t>
            </a:r>
            <a:r>
              <a:rPr lang="en-ID" sz="1000" dirty="0" err="1">
                <a:solidFill>
                  <a:srgbClr val="253746"/>
                </a:solidFill>
                <a:latin typeface="Aptos"/>
              </a:rPr>
              <a:t>halaman</a:t>
            </a:r>
            <a:r>
              <a:rPr lang="en-ID" sz="1000" dirty="0">
                <a:solidFill>
                  <a:srgbClr val="253746"/>
                </a:solidFill>
                <a:latin typeface="Aptos"/>
              </a:rPr>
              <a:t> 176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771D0A1-3415-3AE9-E538-E6C5ED591108}"/>
              </a:ext>
            </a:extLst>
          </p:cNvPr>
          <p:cNvSpPr txBox="1"/>
          <p:nvPr/>
        </p:nvSpPr>
        <p:spPr>
          <a:xfrm>
            <a:off x="5797296" y="2515969"/>
            <a:ext cx="3657600" cy="4124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dirty="0" err="1">
                <a:solidFill>
                  <a:srgbClr val="16324F"/>
                </a:solidFill>
                <a:latin typeface="Aptos"/>
              </a:rPr>
              <a:t>Provinsi</a:t>
            </a:r>
            <a:r>
              <a:rPr sz="1200" b="1" i="0" dirty="0">
                <a:solidFill>
                  <a:srgbClr val="16324F"/>
                </a:solidFill>
                <a:latin typeface="Aptos"/>
              </a:rPr>
              <a:t> Jawa Barat Dalam Angka 2023</a:t>
            </a:r>
            <a:endParaRPr lang="en-US" sz="1200" b="1" i="0" dirty="0">
              <a:solidFill>
                <a:srgbClr val="16324F"/>
              </a:solidFill>
              <a:latin typeface="Aptos"/>
            </a:endParaRPr>
          </a:p>
          <a:p>
            <a:r>
              <a:rPr lang="en-ID" sz="1000" u="sng" dirty="0">
                <a:solidFill>
                  <a:srgbClr val="1976A8"/>
                </a:solidFill>
                <a:latin typeface="Aptos"/>
                <a:hlinkClick r:id="rId3"/>
              </a:rPr>
              <a:t>Buka </a:t>
            </a:r>
            <a:r>
              <a:rPr lang="en-ID" sz="1000" u="sng" dirty="0" err="1">
                <a:solidFill>
                  <a:srgbClr val="1976A8"/>
                </a:solidFill>
                <a:latin typeface="Aptos"/>
                <a:hlinkClick r:id="rId3"/>
              </a:rPr>
              <a:t>publikasi</a:t>
            </a:r>
            <a:r>
              <a:rPr lang="en-ID" sz="1000" u="sng" dirty="0">
                <a:solidFill>
                  <a:srgbClr val="1976A8"/>
                </a:solidFill>
                <a:latin typeface="Aptos"/>
                <a:hlinkClick r:id="rId3"/>
              </a:rPr>
              <a:t> BPS</a:t>
            </a:r>
            <a:r>
              <a:rPr lang="en-ID" sz="1000" dirty="0">
                <a:latin typeface="Aptos"/>
              </a:rPr>
              <a:t> | </a:t>
            </a:r>
            <a:r>
              <a:rPr lang="en-ID" sz="1000" dirty="0" err="1">
                <a:solidFill>
                  <a:srgbClr val="253746"/>
                </a:solidFill>
                <a:latin typeface="Aptos"/>
              </a:rPr>
              <a:t>jumlah</a:t>
            </a:r>
            <a:r>
              <a:rPr lang="en-ID" sz="100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000" dirty="0" err="1">
                <a:solidFill>
                  <a:srgbClr val="253746"/>
                </a:solidFill>
                <a:latin typeface="Aptos"/>
              </a:rPr>
              <a:t>penduduk</a:t>
            </a:r>
            <a:r>
              <a:rPr lang="en-ID" sz="1000" dirty="0">
                <a:solidFill>
                  <a:srgbClr val="253746"/>
                </a:solidFill>
                <a:latin typeface="Aptos"/>
              </a:rPr>
              <a:t>: </a:t>
            </a:r>
            <a:r>
              <a:rPr lang="en-ID" sz="1000" dirty="0" err="1">
                <a:solidFill>
                  <a:srgbClr val="253746"/>
                </a:solidFill>
                <a:latin typeface="Aptos"/>
              </a:rPr>
              <a:t>halaman</a:t>
            </a:r>
            <a:r>
              <a:rPr lang="en-ID" sz="1000" dirty="0">
                <a:solidFill>
                  <a:srgbClr val="253746"/>
                </a:solidFill>
                <a:latin typeface="Aptos"/>
              </a:rPr>
              <a:t> 186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27B54AB-44FE-81DE-8757-A15886FCE22D}"/>
              </a:ext>
            </a:extLst>
          </p:cNvPr>
          <p:cNvSpPr txBox="1"/>
          <p:nvPr/>
        </p:nvSpPr>
        <p:spPr>
          <a:xfrm>
            <a:off x="5806440" y="3092192"/>
            <a:ext cx="3657600" cy="4124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dirty="0" err="1">
                <a:solidFill>
                  <a:srgbClr val="16324F"/>
                </a:solidFill>
                <a:latin typeface="Aptos"/>
              </a:rPr>
              <a:t>Provinsi</a:t>
            </a:r>
            <a:r>
              <a:rPr sz="1200" b="1" i="0" dirty="0">
                <a:solidFill>
                  <a:srgbClr val="16324F"/>
                </a:solidFill>
                <a:latin typeface="Aptos"/>
              </a:rPr>
              <a:t> Jawa Barat Dalam Angka 2024</a:t>
            </a:r>
            <a:endParaRPr lang="en-US" sz="1200" b="1" i="0" dirty="0">
              <a:solidFill>
                <a:srgbClr val="16324F"/>
              </a:solidFill>
              <a:latin typeface="Aptos"/>
            </a:endParaRPr>
          </a:p>
          <a:p>
            <a:r>
              <a:rPr lang="en-ID" sz="1000" u="sng" dirty="0">
                <a:solidFill>
                  <a:srgbClr val="1976A8"/>
                </a:solidFill>
                <a:latin typeface="Aptos"/>
                <a:hlinkClick r:id="rId4"/>
              </a:rPr>
              <a:t>Buka </a:t>
            </a:r>
            <a:r>
              <a:rPr lang="en-ID" sz="1000" u="sng" dirty="0" err="1">
                <a:solidFill>
                  <a:srgbClr val="1976A8"/>
                </a:solidFill>
                <a:latin typeface="Aptos"/>
                <a:hlinkClick r:id="rId4"/>
              </a:rPr>
              <a:t>publikasi</a:t>
            </a:r>
            <a:r>
              <a:rPr lang="en-ID" sz="1000" u="sng" dirty="0">
                <a:solidFill>
                  <a:srgbClr val="1976A8"/>
                </a:solidFill>
                <a:latin typeface="Aptos"/>
                <a:hlinkClick r:id="rId4"/>
              </a:rPr>
              <a:t> BPS</a:t>
            </a:r>
            <a:r>
              <a:rPr lang="en-ID" sz="1000" dirty="0">
                <a:latin typeface="Aptos"/>
              </a:rPr>
              <a:t> | </a:t>
            </a:r>
            <a:r>
              <a:rPr lang="en-ID" sz="1000" dirty="0" err="1">
                <a:solidFill>
                  <a:srgbClr val="253746"/>
                </a:solidFill>
                <a:latin typeface="Aptos"/>
              </a:rPr>
              <a:t>jumlah</a:t>
            </a:r>
            <a:r>
              <a:rPr lang="en-ID" sz="100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000" dirty="0" err="1">
                <a:solidFill>
                  <a:srgbClr val="253746"/>
                </a:solidFill>
                <a:latin typeface="Aptos"/>
              </a:rPr>
              <a:t>penduduk</a:t>
            </a:r>
            <a:r>
              <a:rPr lang="en-ID" sz="1000" dirty="0">
                <a:solidFill>
                  <a:srgbClr val="253746"/>
                </a:solidFill>
                <a:latin typeface="Aptos"/>
              </a:rPr>
              <a:t>: </a:t>
            </a:r>
            <a:r>
              <a:rPr lang="en-ID" sz="1000" dirty="0" err="1">
                <a:solidFill>
                  <a:srgbClr val="253746"/>
                </a:solidFill>
                <a:latin typeface="Aptos"/>
              </a:rPr>
              <a:t>halaman</a:t>
            </a:r>
            <a:r>
              <a:rPr lang="en-ID" sz="1000" dirty="0">
                <a:solidFill>
                  <a:srgbClr val="253746"/>
                </a:solidFill>
                <a:latin typeface="Aptos"/>
              </a:rPr>
              <a:t> 193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706DEBD-17F8-FE12-1625-29EB4358EAD0}"/>
              </a:ext>
            </a:extLst>
          </p:cNvPr>
          <p:cNvSpPr txBox="1"/>
          <p:nvPr/>
        </p:nvSpPr>
        <p:spPr>
          <a:xfrm>
            <a:off x="5806440" y="3674194"/>
            <a:ext cx="3657600" cy="4124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dirty="0" err="1">
                <a:solidFill>
                  <a:srgbClr val="16324F"/>
                </a:solidFill>
                <a:latin typeface="Aptos"/>
              </a:rPr>
              <a:t>Provinsi</a:t>
            </a:r>
            <a:r>
              <a:rPr sz="1200" b="1" i="0" dirty="0">
                <a:solidFill>
                  <a:srgbClr val="16324F"/>
                </a:solidFill>
                <a:latin typeface="Aptos"/>
              </a:rPr>
              <a:t> Jawa Barat Dalam Angka 2025</a:t>
            </a:r>
            <a:endParaRPr lang="en-US" sz="1200" b="1" i="0" dirty="0">
              <a:solidFill>
                <a:srgbClr val="16324F"/>
              </a:solidFill>
              <a:latin typeface="Aptos"/>
            </a:endParaRPr>
          </a:p>
          <a:p>
            <a:r>
              <a:rPr lang="en-ID" sz="1000" u="sng" dirty="0">
                <a:solidFill>
                  <a:srgbClr val="1976A8"/>
                </a:solidFill>
                <a:latin typeface="Aptos"/>
                <a:hlinkClick r:id="rId5"/>
              </a:rPr>
              <a:t>Buka </a:t>
            </a:r>
            <a:r>
              <a:rPr lang="en-ID" sz="1000" u="sng" dirty="0" err="1">
                <a:solidFill>
                  <a:srgbClr val="1976A8"/>
                </a:solidFill>
                <a:latin typeface="Aptos"/>
                <a:hlinkClick r:id="rId5"/>
              </a:rPr>
              <a:t>publikasi</a:t>
            </a:r>
            <a:r>
              <a:rPr lang="en-ID" sz="1000" u="sng" dirty="0">
                <a:solidFill>
                  <a:srgbClr val="1976A8"/>
                </a:solidFill>
                <a:latin typeface="Aptos"/>
                <a:hlinkClick r:id="rId5"/>
              </a:rPr>
              <a:t> BPS</a:t>
            </a:r>
            <a:r>
              <a:rPr lang="en-ID" sz="1000" u="sng" dirty="0">
                <a:solidFill>
                  <a:srgbClr val="1976A8"/>
                </a:solidFill>
                <a:latin typeface="Aptos"/>
              </a:rPr>
              <a:t> </a:t>
            </a:r>
            <a:r>
              <a:rPr lang="en-ID" sz="1000" dirty="0">
                <a:latin typeface="Aptos"/>
              </a:rPr>
              <a:t>| </a:t>
            </a:r>
            <a:r>
              <a:rPr lang="en-ID" sz="1000" dirty="0" err="1">
                <a:solidFill>
                  <a:srgbClr val="253746"/>
                </a:solidFill>
                <a:latin typeface="Aptos"/>
              </a:rPr>
              <a:t>jumlah</a:t>
            </a:r>
            <a:r>
              <a:rPr lang="en-ID" sz="100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000" dirty="0" err="1">
                <a:solidFill>
                  <a:srgbClr val="253746"/>
                </a:solidFill>
                <a:latin typeface="Aptos"/>
              </a:rPr>
              <a:t>penduduk</a:t>
            </a:r>
            <a:r>
              <a:rPr lang="en-ID" sz="1000" dirty="0">
                <a:solidFill>
                  <a:srgbClr val="253746"/>
                </a:solidFill>
                <a:latin typeface="Aptos"/>
              </a:rPr>
              <a:t>: </a:t>
            </a:r>
            <a:r>
              <a:rPr lang="en-ID" sz="1000" dirty="0" err="1">
                <a:solidFill>
                  <a:srgbClr val="253746"/>
                </a:solidFill>
                <a:latin typeface="Aptos"/>
              </a:rPr>
              <a:t>halaman</a:t>
            </a:r>
            <a:r>
              <a:rPr lang="en-ID" sz="1000" dirty="0">
                <a:solidFill>
                  <a:srgbClr val="253746"/>
                </a:solidFill>
                <a:latin typeface="Aptos"/>
              </a:rPr>
              <a:t> 191</a:t>
            </a:r>
            <a:endParaRPr lang="en-ID" sz="1000" b="1" i="0" dirty="0">
              <a:solidFill>
                <a:srgbClr val="16324F"/>
              </a:solidFill>
              <a:latin typeface="Apto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355ADCB-8195-AA88-047C-FF5B28B3B2A9}"/>
              </a:ext>
            </a:extLst>
          </p:cNvPr>
          <p:cNvSpPr txBox="1"/>
          <p:nvPr/>
        </p:nvSpPr>
        <p:spPr>
          <a:xfrm>
            <a:off x="5806440" y="4243070"/>
            <a:ext cx="5675948" cy="5970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dirty="0" err="1">
                <a:solidFill>
                  <a:srgbClr val="16324F"/>
                </a:solidFill>
                <a:latin typeface="Aptos"/>
              </a:rPr>
              <a:t>Provinsi</a:t>
            </a:r>
            <a:r>
              <a:rPr sz="1200" b="1" i="0" dirty="0">
                <a:solidFill>
                  <a:srgbClr val="16324F"/>
                </a:solidFill>
                <a:latin typeface="Aptos"/>
              </a:rPr>
              <a:t> Jawa Barat Dalam Angka 2026</a:t>
            </a:r>
            <a:endParaRPr lang="en-US" sz="1200" b="1" i="0" dirty="0">
              <a:solidFill>
                <a:srgbClr val="16324F"/>
              </a:solidFill>
              <a:latin typeface="Apto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000" u="sng" dirty="0">
                <a:solidFill>
                  <a:srgbClr val="1976A8"/>
                </a:solidFill>
                <a:latin typeface="Aptos"/>
                <a:hlinkClick r:id="rId6"/>
              </a:rPr>
              <a:t>Buka </a:t>
            </a:r>
            <a:r>
              <a:rPr lang="en-ID" sz="1000" u="sng" dirty="0" err="1">
                <a:solidFill>
                  <a:srgbClr val="1976A8"/>
                </a:solidFill>
                <a:latin typeface="Aptos"/>
                <a:hlinkClick r:id="rId6"/>
              </a:rPr>
              <a:t>publikasi</a:t>
            </a:r>
            <a:r>
              <a:rPr lang="en-ID" sz="1000" u="sng" dirty="0">
                <a:solidFill>
                  <a:srgbClr val="1976A8"/>
                </a:solidFill>
                <a:latin typeface="Aptos"/>
                <a:hlinkClick r:id="rId6"/>
              </a:rPr>
              <a:t> BPS</a:t>
            </a:r>
            <a:r>
              <a:rPr kumimoji="0" lang="en-ID" sz="1000" b="0" i="0" u="sng" strike="noStrike" kern="1200" cap="none" spc="0" normalizeH="0" baseline="0" noProof="0" dirty="0">
                <a:ln>
                  <a:noFill/>
                </a:ln>
                <a:solidFill>
                  <a:srgbClr val="1976A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| </a:t>
            </a:r>
            <a:r>
              <a:rPr kumimoji="0" lang="en-ID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5374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jumlah</a:t>
            </a: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srgbClr val="25374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en-ID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5374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penduduk</a:t>
            </a: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srgbClr val="25374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: </a:t>
            </a:r>
            <a:r>
              <a:rPr kumimoji="0" lang="en-ID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5374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halaman</a:t>
            </a: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srgbClr val="25374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183 | </a:t>
            </a:r>
            <a:r>
              <a:rPr kumimoji="0" lang="en-ID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5374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luas</a:t>
            </a: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srgbClr val="25374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wilayah: </a:t>
            </a:r>
            <a:r>
              <a:rPr kumimoji="0" lang="en-ID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5374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halaman</a:t>
            </a: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srgbClr val="25374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65 </a:t>
            </a:r>
            <a:endParaRPr kumimoji="0" lang="en-ID" sz="1000" b="1" i="0" u="none" strike="noStrike" kern="1200" cap="none" spc="0" normalizeH="0" baseline="0" noProof="0" dirty="0">
              <a:ln>
                <a:noFill/>
              </a:ln>
              <a:solidFill>
                <a:srgbClr val="16324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endParaRPr sz="1200" b="1" i="0" dirty="0">
              <a:solidFill>
                <a:srgbClr val="16324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4864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900" b="1" dirty="0">
                <a:solidFill>
                  <a:srgbClr val="1976A8"/>
                </a:solidFill>
                <a:latin typeface="Aptos"/>
              </a:rPr>
              <a:t>3</a:t>
            </a:r>
            <a:r>
              <a:rPr sz="900" b="1" i="0" dirty="0">
                <a:solidFill>
                  <a:srgbClr val="1976A8"/>
                </a:solidFill>
                <a:latin typeface="Aptos"/>
              </a:rPr>
              <a:t>  | 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324F"/>
                </a:solidFill>
                <a:latin typeface="Aptos"/>
              </a:rPr>
              <a:t>Alur kerja: dari publikasi ke dataset GOLD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383280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581912"/>
            <a:ext cx="530352" cy="310896"/>
          </a:xfrm>
          <a:prstGeom prst="roundRect">
            <a:avLst>
              <a:gd name="adj" fmla="val 12000"/>
            </a:avLst>
          </a:prstGeom>
          <a:solidFill>
            <a:srgbClr val="FF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613916"/>
            <a:ext cx="438912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E58A2B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581912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324F"/>
                </a:solidFill>
                <a:latin typeface="Aptos"/>
              </a:rPr>
              <a:t>Ambil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39112"/>
            <a:ext cx="2880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383"/>
                </a:solidFill>
                <a:latin typeface="Aptos"/>
              </a:rPr>
              <a:t>Salin tabel PDF BPS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417320"/>
            <a:ext cx="3383280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26280" y="1581912"/>
            <a:ext cx="530352" cy="310896"/>
          </a:xfrm>
          <a:prstGeom prst="roundRect">
            <a:avLst>
              <a:gd name="adj" fmla="val 12000"/>
            </a:avLst>
          </a:prstGeom>
          <a:solidFill>
            <a:srgbClr val="EA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613916"/>
            <a:ext cx="438912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976A8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581912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324F"/>
                </a:solidFill>
                <a:latin typeface="Aptos"/>
              </a:rPr>
              <a:t>RAW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039112"/>
            <a:ext cx="2880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383"/>
                </a:solidFill>
                <a:latin typeface="Aptos"/>
              </a:rPr>
              <a:t>Simpan sumber &amp; data per tabel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417320"/>
            <a:ext cx="3383280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75319" y="1581912"/>
            <a:ext cx="530352" cy="310896"/>
          </a:xfrm>
          <a:prstGeom prst="roundRect">
            <a:avLst>
              <a:gd name="adj" fmla="val 12000"/>
            </a:avLst>
          </a:prstGeom>
          <a:solidFill>
            <a:srgbClr val="EA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1613916"/>
            <a:ext cx="438912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976A8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1581912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324F"/>
                </a:solidFill>
                <a:latin typeface="Aptos"/>
              </a:rPr>
              <a:t>Split &amp; rapikan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039112"/>
            <a:ext cx="2880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383"/>
                </a:solidFill>
                <a:latin typeface="Aptos"/>
              </a:rPr>
              <a:t>Pisahkan wilayah dan nilai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3383280"/>
            <a:ext cx="3383280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Rounded Rectangle 23"/>
          <p:cNvSpPr/>
          <p:nvPr/>
        </p:nvSpPr>
        <p:spPr>
          <a:xfrm>
            <a:off x="8275320" y="3547872"/>
            <a:ext cx="530352" cy="310896"/>
          </a:xfrm>
          <a:prstGeom prst="roundRect">
            <a:avLst>
              <a:gd name="adj" fmla="val 12000"/>
            </a:avLst>
          </a:prstGeom>
          <a:solidFill>
            <a:srgbClr val="EA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3579876"/>
            <a:ext cx="438912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976A8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547872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324F"/>
                </a:solidFill>
                <a:latin typeface="Aptos"/>
              </a:rPr>
              <a:t>Standardisasi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005072"/>
            <a:ext cx="288036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300" b="0" i="0" dirty="0">
                <a:solidFill>
                  <a:srgbClr val="627383"/>
                </a:solidFill>
                <a:latin typeface="Aptos"/>
              </a:rPr>
              <a:t>Format </a:t>
            </a:r>
            <a:r>
              <a:rPr lang="en-ID" sz="1300" b="0" i="0" dirty="0" err="1">
                <a:solidFill>
                  <a:srgbClr val="627383"/>
                </a:solidFill>
                <a:latin typeface="Aptos"/>
              </a:rPr>
              <a:t>angka</a:t>
            </a:r>
            <a:r>
              <a:rPr lang="en-ID" sz="1300" b="0" i="0" dirty="0">
                <a:solidFill>
                  <a:srgbClr val="627383"/>
                </a:solidFill>
                <a:latin typeface="Aptos"/>
              </a:rPr>
              <a:t>, </a:t>
            </a:r>
            <a:r>
              <a:rPr lang="en-ID" sz="1300" b="0" i="0" dirty="0" err="1">
                <a:solidFill>
                  <a:srgbClr val="627383"/>
                </a:solidFill>
                <a:latin typeface="Aptos"/>
              </a:rPr>
              <a:t>tahun</a:t>
            </a:r>
            <a:r>
              <a:rPr lang="en-ID" sz="1300" b="0" i="0" dirty="0">
                <a:solidFill>
                  <a:srgbClr val="627383"/>
                </a:solidFill>
                <a:latin typeface="Aptos"/>
              </a:rPr>
              <a:t>, </a:t>
            </a:r>
            <a:r>
              <a:rPr lang="en-ID" sz="1300" b="0" i="0" dirty="0" err="1">
                <a:solidFill>
                  <a:srgbClr val="627383"/>
                </a:solidFill>
                <a:latin typeface="Aptos"/>
              </a:rPr>
              <a:t>kode</a:t>
            </a:r>
            <a:r>
              <a:rPr lang="en-ID" sz="1300" b="0" i="0" dirty="0">
                <a:solidFill>
                  <a:srgbClr val="627383"/>
                </a:solidFill>
                <a:latin typeface="Aptos"/>
              </a:rPr>
              <a:t> wilayah, dan </a:t>
            </a:r>
            <a:r>
              <a:rPr lang="en-ID" sz="1300" b="0" i="0" dirty="0" err="1">
                <a:solidFill>
                  <a:srgbClr val="627383"/>
                </a:solidFill>
                <a:latin typeface="Aptos"/>
              </a:rPr>
              <a:t>skema</a:t>
            </a:r>
            <a:r>
              <a:rPr lang="en-ID" sz="1300" b="0" i="0" dirty="0">
                <a:solidFill>
                  <a:srgbClr val="627383"/>
                </a:solidFill>
                <a:latin typeface="Aptos"/>
              </a:rPr>
              <a:t> </a:t>
            </a:r>
            <a:r>
              <a:rPr lang="en-ID" sz="1300" b="0" i="0" dirty="0" err="1">
                <a:solidFill>
                  <a:srgbClr val="627383"/>
                </a:solidFill>
                <a:latin typeface="Aptos"/>
              </a:rPr>
              <a:t>kolom</a:t>
            </a:r>
            <a:r>
              <a:rPr lang="en-ID" sz="1300" b="0" i="0" dirty="0">
                <a:solidFill>
                  <a:srgbClr val="627383"/>
                </a:solidFill>
                <a:latin typeface="Aptos"/>
              </a:rPr>
              <a:t>.</a:t>
            </a:r>
            <a:endParaRPr sz="1300" b="0" i="0" dirty="0">
              <a:solidFill>
                <a:srgbClr val="627383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343400" y="3383280"/>
            <a:ext cx="3383280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526280" y="3547872"/>
            <a:ext cx="530352" cy="310896"/>
          </a:xfrm>
          <a:prstGeom prst="roundRect">
            <a:avLst>
              <a:gd name="adj" fmla="val 12000"/>
            </a:avLst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0" y="3579876"/>
            <a:ext cx="438912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3856D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3547872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324F"/>
                </a:solidFill>
                <a:latin typeface="Aptos"/>
              </a:rPr>
              <a:t>Transpose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005072"/>
            <a:ext cx="288036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300" b="0" i="0" dirty="0" err="1">
                <a:solidFill>
                  <a:srgbClr val="627383"/>
                </a:solidFill>
                <a:latin typeface="Aptos"/>
              </a:rPr>
              <a:t>Mengubah</a:t>
            </a:r>
            <a:r>
              <a:rPr lang="en-ID" sz="1300" b="0" i="0" dirty="0">
                <a:solidFill>
                  <a:srgbClr val="627383"/>
                </a:solidFill>
                <a:latin typeface="Aptos"/>
              </a:rPr>
              <a:t> data </a:t>
            </a:r>
            <a:r>
              <a:rPr lang="en-ID" sz="1300" b="0" i="0" dirty="0" err="1">
                <a:solidFill>
                  <a:srgbClr val="627383"/>
                </a:solidFill>
                <a:latin typeface="Aptos"/>
              </a:rPr>
              <a:t>melebar</a:t>
            </a:r>
            <a:r>
              <a:rPr lang="en-ID" sz="1300" b="0" i="0" dirty="0">
                <a:solidFill>
                  <a:srgbClr val="627383"/>
                </a:solidFill>
                <a:latin typeface="Aptos"/>
              </a:rPr>
              <a:t> </a:t>
            </a:r>
            <a:r>
              <a:rPr lang="en-ID" sz="1300" b="0" i="0" dirty="0" err="1">
                <a:solidFill>
                  <a:srgbClr val="627383"/>
                </a:solidFill>
                <a:latin typeface="Aptos"/>
              </a:rPr>
              <a:t>menjadi</a:t>
            </a:r>
            <a:r>
              <a:rPr lang="en-ID" sz="1300" b="0" i="0" dirty="0">
                <a:solidFill>
                  <a:srgbClr val="627383"/>
                </a:solidFill>
                <a:latin typeface="Aptos"/>
              </a:rPr>
              <a:t> format </a:t>
            </a:r>
            <a:r>
              <a:rPr lang="en-ID" sz="1300" b="0" i="0" dirty="0" err="1">
                <a:solidFill>
                  <a:srgbClr val="627383"/>
                </a:solidFill>
                <a:latin typeface="Aptos"/>
              </a:rPr>
              <a:t>memanjang</a:t>
            </a:r>
            <a:r>
              <a:rPr lang="en-ID" sz="1300" b="0" i="0" dirty="0">
                <a:solidFill>
                  <a:srgbClr val="627383"/>
                </a:solidFill>
                <a:latin typeface="Aptos"/>
              </a:rPr>
              <a:t>.</a:t>
            </a:r>
            <a:endParaRPr sz="1300" b="0" i="0" dirty="0">
              <a:solidFill>
                <a:srgbClr val="627383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94360" y="3383280"/>
            <a:ext cx="3383280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77239" y="3547872"/>
            <a:ext cx="530352" cy="310896"/>
          </a:xfrm>
          <a:prstGeom prst="roundRect">
            <a:avLst>
              <a:gd name="adj" fmla="val 12000"/>
            </a:avLst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3579876"/>
            <a:ext cx="438912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3856D"/>
                </a:solidFill>
                <a:latin typeface="Aptos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39" y="3547872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6324F"/>
                </a:solidFill>
                <a:latin typeface="Aptos"/>
              </a:rPr>
              <a:t>GOLD + QC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005072"/>
            <a:ext cx="288036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300" b="0" i="0" dirty="0" err="1">
                <a:solidFill>
                  <a:srgbClr val="627383"/>
                </a:solidFill>
                <a:latin typeface="Aptos"/>
              </a:rPr>
              <a:t>Menggabungkan</a:t>
            </a:r>
            <a:r>
              <a:rPr lang="en-ID" sz="1300" b="0" i="0" dirty="0">
                <a:solidFill>
                  <a:srgbClr val="627383"/>
                </a:solidFill>
                <a:latin typeface="Aptos"/>
              </a:rPr>
              <a:t> data dan </a:t>
            </a:r>
            <a:r>
              <a:rPr lang="en-ID" sz="1300" b="0" i="0" dirty="0" err="1">
                <a:solidFill>
                  <a:srgbClr val="627383"/>
                </a:solidFill>
                <a:latin typeface="Aptos"/>
              </a:rPr>
              <a:t>memeriksa</a:t>
            </a:r>
            <a:r>
              <a:rPr lang="en-ID" sz="1300" b="0" i="0" dirty="0">
                <a:solidFill>
                  <a:srgbClr val="627383"/>
                </a:solidFill>
                <a:latin typeface="Aptos"/>
              </a:rPr>
              <a:t> </a:t>
            </a:r>
            <a:r>
              <a:rPr lang="en-ID" sz="1300" b="0" i="0" dirty="0" err="1">
                <a:solidFill>
                  <a:srgbClr val="627383"/>
                </a:solidFill>
                <a:latin typeface="Aptos"/>
              </a:rPr>
              <a:t>kualitas</a:t>
            </a:r>
            <a:r>
              <a:rPr lang="en-ID" sz="1300" b="0" i="0" dirty="0">
                <a:solidFill>
                  <a:srgbClr val="627383"/>
                </a:solidFill>
                <a:latin typeface="Aptos"/>
              </a:rPr>
              <a:t> </a:t>
            </a:r>
            <a:r>
              <a:rPr lang="en-ID" sz="1300" b="0" i="0" dirty="0" err="1">
                <a:solidFill>
                  <a:srgbClr val="627383"/>
                </a:solidFill>
                <a:latin typeface="Aptos"/>
              </a:rPr>
              <a:t>hasil</a:t>
            </a:r>
            <a:r>
              <a:rPr lang="en-ID" sz="1300" b="0" i="0" dirty="0">
                <a:solidFill>
                  <a:srgbClr val="627383"/>
                </a:solidFill>
                <a:latin typeface="Aptos"/>
              </a:rPr>
              <a:t>.</a:t>
            </a:r>
            <a:endParaRPr sz="1300" b="0" i="0" dirty="0">
              <a:solidFill>
                <a:srgbClr val="627383"/>
              </a:solidFill>
              <a:latin typeface="Aptos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594360" y="5577840"/>
            <a:ext cx="10927080" cy="411480"/>
          </a:xfrm>
          <a:prstGeom prst="roundRect">
            <a:avLst>
              <a:gd name="adj" fmla="val 12000"/>
            </a:avLst>
          </a:prstGeom>
          <a:solidFill>
            <a:srgbClr val="EA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77240" y="5660136"/>
            <a:ext cx="1056132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6324F"/>
                </a:solidFill>
                <a:latin typeface="Aptos"/>
              </a:rPr>
              <a:t>Prinsip kerja: RAW menjaga jejak sumber; GOLD menyajikan data dengan struktur konsisten.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79B1D4A-49AD-46AB-AF96-F5E47E409DFA}"/>
              </a:ext>
            </a:extLst>
          </p:cNvPr>
          <p:cNvCxnSpPr>
            <a:stCxn id="8" idx="3"/>
            <a:endCxn id="13" idx="1"/>
          </p:cNvCxnSpPr>
          <p:nvPr/>
        </p:nvCxnSpPr>
        <p:spPr>
          <a:xfrm>
            <a:off x="3977640" y="2066544"/>
            <a:ext cx="3657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57B1F97-176B-E317-A27A-E591150A7F1D}"/>
              </a:ext>
            </a:extLst>
          </p:cNvPr>
          <p:cNvCxnSpPr>
            <a:stCxn id="13" idx="3"/>
            <a:endCxn id="18" idx="1"/>
          </p:cNvCxnSpPr>
          <p:nvPr/>
        </p:nvCxnSpPr>
        <p:spPr>
          <a:xfrm>
            <a:off x="7726680" y="2066544"/>
            <a:ext cx="3657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30C6395-2DEB-00E3-C0CE-06F748C4B0AF}"/>
              </a:ext>
            </a:extLst>
          </p:cNvPr>
          <p:cNvCxnSpPr>
            <a:stCxn id="18" idx="2"/>
            <a:endCxn id="23" idx="0"/>
          </p:cNvCxnSpPr>
          <p:nvPr/>
        </p:nvCxnSpPr>
        <p:spPr>
          <a:xfrm>
            <a:off x="9784080" y="2715768"/>
            <a:ext cx="0" cy="667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20EEEB3-D455-C45D-314D-4A4C558FCD80}"/>
              </a:ext>
            </a:extLst>
          </p:cNvPr>
          <p:cNvCxnSpPr>
            <a:stCxn id="23" idx="1"/>
            <a:endCxn id="28" idx="3"/>
          </p:cNvCxnSpPr>
          <p:nvPr/>
        </p:nvCxnSpPr>
        <p:spPr>
          <a:xfrm flipH="1">
            <a:off x="7726680" y="4032504"/>
            <a:ext cx="3657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6930754-D1B2-4359-A26C-8634228E79FC}"/>
              </a:ext>
            </a:extLst>
          </p:cNvPr>
          <p:cNvCxnSpPr>
            <a:stCxn id="28" idx="1"/>
            <a:endCxn id="33" idx="3"/>
          </p:cNvCxnSpPr>
          <p:nvPr/>
        </p:nvCxnSpPr>
        <p:spPr>
          <a:xfrm flipH="1">
            <a:off x="3977640" y="4032504"/>
            <a:ext cx="3657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4864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900" b="1" dirty="0">
                <a:solidFill>
                  <a:srgbClr val="1976A8"/>
                </a:solidFill>
                <a:latin typeface="Aptos"/>
              </a:rPr>
              <a:t>4</a:t>
            </a:r>
            <a:r>
              <a:rPr sz="900" b="1" i="0" dirty="0">
                <a:solidFill>
                  <a:srgbClr val="1976A8"/>
                </a:solidFill>
                <a:latin typeface="Aptos"/>
              </a:rPr>
              <a:t> |  CLEANING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324F"/>
                </a:solidFill>
                <a:latin typeface="Aptos"/>
              </a:rPr>
              <a:t>Tantangan nyata: data PDF tidak langsung terstruktur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19" y="1303020"/>
            <a:ext cx="2926079" cy="399189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lide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89" y="1359635"/>
            <a:ext cx="2182537" cy="382783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954779" y="1303020"/>
            <a:ext cx="4617720" cy="2606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lide2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1548806"/>
            <a:ext cx="4572000" cy="211446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869680" y="1325880"/>
            <a:ext cx="260604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70848" y="1472184"/>
            <a:ext cx="222199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324F"/>
                </a:solidFill>
                <a:latin typeface="Aptos"/>
              </a:rPr>
              <a:t>Masalah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1748328"/>
            <a:ext cx="2221992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dirty="0">
                <a:solidFill>
                  <a:srgbClr val="253746"/>
                </a:solidFill>
                <a:latin typeface="Aptos"/>
              </a:rPr>
              <a:t>Satu baris </a:t>
            </a:r>
            <a:r>
              <a:rPr sz="1200" b="0" i="0" dirty="0" err="1">
                <a:solidFill>
                  <a:srgbClr val="253746"/>
                </a:solidFill>
                <a:latin typeface="Aptos"/>
              </a:rPr>
              <a:t>hasil</a:t>
            </a:r>
            <a:r>
              <a:rPr sz="1200" b="0" i="0" dirty="0">
                <a:solidFill>
                  <a:srgbClr val="253746"/>
                </a:solidFill>
                <a:latin typeface="Aptos"/>
              </a:rPr>
              <a:t> copy </a:t>
            </a:r>
            <a:r>
              <a:rPr sz="1200" b="0" i="0" dirty="0" err="1">
                <a:solidFill>
                  <a:srgbClr val="253746"/>
                </a:solidFill>
                <a:latin typeface="Aptos"/>
              </a:rPr>
              <a:t>dapat</a:t>
            </a:r>
            <a:r>
              <a:rPr sz="12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253746"/>
                </a:solidFill>
                <a:latin typeface="Aptos"/>
              </a:rPr>
              <a:t>masuk</a:t>
            </a:r>
            <a:r>
              <a:rPr sz="12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253746"/>
                </a:solidFill>
                <a:latin typeface="Aptos"/>
              </a:rPr>
              <a:t>ke</a:t>
            </a:r>
            <a:r>
              <a:rPr sz="12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253746"/>
                </a:solidFill>
                <a:latin typeface="Aptos"/>
              </a:rPr>
              <a:t>satu</a:t>
            </a:r>
            <a:r>
              <a:rPr sz="12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253746"/>
                </a:solidFill>
                <a:latin typeface="Aptos"/>
              </a:rPr>
              <a:t>kolom</a:t>
            </a:r>
            <a:r>
              <a:rPr sz="1200" b="0" i="0" dirty="0">
                <a:solidFill>
                  <a:srgbClr val="253746"/>
                </a:solidFill>
                <a:latin typeface="Aptos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642616"/>
            <a:ext cx="260604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70848" y="2788920"/>
            <a:ext cx="222199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324F"/>
                </a:solidFill>
                <a:latin typeface="Aptos"/>
              </a:rPr>
              <a:t>Masalah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3108960"/>
            <a:ext cx="2221992" cy="64007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dirty="0">
                <a:solidFill>
                  <a:srgbClr val="253746"/>
                </a:solidFill>
                <a:latin typeface="Aptos"/>
              </a:rPr>
              <a:t>Delimiter </a:t>
            </a:r>
            <a:r>
              <a:rPr sz="1200" b="0" i="0" dirty="0" err="1">
                <a:solidFill>
                  <a:srgbClr val="253746"/>
                </a:solidFill>
                <a:latin typeface="Aptos"/>
              </a:rPr>
              <a:t>spasi</a:t>
            </a:r>
            <a:r>
              <a:rPr sz="12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253746"/>
                </a:solidFill>
                <a:latin typeface="Aptos"/>
              </a:rPr>
              <a:t>bisa</a:t>
            </a:r>
            <a:r>
              <a:rPr sz="12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253746"/>
                </a:solidFill>
                <a:latin typeface="Aptos"/>
              </a:rPr>
              <a:t>memecah</a:t>
            </a:r>
            <a:r>
              <a:rPr sz="1200" b="0" i="0" dirty="0">
                <a:solidFill>
                  <a:srgbClr val="253746"/>
                </a:solidFill>
                <a:latin typeface="Aptos"/>
              </a:rPr>
              <a:t> nama </a:t>
            </a:r>
            <a:r>
              <a:rPr sz="1200" b="0" i="0" dirty="0" err="1">
                <a:solidFill>
                  <a:srgbClr val="253746"/>
                </a:solidFill>
                <a:latin typeface="Aptos"/>
              </a:rPr>
              <a:t>seperti</a:t>
            </a:r>
            <a:r>
              <a:rPr sz="1200" b="0" i="0" dirty="0">
                <a:solidFill>
                  <a:srgbClr val="253746"/>
                </a:solidFill>
                <a:latin typeface="Aptos"/>
              </a:rPr>
              <a:t> “Bandung Barat”.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4779" y="4160520"/>
            <a:ext cx="4640581" cy="1134394"/>
          </a:xfrm>
          <a:prstGeom prst="roundRect">
            <a:avLst>
              <a:gd name="adj" fmla="val 12000"/>
            </a:avLst>
          </a:prstGeom>
          <a:solidFill>
            <a:srgbClr val="FF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43082" y="4218073"/>
            <a:ext cx="4506557" cy="93564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400" b="1" i="0" dirty="0" err="1">
                <a:solidFill>
                  <a:srgbClr val="16324F"/>
                </a:solidFill>
                <a:latin typeface="Aptos"/>
              </a:rPr>
              <a:t>Penyelesaian</a:t>
            </a:r>
            <a:endParaRPr lang="en-US" sz="1400" b="1" dirty="0">
              <a:solidFill>
                <a:srgbClr val="16324F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r>
              <a:rPr lang="en-ID" sz="1400" i="0" dirty="0" err="1">
                <a:solidFill>
                  <a:srgbClr val="16324F"/>
                </a:solidFill>
                <a:latin typeface="Aptos"/>
              </a:rPr>
              <a:t>Pisahkan</a:t>
            </a:r>
            <a:r>
              <a:rPr lang="en-ID" sz="1400" i="0" dirty="0">
                <a:solidFill>
                  <a:srgbClr val="16324F"/>
                </a:solidFill>
                <a:latin typeface="Aptos"/>
              </a:rPr>
              <a:t> </a:t>
            </a:r>
            <a:r>
              <a:rPr lang="en-ID" sz="1400" i="0" dirty="0" err="1">
                <a:solidFill>
                  <a:srgbClr val="16324F"/>
                </a:solidFill>
                <a:latin typeface="Aptos"/>
              </a:rPr>
              <a:t>kolom</a:t>
            </a:r>
            <a:r>
              <a:rPr lang="en-ID" sz="1400" i="0" dirty="0">
                <a:solidFill>
                  <a:srgbClr val="16324F"/>
                </a:solidFill>
                <a:latin typeface="Aptos"/>
              </a:rPr>
              <a:t> </a:t>
            </a:r>
            <a:r>
              <a:rPr lang="en-ID" sz="1400" i="0" dirty="0" err="1">
                <a:solidFill>
                  <a:srgbClr val="16324F"/>
                </a:solidFill>
                <a:latin typeface="Aptos"/>
              </a:rPr>
              <a:t>dengan</a:t>
            </a:r>
            <a:r>
              <a:rPr lang="en-ID" sz="1400" i="0" dirty="0">
                <a:solidFill>
                  <a:srgbClr val="16324F"/>
                </a:solidFill>
                <a:latin typeface="Aptos"/>
              </a:rPr>
              <a:t> </a:t>
            </a:r>
            <a:r>
              <a:rPr lang="en-ID" sz="1400" i="0" dirty="0" err="1">
                <a:solidFill>
                  <a:srgbClr val="16324F"/>
                </a:solidFill>
                <a:latin typeface="Aptos"/>
              </a:rPr>
              <a:t>hati-hati</a:t>
            </a:r>
            <a:r>
              <a:rPr lang="en-ID" sz="1400" i="0" dirty="0">
                <a:solidFill>
                  <a:srgbClr val="16324F"/>
                </a:solidFill>
                <a:latin typeface="Aptos"/>
              </a:rPr>
              <a:t>, </a:t>
            </a:r>
            <a:r>
              <a:rPr lang="en-ID" sz="1400" i="0" dirty="0" err="1">
                <a:solidFill>
                  <a:srgbClr val="16324F"/>
                </a:solidFill>
                <a:latin typeface="Aptos"/>
              </a:rPr>
              <a:t>periksa</a:t>
            </a:r>
            <a:r>
              <a:rPr lang="en-ID" sz="1400" i="0" dirty="0">
                <a:solidFill>
                  <a:srgbClr val="16324F"/>
                </a:solidFill>
                <a:latin typeface="Aptos"/>
              </a:rPr>
              <a:t> </a:t>
            </a:r>
            <a:r>
              <a:rPr lang="en-ID" sz="1400" i="0" dirty="0" err="1">
                <a:solidFill>
                  <a:srgbClr val="16324F"/>
                </a:solidFill>
                <a:latin typeface="Aptos"/>
              </a:rPr>
              <a:t>kembali</a:t>
            </a:r>
            <a:r>
              <a:rPr lang="en-ID" sz="1400" i="0" dirty="0">
                <a:solidFill>
                  <a:srgbClr val="16324F"/>
                </a:solidFill>
                <a:latin typeface="Aptos"/>
              </a:rPr>
              <a:t> nama wilayah, </a:t>
            </a:r>
            <a:r>
              <a:rPr lang="en-ID" sz="1400" i="0" dirty="0" err="1">
                <a:solidFill>
                  <a:srgbClr val="16324F"/>
                </a:solidFill>
                <a:latin typeface="Aptos"/>
              </a:rPr>
              <a:t>bersihkan</a:t>
            </a:r>
            <a:r>
              <a:rPr lang="en-ID" sz="1400" i="0" dirty="0">
                <a:solidFill>
                  <a:srgbClr val="16324F"/>
                </a:solidFill>
                <a:latin typeface="Aptos"/>
              </a:rPr>
              <a:t> format </a:t>
            </a:r>
            <a:r>
              <a:rPr lang="en-ID" sz="1400" i="0" dirty="0" err="1">
                <a:solidFill>
                  <a:srgbClr val="16324F"/>
                </a:solidFill>
                <a:latin typeface="Aptos"/>
              </a:rPr>
              <a:t>numerik</a:t>
            </a:r>
            <a:r>
              <a:rPr lang="en-ID" sz="1400" i="0" dirty="0">
                <a:solidFill>
                  <a:srgbClr val="16324F"/>
                </a:solidFill>
                <a:latin typeface="Aptos"/>
              </a:rPr>
              <a:t>, </a:t>
            </a:r>
            <a:r>
              <a:rPr lang="en-ID" sz="1400" i="0" dirty="0" err="1">
                <a:solidFill>
                  <a:srgbClr val="16324F"/>
                </a:solidFill>
                <a:latin typeface="Aptos"/>
              </a:rPr>
              <a:t>lalu</a:t>
            </a:r>
            <a:r>
              <a:rPr lang="en-ID" sz="1400" i="0" dirty="0">
                <a:solidFill>
                  <a:srgbClr val="16324F"/>
                </a:solidFill>
                <a:latin typeface="Aptos"/>
              </a:rPr>
              <a:t> </a:t>
            </a:r>
            <a:r>
              <a:rPr lang="en-ID" sz="1400" i="0" dirty="0" err="1">
                <a:solidFill>
                  <a:srgbClr val="16324F"/>
                </a:solidFill>
                <a:latin typeface="Aptos"/>
              </a:rPr>
              <a:t>cocokkan</a:t>
            </a:r>
            <a:r>
              <a:rPr lang="en-ID" sz="1400" i="0" dirty="0">
                <a:solidFill>
                  <a:srgbClr val="16324F"/>
                </a:solidFill>
                <a:latin typeface="Aptos"/>
              </a:rPr>
              <a:t> </a:t>
            </a:r>
            <a:r>
              <a:rPr lang="en-ID" sz="1400" i="0" dirty="0" err="1">
                <a:solidFill>
                  <a:srgbClr val="16324F"/>
                </a:solidFill>
                <a:latin typeface="Aptos"/>
              </a:rPr>
              <a:t>hasilnya</a:t>
            </a:r>
            <a:r>
              <a:rPr lang="en-ID" sz="1400" i="0" dirty="0">
                <a:solidFill>
                  <a:srgbClr val="16324F"/>
                </a:solidFill>
                <a:latin typeface="Aptos"/>
              </a:rPr>
              <a:t> </a:t>
            </a:r>
            <a:r>
              <a:rPr lang="en-ID" sz="1400" i="0" dirty="0" err="1">
                <a:solidFill>
                  <a:srgbClr val="16324F"/>
                </a:solidFill>
                <a:latin typeface="Aptos"/>
              </a:rPr>
              <a:t>dengan</a:t>
            </a:r>
            <a:r>
              <a:rPr lang="en-ID" sz="1400" i="0" dirty="0">
                <a:solidFill>
                  <a:srgbClr val="16324F"/>
                </a:solidFill>
                <a:latin typeface="Aptos"/>
              </a:rPr>
              <a:t> </a:t>
            </a:r>
            <a:r>
              <a:rPr lang="en-ID" sz="1400" i="0" dirty="0" err="1">
                <a:solidFill>
                  <a:srgbClr val="16324F"/>
                </a:solidFill>
                <a:latin typeface="Aptos"/>
              </a:rPr>
              <a:t>tabel</a:t>
            </a:r>
            <a:r>
              <a:rPr lang="en-ID" sz="1400" i="0" dirty="0">
                <a:solidFill>
                  <a:srgbClr val="16324F"/>
                </a:solidFill>
                <a:latin typeface="Aptos"/>
              </a:rPr>
              <a:t> PDF </a:t>
            </a:r>
            <a:r>
              <a:rPr lang="en-ID" sz="1400" i="0" dirty="0" err="1">
                <a:solidFill>
                  <a:srgbClr val="16324F"/>
                </a:solidFill>
                <a:latin typeface="Aptos"/>
              </a:rPr>
              <a:t>asli</a:t>
            </a:r>
            <a:r>
              <a:rPr lang="en-ID" sz="1400" i="0" dirty="0">
                <a:solidFill>
                  <a:srgbClr val="16324F"/>
                </a:solidFill>
                <a:latin typeface="Aptos"/>
              </a:rPr>
              <a:t>.</a:t>
            </a:r>
            <a:endParaRPr sz="1400" i="0" dirty="0">
              <a:solidFill>
                <a:srgbClr val="16324F"/>
              </a:solidFill>
              <a:latin typeface="Aptos"/>
            </a:endParaRPr>
          </a:p>
        </p:txBody>
      </p:sp>
      <p:sp>
        <p:nvSpPr>
          <p:cNvPr id="24" name="Rounded Rectangle 15">
            <a:extLst>
              <a:ext uri="{FF2B5EF4-FFF2-40B4-BE49-F238E27FC236}">
                <a16:creationId xmlns:a16="http://schemas.microsoft.com/office/drawing/2014/main" id="{E15B1927-33A3-E470-A902-F0FEF1C9E7E6}"/>
              </a:ext>
            </a:extLst>
          </p:cNvPr>
          <p:cNvSpPr/>
          <p:nvPr/>
        </p:nvSpPr>
        <p:spPr>
          <a:xfrm>
            <a:off x="8869680" y="4050792"/>
            <a:ext cx="260604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BD1F28-8509-5482-481F-5E0E2F25F7A2}"/>
              </a:ext>
            </a:extLst>
          </p:cNvPr>
          <p:cNvSpPr txBox="1"/>
          <p:nvPr/>
        </p:nvSpPr>
        <p:spPr>
          <a:xfrm>
            <a:off x="9070848" y="4197096"/>
            <a:ext cx="2221992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 dirty="0" err="1">
                <a:solidFill>
                  <a:srgbClr val="16324F"/>
                </a:solidFill>
                <a:latin typeface="Aptos"/>
              </a:rPr>
              <a:t>Masalah</a:t>
            </a:r>
            <a:r>
              <a:rPr sz="1500" b="1" i="0" dirty="0">
                <a:solidFill>
                  <a:srgbClr val="16324F"/>
                </a:solidFill>
                <a:latin typeface="Aptos"/>
              </a:rPr>
              <a:t> </a:t>
            </a:r>
            <a:r>
              <a:rPr lang="en-US" sz="1500" b="1" i="0" dirty="0">
                <a:solidFill>
                  <a:srgbClr val="16324F"/>
                </a:solidFill>
                <a:latin typeface="Aptos"/>
              </a:rPr>
              <a:t>3</a:t>
            </a:r>
            <a:endParaRPr sz="1500" b="1" i="0" dirty="0">
              <a:solidFill>
                <a:srgbClr val="16324F"/>
              </a:solidFill>
              <a:latin typeface="Apto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DAB0F5-CB36-BF79-C29C-74295EA5A93D}"/>
              </a:ext>
            </a:extLst>
          </p:cNvPr>
          <p:cNvSpPr txBox="1"/>
          <p:nvPr/>
        </p:nvSpPr>
        <p:spPr>
          <a:xfrm>
            <a:off x="9061704" y="4482384"/>
            <a:ext cx="2221992" cy="8125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200" b="0" i="0" dirty="0" err="1">
                <a:solidFill>
                  <a:srgbClr val="253746"/>
                </a:solidFill>
                <a:latin typeface="Aptos"/>
              </a:rPr>
              <a:t>Pemisah</a:t>
            </a:r>
            <a:r>
              <a:rPr lang="en-ID" sz="12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200" b="0" i="0" dirty="0" err="1">
                <a:solidFill>
                  <a:srgbClr val="253746"/>
                </a:solidFill>
                <a:latin typeface="Aptos"/>
              </a:rPr>
              <a:t>ribuan</a:t>
            </a:r>
            <a:r>
              <a:rPr lang="en-ID" sz="1200" b="0" i="0" dirty="0">
                <a:solidFill>
                  <a:srgbClr val="253746"/>
                </a:solidFill>
                <a:latin typeface="Aptos"/>
              </a:rPr>
              <a:t> dan </a:t>
            </a:r>
            <a:r>
              <a:rPr lang="en-ID" sz="1200" b="0" i="0" dirty="0" err="1">
                <a:solidFill>
                  <a:srgbClr val="253746"/>
                </a:solidFill>
                <a:latin typeface="Aptos"/>
              </a:rPr>
              <a:t>tanda</a:t>
            </a:r>
            <a:r>
              <a:rPr lang="en-ID" sz="12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200" b="0" i="0" dirty="0" err="1">
                <a:solidFill>
                  <a:srgbClr val="253746"/>
                </a:solidFill>
                <a:latin typeface="Aptos"/>
              </a:rPr>
              <a:t>desimal</a:t>
            </a:r>
            <a:r>
              <a:rPr lang="en-ID" sz="12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200" b="0" i="0" dirty="0" err="1">
                <a:solidFill>
                  <a:srgbClr val="253746"/>
                </a:solidFill>
                <a:latin typeface="Aptos"/>
              </a:rPr>
              <a:t>perlu</a:t>
            </a:r>
            <a:r>
              <a:rPr lang="en-ID" sz="12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200" b="0" i="0" dirty="0" err="1">
                <a:solidFill>
                  <a:srgbClr val="253746"/>
                </a:solidFill>
                <a:latin typeface="Aptos"/>
              </a:rPr>
              <a:t>diseragamkan</a:t>
            </a:r>
            <a:r>
              <a:rPr lang="en-ID" sz="1200" b="0" i="0" dirty="0">
                <a:solidFill>
                  <a:srgbClr val="253746"/>
                </a:solidFill>
                <a:latin typeface="Aptos"/>
              </a:rPr>
              <a:t> agar </a:t>
            </a:r>
            <a:r>
              <a:rPr lang="en-ID" sz="1200" b="0" i="0" dirty="0" err="1">
                <a:solidFill>
                  <a:srgbClr val="253746"/>
                </a:solidFill>
                <a:latin typeface="Aptos"/>
              </a:rPr>
              <a:t>nilai</a:t>
            </a:r>
            <a:r>
              <a:rPr lang="en-ID" sz="12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200" b="0" i="0" dirty="0" err="1">
                <a:solidFill>
                  <a:srgbClr val="253746"/>
                </a:solidFill>
                <a:latin typeface="Aptos"/>
              </a:rPr>
              <a:t>dapat</a:t>
            </a:r>
            <a:r>
              <a:rPr lang="en-ID" sz="12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200" b="0" i="0" dirty="0" err="1">
                <a:solidFill>
                  <a:srgbClr val="253746"/>
                </a:solidFill>
                <a:latin typeface="Aptos"/>
              </a:rPr>
              <a:t>dibaca</a:t>
            </a:r>
            <a:r>
              <a:rPr lang="en-ID" sz="12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200" b="0" i="0" dirty="0" err="1">
                <a:solidFill>
                  <a:srgbClr val="253746"/>
                </a:solidFill>
                <a:latin typeface="Aptos"/>
              </a:rPr>
              <a:t>sebagai</a:t>
            </a:r>
            <a:r>
              <a:rPr lang="en-ID" sz="12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200" b="0" i="0" dirty="0" err="1">
                <a:solidFill>
                  <a:srgbClr val="253746"/>
                </a:solidFill>
                <a:latin typeface="Aptos"/>
              </a:rPr>
              <a:t>angka</a:t>
            </a:r>
            <a:r>
              <a:rPr lang="en-ID" sz="12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200" b="0" i="0" dirty="0" err="1">
                <a:solidFill>
                  <a:srgbClr val="253746"/>
                </a:solidFill>
                <a:latin typeface="Aptos"/>
              </a:rPr>
              <a:t>secara</a:t>
            </a:r>
            <a:r>
              <a:rPr lang="en-ID" sz="12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200" b="0" i="0" dirty="0" err="1">
                <a:solidFill>
                  <a:srgbClr val="253746"/>
                </a:solidFill>
                <a:latin typeface="Aptos"/>
              </a:rPr>
              <a:t>konsisten</a:t>
            </a:r>
            <a:r>
              <a:rPr lang="en-ID" sz="1200" b="0" i="0" dirty="0">
                <a:solidFill>
                  <a:srgbClr val="253746"/>
                </a:solidFill>
                <a:latin typeface="Aptos"/>
              </a:rPr>
              <a:t>.</a:t>
            </a:r>
            <a:endParaRPr sz="1200" b="0" i="0" dirty="0">
              <a:solidFill>
                <a:srgbClr val="25374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4864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900" b="1" dirty="0">
                <a:solidFill>
                  <a:srgbClr val="1976A8"/>
                </a:solidFill>
                <a:latin typeface="Aptos"/>
              </a:rPr>
              <a:t>5</a:t>
            </a:r>
            <a:r>
              <a:rPr sz="900" b="1" i="0" dirty="0">
                <a:solidFill>
                  <a:srgbClr val="1976A8"/>
                </a:solidFill>
                <a:latin typeface="Aptos"/>
              </a:rPr>
              <a:t>  |  STANDARDIZATION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324F"/>
                </a:solidFill>
                <a:latin typeface="Aptos"/>
              </a:rPr>
              <a:t>Aturan cleaning yang diterapkan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53312"/>
            <a:ext cx="1828800" cy="438912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444752"/>
            <a:ext cx="1609344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AREA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353312"/>
            <a:ext cx="4617720" cy="438912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78608" y="1444752"/>
            <a:ext cx="4398264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ATURAN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1353312"/>
            <a:ext cx="4526280" cy="438912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96328" y="1444752"/>
            <a:ext cx="4306824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HASIL YANG DITUJU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792224"/>
            <a:ext cx="1828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901952"/>
            <a:ext cx="1609344" cy="60350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6324F"/>
                </a:solidFill>
                <a:latin typeface="Aptos"/>
              </a:rPr>
              <a:t>Nama wilayah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1792224"/>
            <a:ext cx="46177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78608" y="1901952"/>
            <a:ext cx="4398264" cy="4278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50" b="0" i="0" dirty="0" err="1">
                <a:solidFill>
                  <a:srgbClr val="253746"/>
                </a:solidFill>
                <a:latin typeface="Aptos"/>
              </a:rPr>
              <a:t>Menambah</a:t>
            </a:r>
            <a:r>
              <a:rPr lang="en-US" sz="1150" b="0" i="0" dirty="0">
                <a:solidFill>
                  <a:srgbClr val="253746"/>
                </a:solidFill>
                <a:latin typeface="Aptos"/>
              </a:rPr>
              <a:t> kata “</a:t>
            </a:r>
            <a:r>
              <a:rPr lang="en-US" sz="1150" b="0" i="0" dirty="0" err="1">
                <a:solidFill>
                  <a:srgbClr val="253746"/>
                </a:solidFill>
                <a:latin typeface="Aptos"/>
              </a:rPr>
              <a:t>Kabupaten</a:t>
            </a:r>
            <a:r>
              <a:rPr lang="en-US" sz="1150" b="0" i="0" dirty="0">
                <a:solidFill>
                  <a:srgbClr val="253746"/>
                </a:solidFill>
                <a:latin typeface="Aptos"/>
              </a:rPr>
              <a:t>” </a:t>
            </a:r>
            <a:r>
              <a:rPr lang="en-US" sz="1150" b="0" i="0" dirty="0" err="1">
                <a:solidFill>
                  <a:srgbClr val="253746"/>
                </a:solidFill>
                <a:latin typeface="Aptos"/>
              </a:rPr>
              <a:t>untuk</a:t>
            </a:r>
            <a:r>
              <a:rPr lang="en-US" sz="1150" b="0" i="0" dirty="0">
                <a:solidFill>
                  <a:srgbClr val="253746"/>
                </a:solidFill>
                <a:latin typeface="Aptos"/>
              </a:rPr>
              <a:t> wilayah </a:t>
            </a:r>
            <a:r>
              <a:rPr lang="en-US" sz="1150" b="0" i="0" dirty="0" err="1">
                <a:solidFill>
                  <a:srgbClr val="253746"/>
                </a:solidFill>
                <a:latin typeface="Aptos"/>
              </a:rPr>
              <a:t>kabupaten</a:t>
            </a:r>
            <a:r>
              <a:rPr lang="en-US" sz="1150" b="0" i="0" dirty="0">
                <a:solidFill>
                  <a:srgbClr val="253746"/>
                </a:solidFill>
                <a:latin typeface="Aptos"/>
              </a:rPr>
              <a:t> dan “Kota” </a:t>
            </a:r>
            <a:r>
              <a:rPr lang="en-US" sz="1150" b="0" i="0" dirty="0" err="1">
                <a:solidFill>
                  <a:srgbClr val="253746"/>
                </a:solidFill>
                <a:latin typeface="Aptos"/>
              </a:rPr>
              <a:t>untuk</a:t>
            </a:r>
            <a:r>
              <a:rPr lang="en-US" sz="1150" b="0" i="0" dirty="0">
                <a:solidFill>
                  <a:srgbClr val="253746"/>
                </a:solidFill>
                <a:latin typeface="Aptos"/>
              </a:rPr>
              <a:t> wilayah </a:t>
            </a:r>
            <a:r>
              <a:rPr lang="en-US" sz="1150" b="0" i="0" dirty="0" err="1">
                <a:solidFill>
                  <a:srgbClr val="253746"/>
                </a:solidFill>
                <a:latin typeface="Aptos"/>
              </a:rPr>
              <a:t>kota</a:t>
            </a:r>
            <a:r>
              <a:rPr lang="en-US" sz="1150" b="0" i="0" dirty="0">
                <a:solidFill>
                  <a:srgbClr val="253746"/>
                </a:solidFill>
                <a:latin typeface="Aptos"/>
              </a:rPr>
              <a:t>.</a:t>
            </a:r>
            <a:endParaRPr sz="1150" b="0" i="0" dirty="0">
              <a:solidFill>
                <a:srgbClr val="253746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086600" y="1792224"/>
            <a:ext cx="45262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4306824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50" b="0" i="0" dirty="0" err="1">
                <a:solidFill>
                  <a:srgbClr val="253746"/>
                </a:solidFill>
                <a:latin typeface="Aptos"/>
              </a:rPr>
              <a:t>Identitas</a:t>
            </a:r>
            <a:r>
              <a:rPr lang="en-US" sz="1150" b="0" i="0" dirty="0">
                <a:solidFill>
                  <a:srgbClr val="253746"/>
                </a:solidFill>
                <a:latin typeface="Aptos"/>
              </a:rPr>
              <a:t> wilayah </a:t>
            </a:r>
            <a:r>
              <a:rPr lang="en-US" sz="1150" b="0" i="0" dirty="0" err="1">
                <a:solidFill>
                  <a:srgbClr val="253746"/>
                </a:solidFill>
                <a:latin typeface="Aptos"/>
              </a:rPr>
              <a:t>harus</a:t>
            </a:r>
            <a:r>
              <a:rPr lang="en-US" sz="115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US" sz="1150" b="0" i="0" dirty="0" err="1">
                <a:solidFill>
                  <a:srgbClr val="253746"/>
                </a:solidFill>
                <a:latin typeface="Aptos"/>
              </a:rPr>
              <a:t>tetap</a:t>
            </a:r>
            <a:r>
              <a:rPr lang="en-US" sz="115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US" sz="1150" b="0" i="0" dirty="0" err="1">
                <a:solidFill>
                  <a:srgbClr val="253746"/>
                </a:solidFill>
                <a:latin typeface="Aptos"/>
              </a:rPr>
              <a:t>utuh</a:t>
            </a:r>
            <a:endParaRPr sz="1150" b="0" i="0" dirty="0">
              <a:solidFill>
                <a:srgbClr val="253746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0080" y="2560320"/>
            <a:ext cx="1828800" cy="768096"/>
          </a:xfrm>
          <a:prstGeom prst="rect">
            <a:avLst/>
          </a:prstGeom>
          <a:solidFill>
            <a:srgbClr val="F0F4F7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2670048"/>
            <a:ext cx="1609344" cy="60350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 dirty="0">
                <a:solidFill>
                  <a:srgbClr val="16324F"/>
                </a:solidFill>
                <a:latin typeface="Aptos"/>
              </a:rPr>
              <a:t>Nilai </a:t>
            </a:r>
            <a:r>
              <a:rPr sz="1150" b="1" i="0" dirty="0" err="1">
                <a:solidFill>
                  <a:srgbClr val="16324F"/>
                </a:solidFill>
                <a:latin typeface="Aptos"/>
              </a:rPr>
              <a:t>numerik</a:t>
            </a:r>
            <a:endParaRPr sz="1150" b="1" i="0" dirty="0">
              <a:solidFill>
                <a:srgbClr val="16324F"/>
              </a:solidFill>
              <a:latin typeface="Apto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468880" y="2560320"/>
            <a:ext cx="4617720" cy="768096"/>
          </a:xfrm>
          <a:prstGeom prst="rect">
            <a:avLst/>
          </a:prstGeom>
          <a:solidFill>
            <a:srgbClr val="F0F4F7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78608" y="2670048"/>
            <a:ext cx="4398264" cy="4278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 dirty="0" err="1">
                <a:solidFill>
                  <a:srgbClr val="253746"/>
                </a:solidFill>
                <a:latin typeface="Aptos"/>
              </a:rPr>
              <a:t>Membersihkan</a:t>
            </a:r>
            <a:r>
              <a:rPr sz="115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253746"/>
                </a:solidFill>
                <a:latin typeface="Aptos"/>
              </a:rPr>
              <a:t>pemisah</a:t>
            </a:r>
            <a:r>
              <a:rPr sz="115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253746"/>
                </a:solidFill>
                <a:latin typeface="Aptos"/>
              </a:rPr>
              <a:t>ribuan</a:t>
            </a:r>
            <a:r>
              <a:rPr sz="1150" b="0" i="0" dirty="0">
                <a:solidFill>
                  <a:srgbClr val="253746"/>
                </a:solidFill>
                <a:latin typeface="Aptos"/>
              </a:rPr>
              <a:t> dan </a:t>
            </a:r>
            <a:r>
              <a:rPr sz="1150" b="0" i="0" dirty="0" err="1">
                <a:solidFill>
                  <a:srgbClr val="253746"/>
                </a:solidFill>
                <a:latin typeface="Aptos"/>
              </a:rPr>
              <a:t>mengubah</a:t>
            </a:r>
            <a:r>
              <a:rPr sz="115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253746"/>
                </a:solidFill>
                <a:latin typeface="Aptos"/>
              </a:rPr>
              <a:t>koma</a:t>
            </a:r>
            <a:r>
              <a:rPr sz="115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253746"/>
                </a:solidFill>
                <a:latin typeface="Aptos"/>
              </a:rPr>
              <a:t>desimal</a:t>
            </a:r>
            <a:r>
              <a:rPr sz="115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253746"/>
                </a:solidFill>
                <a:latin typeface="Aptos"/>
              </a:rPr>
              <a:t>menjadi</a:t>
            </a:r>
            <a:r>
              <a:rPr sz="115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253746"/>
                </a:solidFill>
                <a:latin typeface="Aptos"/>
              </a:rPr>
              <a:t>titik</a:t>
            </a:r>
            <a:r>
              <a:rPr sz="1150" b="0" i="0" dirty="0">
                <a:solidFill>
                  <a:srgbClr val="253746"/>
                </a:solidFill>
                <a:latin typeface="Aptos"/>
              </a:rPr>
              <a:t>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86600" y="2560320"/>
            <a:ext cx="4526280" cy="768096"/>
          </a:xfrm>
          <a:prstGeom prst="rect">
            <a:avLst/>
          </a:prstGeom>
          <a:solidFill>
            <a:srgbClr val="F0F4F7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96328" y="2670048"/>
            <a:ext cx="4306824" cy="60350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53746"/>
                </a:solidFill>
                <a:latin typeface="Aptos"/>
              </a:rPr>
              <a:t>Nilai tersimpan sebagai angka, bukan teks bercampur separator.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328415"/>
            <a:ext cx="1828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3438144"/>
            <a:ext cx="1609344" cy="60350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6324F"/>
                </a:solidFill>
                <a:latin typeface="Aptos"/>
              </a:rPr>
              <a:t>Kode wilayah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3328415"/>
            <a:ext cx="46177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578608" y="3438144"/>
            <a:ext cx="4398264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ID" sz="1200" dirty="0" err="1"/>
              <a:t>Menambahkan</a:t>
            </a:r>
            <a:r>
              <a:rPr lang="en-ID" sz="1200" dirty="0"/>
              <a:t> </a:t>
            </a:r>
            <a:r>
              <a:rPr lang="en-ID" sz="1200" dirty="0" err="1"/>
              <a:t>kode</a:t>
            </a:r>
            <a:r>
              <a:rPr lang="en-ID" sz="1200" dirty="0"/>
              <a:t> </a:t>
            </a:r>
            <a:r>
              <a:rPr lang="en-ID" sz="1200" dirty="0" err="1"/>
              <a:t>provinsi</a:t>
            </a:r>
            <a:r>
              <a:rPr lang="en-ID" sz="1200" dirty="0"/>
              <a:t> dan </a:t>
            </a:r>
            <a:r>
              <a:rPr lang="en-ID" sz="1200" dirty="0" err="1"/>
              <a:t>kode</a:t>
            </a:r>
            <a:r>
              <a:rPr lang="en-ID" sz="1200" dirty="0"/>
              <a:t> </a:t>
            </a:r>
            <a:r>
              <a:rPr lang="en-ID" sz="1200" dirty="0" err="1"/>
              <a:t>kabupaten</a:t>
            </a:r>
            <a:r>
              <a:rPr lang="en-ID" sz="1200" dirty="0"/>
              <a:t>/</a:t>
            </a:r>
            <a:r>
              <a:rPr lang="en-ID" sz="1200" dirty="0" err="1"/>
              <a:t>kota</a:t>
            </a:r>
            <a:r>
              <a:rPr lang="en-ID" sz="1200" dirty="0"/>
              <a:t> </a:t>
            </a:r>
            <a:r>
              <a:rPr lang="en-ID" sz="1200" dirty="0" err="1"/>
              <a:t>dari</a:t>
            </a:r>
            <a:r>
              <a:rPr lang="en-ID" sz="1200" dirty="0"/>
              <a:t> </a:t>
            </a:r>
            <a:r>
              <a:rPr lang="en-ID" sz="1200" dirty="0" err="1"/>
              <a:t>referensi</a:t>
            </a:r>
            <a:r>
              <a:rPr lang="en-ID" sz="1200" dirty="0"/>
              <a:t> BPS</a:t>
            </a:r>
            <a:endParaRPr sz="1150" b="0" i="0" dirty="0">
              <a:solidFill>
                <a:srgbClr val="253746"/>
              </a:solidFill>
              <a:latin typeface="Apto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086600" y="3328415"/>
            <a:ext cx="45262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96328" y="3438144"/>
            <a:ext cx="4306824" cy="4278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 dirty="0" err="1">
                <a:solidFill>
                  <a:srgbClr val="253746"/>
                </a:solidFill>
                <a:latin typeface="Aptos"/>
              </a:rPr>
              <a:t>Identitas</a:t>
            </a:r>
            <a:r>
              <a:rPr sz="1150" b="0" i="0" dirty="0">
                <a:solidFill>
                  <a:srgbClr val="253746"/>
                </a:solidFill>
                <a:latin typeface="Aptos"/>
              </a:rPr>
              <a:t> wilayah </a:t>
            </a:r>
            <a:r>
              <a:rPr sz="1150" b="0" i="0" dirty="0" err="1">
                <a:solidFill>
                  <a:srgbClr val="253746"/>
                </a:solidFill>
                <a:latin typeface="Aptos"/>
              </a:rPr>
              <a:t>lebih</a:t>
            </a:r>
            <a:r>
              <a:rPr sz="115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253746"/>
                </a:solidFill>
                <a:latin typeface="Aptos"/>
              </a:rPr>
              <a:t>konsisten</a:t>
            </a:r>
            <a:r>
              <a:rPr sz="115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253746"/>
                </a:solidFill>
                <a:latin typeface="Aptos"/>
              </a:rPr>
              <a:t>untuk</a:t>
            </a:r>
            <a:r>
              <a:rPr sz="115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253746"/>
                </a:solidFill>
                <a:latin typeface="Aptos"/>
              </a:rPr>
              <a:t>penggabungan</a:t>
            </a:r>
            <a:r>
              <a:rPr lang="en-US" sz="1150" b="0" i="0" dirty="0">
                <a:solidFill>
                  <a:srgbClr val="253746"/>
                </a:solidFill>
                <a:latin typeface="Aptos"/>
              </a:rPr>
              <a:t> table di </a:t>
            </a:r>
            <a:r>
              <a:rPr lang="en-US" sz="1150" b="0" i="0" dirty="0" err="1">
                <a:solidFill>
                  <a:srgbClr val="253746"/>
                </a:solidFill>
                <a:latin typeface="Aptos"/>
              </a:rPr>
              <a:t>databasae</a:t>
            </a:r>
            <a:endParaRPr sz="1150" b="0" i="0" dirty="0">
              <a:solidFill>
                <a:srgbClr val="253746"/>
              </a:solidFill>
              <a:latin typeface="Apto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40080" y="4096512"/>
            <a:ext cx="1828800" cy="768096"/>
          </a:xfrm>
          <a:prstGeom prst="rect">
            <a:avLst/>
          </a:prstGeom>
          <a:solidFill>
            <a:srgbClr val="F0F4F7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9808" y="4206240"/>
            <a:ext cx="1609344" cy="60350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6324F"/>
                </a:solidFill>
                <a:latin typeface="Aptos"/>
              </a:rPr>
              <a:t>Struktur tahun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4096512"/>
            <a:ext cx="4617720" cy="768096"/>
          </a:xfrm>
          <a:prstGeom prst="rect">
            <a:avLst/>
          </a:prstGeom>
          <a:solidFill>
            <a:srgbClr val="F0F4F7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578608" y="4206240"/>
            <a:ext cx="4398264" cy="60350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53746"/>
                </a:solidFill>
                <a:latin typeface="Aptos"/>
              </a:rPr>
              <a:t>Menyeragamkan tahun data dan menggabungkan publikasi berbeda.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86600" y="4096512"/>
            <a:ext cx="4526280" cy="768096"/>
          </a:xfrm>
          <a:prstGeom prst="rect">
            <a:avLst/>
          </a:prstGeom>
          <a:solidFill>
            <a:srgbClr val="F0F4F7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96328" y="4206240"/>
            <a:ext cx="4306824" cy="60350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53746"/>
                </a:solidFill>
                <a:latin typeface="Aptos"/>
              </a:rPr>
              <a:t>Perbandingan lintas tahun menjadi lebih mudah.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864608"/>
            <a:ext cx="1828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9808" y="4974336"/>
            <a:ext cx="1609344" cy="60350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6324F"/>
                </a:solidFill>
                <a:latin typeface="Aptos"/>
              </a:rPr>
              <a:t>Orientasi data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68880" y="4864608"/>
            <a:ext cx="46177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578608" y="4974336"/>
            <a:ext cx="4398264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150" b="0" i="0" dirty="0" err="1">
                <a:solidFill>
                  <a:srgbClr val="253746"/>
                </a:solidFill>
                <a:latin typeface="Aptos"/>
              </a:rPr>
              <a:t>Mengubah</a:t>
            </a:r>
            <a:r>
              <a:rPr lang="en-ID" sz="1150" b="0" i="0" dirty="0">
                <a:solidFill>
                  <a:srgbClr val="253746"/>
                </a:solidFill>
                <a:latin typeface="Aptos"/>
              </a:rPr>
              <a:t> data </a:t>
            </a:r>
            <a:r>
              <a:rPr lang="en-ID" sz="1150" b="0" i="0" dirty="0" err="1">
                <a:solidFill>
                  <a:srgbClr val="253746"/>
                </a:solidFill>
                <a:latin typeface="Aptos"/>
              </a:rPr>
              <a:t>melebar</a:t>
            </a:r>
            <a:r>
              <a:rPr lang="en-ID" sz="115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150" b="0" i="0" dirty="0" err="1">
                <a:solidFill>
                  <a:srgbClr val="253746"/>
                </a:solidFill>
                <a:latin typeface="Aptos"/>
              </a:rPr>
              <a:t>menjadi</a:t>
            </a:r>
            <a:r>
              <a:rPr lang="en-ID" sz="1150" b="0" i="0" dirty="0">
                <a:solidFill>
                  <a:srgbClr val="253746"/>
                </a:solidFill>
                <a:latin typeface="Aptos"/>
              </a:rPr>
              <a:t> format </a:t>
            </a:r>
            <a:r>
              <a:rPr lang="en-ID" sz="1150" b="0" i="0" dirty="0" err="1">
                <a:solidFill>
                  <a:srgbClr val="253746"/>
                </a:solidFill>
                <a:latin typeface="Aptos"/>
              </a:rPr>
              <a:t>memanjang</a:t>
            </a:r>
            <a:r>
              <a:rPr lang="en-ID" sz="1150" b="0" i="0" dirty="0">
                <a:solidFill>
                  <a:srgbClr val="253746"/>
                </a:solidFill>
                <a:latin typeface="Aptos"/>
              </a:rPr>
              <a:t> (long format)</a:t>
            </a:r>
            <a:endParaRPr sz="1150" b="0" i="0" dirty="0">
              <a:solidFill>
                <a:srgbClr val="253746"/>
              </a:solidFill>
              <a:latin typeface="Aptos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086600" y="4864608"/>
            <a:ext cx="45262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96328" y="4974336"/>
            <a:ext cx="4306824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 dirty="0">
                <a:solidFill>
                  <a:srgbClr val="253746"/>
                </a:solidFill>
                <a:latin typeface="Aptos"/>
              </a:rPr>
              <a:t>Satu </a:t>
            </a:r>
            <a:r>
              <a:rPr sz="1150" b="0" i="0" dirty="0" err="1">
                <a:solidFill>
                  <a:srgbClr val="253746"/>
                </a:solidFill>
                <a:latin typeface="Aptos"/>
              </a:rPr>
              <a:t>observasi</a:t>
            </a:r>
            <a:r>
              <a:rPr sz="115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253746"/>
                </a:solidFill>
                <a:latin typeface="Aptos"/>
              </a:rPr>
              <a:t>berada</a:t>
            </a:r>
            <a:r>
              <a:rPr sz="1150" b="0" i="0" dirty="0">
                <a:solidFill>
                  <a:srgbClr val="253746"/>
                </a:solidFill>
                <a:latin typeface="Aptos"/>
              </a:rPr>
              <a:t> pada </a:t>
            </a:r>
            <a:r>
              <a:rPr sz="1150" b="0" i="0" dirty="0" err="1">
                <a:solidFill>
                  <a:srgbClr val="253746"/>
                </a:solidFill>
                <a:latin typeface="Aptos"/>
              </a:rPr>
              <a:t>satu</a:t>
            </a:r>
            <a:r>
              <a:rPr sz="115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sz="1150" b="0" i="0" dirty="0" err="1">
                <a:solidFill>
                  <a:srgbClr val="253746"/>
                </a:solidFill>
                <a:latin typeface="Aptos"/>
              </a:rPr>
              <a:t>bari</a:t>
            </a:r>
            <a:r>
              <a:rPr lang="en-US" sz="1150" b="0" i="0" dirty="0">
                <a:solidFill>
                  <a:srgbClr val="253746"/>
                </a:solidFill>
                <a:latin typeface="Aptos"/>
              </a:rPr>
              <a:t>.</a:t>
            </a:r>
            <a:endParaRPr sz="1150" b="0" i="0" dirty="0">
              <a:solidFill>
                <a:srgbClr val="253746"/>
              </a:solidFill>
              <a:latin typeface="Apto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57FB7CD-A24B-7C78-AAB3-A239EF6EBE34}"/>
              </a:ext>
            </a:extLst>
          </p:cNvPr>
          <p:cNvSpPr/>
          <p:nvPr/>
        </p:nvSpPr>
        <p:spPr>
          <a:xfrm>
            <a:off x="640080" y="5650275"/>
            <a:ext cx="1828800" cy="768096"/>
          </a:xfrm>
          <a:prstGeom prst="rect">
            <a:avLst/>
          </a:prstGeom>
          <a:solidFill>
            <a:srgbClr val="F0F4F7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F58D340-1B65-8FDD-77EC-079367829D68}"/>
              </a:ext>
            </a:extLst>
          </p:cNvPr>
          <p:cNvSpPr txBox="1"/>
          <p:nvPr/>
        </p:nvSpPr>
        <p:spPr>
          <a:xfrm>
            <a:off x="749808" y="5760003"/>
            <a:ext cx="1609344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50" b="1" i="0" dirty="0" err="1">
                <a:solidFill>
                  <a:srgbClr val="16324F"/>
                </a:solidFill>
                <a:latin typeface="Aptos"/>
              </a:rPr>
              <a:t>Penamaan</a:t>
            </a:r>
            <a:r>
              <a:rPr lang="en-US" sz="1150" b="1" i="0" dirty="0">
                <a:solidFill>
                  <a:srgbClr val="16324F"/>
                </a:solidFill>
                <a:latin typeface="Aptos"/>
              </a:rPr>
              <a:t> Kolom</a:t>
            </a:r>
            <a:endParaRPr sz="1150" b="1" i="0" dirty="0">
              <a:solidFill>
                <a:srgbClr val="16324F"/>
              </a:solidFill>
              <a:latin typeface="Apto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27DD4E8-B79D-4B5B-79E0-192AD2CC3E24}"/>
              </a:ext>
            </a:extLst>
          </p:cNvPr>
          <p:cNvSpPr/>
          <p:nvPr/>
        </p:nvSpPr>
        <p:spPr>
          <a:xfrm>
            <a:off x="2468880" y="5650275"/>
            <a:ext cx="4617720" cy="768096"/>
          </a:xfrm>
          <a:prstGeom prst="rect">
            <a:avLst/>
          </a:prstGeom>
          <a:solidFill>
            <a:srgbClr val="F0F4F7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F3817DF-A47C-2F30-9E69-AA0538F5EDEA}"/>
              </a:ext>
            </a:extLst>
          </p:cNvPr>
          <p:cNvSpPr txBox="1"/>
          <p:nvPr/>
        </p:nvSpPr>
        <p:spPr>
          <a:xfrm>
            <a:off x="2578608" y="5760003"/>
            <a:ext cx="4398264" cy="4278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50" b="0" i="0" noProof="1">
                <a:solidFill>
                  <a:srgbClr val="253746"/>
                </a:solidFill>
                <a:latin typeface="Aptos"/>
              </a:rPr>
              <a:t>Menggunakan huruf kecil, underscore (_) sebagai pemisah kata, tanpa spasi atau simbol lain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D92894-57C6-C2C7-ACCE-A0B8996FA378}"/>
              </a:ext>
            </a:extLst>
          </p:cNvPr>
          <p:cNvSpPr/>
          <p:nvPr/>
        </p:nvSpPr>
        <p:spPr>
          <a:xfrm>
            <a:off x="7086600" y="5650275"/>
            <a:ext cx="4526280" cy="768096"/>
          </a:xfrm>
          <a:prstGeom prst="rect">
            <a:avLst/>
          </a:prstGeom>
          <a:solidFill>
            <a:srgbClr val="F0F4F7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806C8CA-0F56-FBE0-C45B-E68FBCB94B38}"/>
              </a:ext>
            </a:extLst>
          </p:cNvPr>
          <p:cNvSpPr txBox="1"/>
          <p:nvPr/>
        </p:nvSpPr>
        <p:spPr>
          <a:xfrm>
            <a:off x="7196328" y="5760003"/>
            <a:ext cx="4306824" cy="4278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150" b="0" i="0" dirty="0">
                <a:solidFill>
                  <a:srgbClr val="253746"/>
                </a:solidFill>
                <a:latin typeface="Aptos"/>
              </a:rPr>
              <a:t>Nama </a:t>
            </a:r>
            <a:r>
              <a:rPr lang="en-ID" sz="1150" b="0" i="0" dirty="0" err="1">
                <a:solidFill>
                  <a:srgbClr val="253746"/>
                </a:solidFill>
                <a:latin typeface="Aptos"/>
              </a:rPr>
              <a:t>kolom</a:t>
            </a:r>
            <a:r>
              <a:rPr lang="en-ID" sz="115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150" b="0" i="0" dirty="0" err="1">
                <a:solidFill>
                  <a:srgbClr val="253746"/>
                </a:solidFill>
                <a:latin typeface="Aptos"/>
              </a:rPr>
              <a:t>konsisten</a:t>
            </a:r>
            <a:r>
              <a:rPr lang="en-ID" sz="1150" b="0" i="0" dirty="0">
                <a:solidFill>
                  <a:srgbClr val="253746"/>
                </a:solidFill>
                <a:latin typeface="Aptos"/>
              </a:rPr>
              <a:t> dan </a:t>
            </a:r>
            <a:r>
              <a:rPr lang="en-ID" sz="1150" b="0" i="0" dirty="0" err="1">
                <a:solidFill>
                  <a:srgbClr val="253746"/>
                </a:solidFill>
                <a:latin typeface="Aptos"/>
              </a:rPr>
              <a:t>lebih</a:t>
            </a:r>
            <a:r>
              <a:rPr lang="en-ID" sz="115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150" b="0" i="0" dirty="0" err="1">
                <a:solidFill>
                  <a:srgbClr val="253746"/>
                </a:solidFill>
                <a:latin typeface="Aptos"/>
              </a:rPr>
              <a:t>kompatibel</a:t>
            </a:r>
            <a:r>
              <a:rPr lang="en-ID" sz="115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150" b="0" i="0" dirty="0" err="1">
                <a:solidFill>
                  <a:srgbClr val="253746"/>
                </a:solidFill>
                <a:latin typeface="Aptos"/>
              </a:rPr>
              <a:t>dengan</a:t>
            </a:r>
            <a:r>
              <a:rPr lang="en-ID" sz="1150" b="0" i="0" dirty="0">
                <a:solidFill>
                  <a:srgbClr val="253746"/>
                </a:solidFill>
                <a:latin typeface="Aptos"/>
              </a:rPr>
              <a:t> database </a:t>
            </a:r>
            <a:r>
              <a:rPr lang="en-ID" sz="1150" b="0" i="0" dirty="0" err="1">
                <a:solidFill>
                  <a:srgbClr val="253746"/>
                </a:solidFill>
                <a:latin typeface="Aptos"/>
              </a:rPr>
              <a:t>atau</a:t>
            </a:r>
            <a:r>
              <a:rPr lang="en-ID" sz="1150" b="0" i="0" dirty="0">
                <a:solidFill>
                  <a:srgbClr val="253746"/>
                </a:solidFill>
                <a:latin typeface="Aptos"/>
              </a:rPr>
              <a:t> SQL</a:t>
            </a:r>
            <a:endParaRPr sz="1150" b="0" i="0" dirty="0">
              <a:solidFill>
                <a:srgbClr val="25374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4864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900" b="1" dirty="0">
                <a:solidFill>
                  <a:srgbClr val="1976A8"/>
                </a:solidFill>
                <a:latin typeface="Aptos"/>
              </a:rPr>
              <a:t>6</a:t>
            </a:r>
            <a:r>
              <a:rPr sz="900" b="1" i="0" dirty="0">
                <a:solidFill>
                  <a:srgbClr val="1976A8"/>
                </a:solidFill>
                <a:latin typeface="Aptos"/>
              </a:rPr>
              <a:t> | 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324F"/>
                </a:solidFill>
                <a:latin typeface="Aptos"/>
              </a:rPr>
              <a:t>Integrasi lintas publikasi dan pengayaan metadata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196596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737360"/>
            <a:ext cx="621792" cy="310896"/>
          </a:xfrm>
          <a:prstGeom prst="roundRect">
            <a:avLst>
              <a:gd name="adj" fmla="val 12000"/>
            </a:avLst>
          </a:prstGeom>
          <a:solidFill>
            <a:srgbClr val="FF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769363"/>
            <a:ext cx="530352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E58A2B"/>
                </a:solidFill>
                <a:latin typeface="Aptos"/>
              </a:rPr>
              <a:t>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39696"/>
            <a:ext cx="16916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324F"/>
                </a:solidFill>
                <a:latin typeface="Aptos"/>
              </a:rPr>
              <a:t>Penduduk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50592"/>
            <a:ext cx="169164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 dirty="0">
                <a:solidFill>
                  <a:srgbClr val="627383"/>
                </a:solidFill>
                <a:latin typeface="Aptos"/>
              </a:rPr>
              <a:t>PDF </a:t>
            </a:r>
            <a:r>
              <a:rPr lang="en-US" sz="1000" b="0" i="0" dirty="0">
                <a:solidFill>
                  <a:srgbClr val="627383"/>
                </a:solidFill>
                <a:latin typeface="Aptos"/>
              </a:rPr>
              <a:t>hal</a:t>
            </a:r>
            <a:r>
              <a:rPr sz="1000" b="0" i="0" dirty="0">
                <a:solidFill>
                  <a:srgbClr val="627383"/>
                </a:solidFill>
                <a:latin typeface="Aptos"/>
              </a:rPr>
              <a:t>.176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07791" y="1600200"/>
            <a:ext cx="196596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044951" y="1737360"/>
            <a:ext cx="621792" cy="310896"/>
          </a:xfrm>
          <a:prstGeom prst="roundRect">
            <a:avLst>
              <a:gd name="adj" fmla="val 12000"/>
            </a:avLst>
          </a:prstGeom>
          <a:solidFill>
            <a:srgbClr val="FF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90671" y="1769363"/>
            <a:ext cx="530352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E58A2B"/>
                </a:solidFill>
                <a:latin typeface="Aptos"/>
              </a:rPr>
              <a:t>2023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4951" y="2139696"/>
            <a:ext cx="16916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324F"/>
                </a:solidFill>
                <a:latin typeface="Aptos"/>
              </a:rPr>
              <a:t>Penduduk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1" y="2450592"/>
            <a:ext cx="169164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 dirty="0">
                <a:solidFill>
                  <a:srgbClr val="627383"/>
                </a:solidFill>
                <a:latin typeface="Aptos"/>
              </a:rPr>
              <a:t>PDF </a:t>
            </a:r>
            <a:r>
              <a:rPr lang="en-US" sz="1000" b="0" i="0" dirty="0">
                <a:solidFill>
                  <a:srgbClr val="627383"/>
                </a:solidFill>
                <a:latin typeface="Aptos"/>
              </a:rPr>
              <a:t>hal</a:t>
            </a:r>
            <a:r>
              <a:rPr sz="1000" b="0" i="0" dirty="0">
                <a:solidFill>
                  <a:srgbClr val="627383"/>
                </a:solidFill>
                <a:latin typeface="Aptos"/>
              </a:rPr>
              <a:t>.186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75504" y="1600200"/>
            <a:ext cx="196596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312664" y="1737360"/>
            <a:ext cx="621792" cy="310896"/>
          </a:xfrm>
          <a:prstGeom prst="roundRect">
            <a:avLst>
              <a:gd name="adj" fmla="val 12000"/>
            </a:avLst>
          </a:prstGeom>
          <a:solidFill>
            <a:srgbClr val="FF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58384" y="1769363"/>
            <a:ext cx="530352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E58A2B"/>
                </a:solidFill>
                <a:latin typeface="Aptos"/>
              </a:rPr>
              <a:t>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2139696"/>
            <a:ext cx="16916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324F"/>
                </a:solidFill>
                <a:latin typeface="Aptos"/>
              </a:rPr>
              <a:t>Penduduk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2450592"/>
            <a:ext cx="169164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 dirty="0">
                <a:solidFill>
                  <a:srgbClr val="627383"/>
                </a:solidFill>
                <a:latin typeface="Aptos"/>
              </a:rPr>
              <a:t>PDF </a:t>
            </a:r>
            <a:r>
              <a:rPr lang="en-US" sz="1000" b="0" i="0" dirty="0">
                <a:solidFill>
                  <a:srgbClr val="627383"/>
                </a:solidFill>
                <a:latin typeface="Aptos"/>
              </a:rPr>
              <a:t>hal</a:t>
            </a:r>
            <a:r>
              <a:rPr sz="1000" b="0" i="0" dirty="0">
                <a:solidFill>
                  <a:srgbClr val="627383"/>
                </a:solidFill>
                <a:latin typeface="Aptos"/>
              </a:rPr>
              <a:t>.193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43215" y="1600200"/>
            <a:ext cx="196596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580375" y="1737360"/>
            <a:ext cx="621792" cy="310896"/>
          </a:xfrm>
          <a:prstGeom prst="roundRect">
            <a:avLst>
              <a:gd name="adj" fmla="val 12000"/>
            </a:avLst>
          </a:prstGeom>
          <a:solidFill>
            <a:srgbClr val="FF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26096" y="1769363"/>
            <a:ext cx="530352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E58A2B"/>
                </a:solidFill>
                <a:latin typeface="Aptos"/>
              </a:rPr>
              <a:t>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0375" y="2139696"/>
            <a:ext cx="16916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324F"/>
                </a:solidFill>
                <a:latin typeface="Aptos"/>
              </a:rPr>
              <a:t>Penduduk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0375" y="2450592"/>
            <a:ext cx="169164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 dirty="0">
                <a:solidFill>
                  <a:srgbClr val="627383"/>
                </a:solidFill>
                <a:latin typeface="Aptos"/>
              </a:rPr>
              <a:t>PDF </a:t>
            </a:r>
            <a:r>
              <a:rPr lang="en-US" sz="1000" b="0" i="0" dirty="0">
                <a:solidFill>
                  <a:srgbClr val="627383"/>
                </a:solidFill>
                <a:latin typeface="Aptos"/>
              </a:rPr>
              <a:t>hal</a:t>
            </a:r>
            <a:r>
              <a:rPr sz="1000" b="0" i="0" dirty="0">
                <a:solidFill>
                  <a:srgbClr val="627383"/>
                </a:solidFill>
                <a:latin typeface="Aptos"/>
              </a:rPr>
              <a:t>.191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10928" y="1600200"/>
            <a:ext cx="196596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848088" y="1737360"/>
            <a:ext cx="621792" cy="310896"/>
          </a:xfrm>
          <a:prstGeom prst="roundRect">
            <a:avLst>
              <a:gd name="adj" fmla="val 12000"/>
            </a:avLst>
          </a:prstGeom>
          <a:solidFill>
            <a:srgbClr val="FF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93808" y="1769363"/>
            <a:ext cx="530352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E58A2B"/>
                </a:solidFill>
                <a:latin typeface="Aptos"/>
              </a:rPr>
              <a:t>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48088" y="2139696"/>
            <a:ext cx="16916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324F"/>
                </a:solidFill>
                <a:latin typeface="Aptos"/>
              </a:rPr>
              <a:t>Penduduk + luas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48088" y="2450592"/>
            <a:ext cx="169164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 dirty="0">
                <a:solidFill>
                  <a:srgbClr val="627383"/>
                </a:solidFill>
                <a:latin typeface="Aptos"/>
              </a:rPr>
              <a:t>PDF </a:t>
            </a:r>
            <a:r>
              <a:rPr lang="en-US" sz="1000" b="0" i="0" dirty="0">
                <a:solidFill>
                  <a:srgbClr val="627383"/>
                </a:solidFill>
                <a:latin typeface="Aptos"/>
              </a:rPr>
              <a:t>hal</a:t>
            </a:r>
            <a:r>
              <a:rPr sz="1000" b="0" i="0" dirty="0">
                <a:solidFill>
                  <a:srgbClr val="627383"/>
                </a:solidFill>
                <a:latin typeface="Aptos"/>
              </a:rPr>
              <a:t>.183 / p.65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3246120"/>
            <a:ext cx="51663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7" y="3392424"/>
            <a:ext cx="47823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324F"/>
                </a:solidFill>
                <a:latin typeface="Aptos"/>
              </a:rPr>
              <a:t>Metadata sumber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7" y="3776472"/>
            <a:ext cx="4782312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 dirty="0">
                <a:solidFill>
                  <a:srgbClr val="253746"/>
                </a:solidFill>
                <a:latin typeface="Aptos"/>
              </a:rPr>
              <a:t>Sheet </a:t>
            </a:r>
            <a:r>
              <a:rPr sz="1300" b="0" i="0" dirty="0">
                <a:solidFill>
                  <a:srgbClr val="253746"/>
                </a:solidFill>
                <a:latin typeface="Aptos"/>
                <a:hlinkClick r:id="rId2"/>
              </a:rPr>
              <a:t>Source Data </a:t>
            </a:r>
            <a:r>
              <a:rPr sz="1300" b="0" i="0" dirty="0" err="1">
                <a:solidFill>
                  <a:srgbClr val="253746"/>
                </a:solidFill>
                <a:latin typeface="Aptos"/>
              </a:rPr>
              <a:t>mencatat</a:t>
            </a:r>
            <a:r>
              <a:rPr sz="13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253746"/>
                </a:solidFill>
                <a:latin typeface="Aptos"/>
              </a:rPr>
              <a:t>judul</a:t>
            </a:r>
            <a:r>
              <a:rPr sz="13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253746"/>
                </a:solidFill>
                <a:latin typeface="Aptos"/>
              </a:rPr>
              <a:t>publikasi</a:t>
            </a:r>
            <a:r>
              <a:rPr sz="1300" b="0" i="0" dirty="0">
                <a:solidFill>
                  <a:srgbClr val="253746"/>
                </a:solidFill>
                <a:latin typeface="Aptos"/>
              </a:rPr>
              <a:t>, </a:t>
            </a:r>
            <a:r>
              <a:rPr sz="1300" b="0" i="0" dirty="0" err="1">
                <a:solidFill>
                  <a:srgbClr val="253746"/>
                </a:solidFill>
                <a:latin typeface="Aptos"/>
              </a:rPr>
              <a:t>tautan</a:t>
            </a:r>
            <a:r>
              <a:rPr sz="1300" b="0" i="0" dirty="0">
                <a:solidFill>
                  <a:srgbClr val="253746"/>
                </a:solidFill>
                <a:latin typeface="Aptos"/>
              </a:rPr>
              <a:t>, </a:t>
            </a:r>
            <a:r>
              <a:rPr sz="1300" b="0" i="0" dirty="0" err="1">
                <a:solidFill>
                  <a:srgbClr val="253746"/>
                </a:solidFill>
                <a:latin typeface="Aptos"/>
              </a:rPr>
              <a:t>serta</a:t>
            </a:r>
            <a:r>
              <a:rPr sz="13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253746"/>
                </a:solidFill>
                <a:latin typeface="Aptos"/>
              </a:rPr>
              <a:t>halaman</a:t>
            </a:r>
            <a:r>
              <a:rPr sz="1300" b="0" i="0" dirty="0">
                <a:solidFill>
                  <a:srgbClr val="253746"/>
                </a:solidFill>
                <a:latin typeface="Aptos"/>
              </a:rPr>
              <a:t> PDF </a:t>
            </a:r>
            <a:r>
              <a:rPr sz="1300" b="0" i="0" dirty="0" err="1">
                <a:solidFill>
                  <a:srgbClr val="253746"/>
                </a:solidFill>
                <a:latin typeface="Aptos"/>
              </a:rPr>
              <a:t>untuk</a:t>
            </a:r>
            <a:r>
              <a:rPr sz="13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253746"/>
                </a:solidFill>
                <a:latin typeface="Aptos"/>
              </a:rPr>
              <a:t>memudahkan</a:t>
            </a:r>
            <a:r>
              <a:rPr sz="13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253746"/>
                </a:solidFill>
                <a:latin typeface="Aptos"/>
              </a:rPr>
              <a:t>penelusuran</a:t>
            </a:r>
            <a:r>
              <a:rPr sz="13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253746"/>
                </a:solidFill>
                <a:latin typeface="Aptos"/>
              </a:rPr>
              <a:t>kembali</a:t>
            </a:r>
            <a:r>
              <a:rPr sz="1300" b="0" i="0" dirty="0">
                <a:solidFill>
                  <a:srgbClr val="253746"/>
                </a:solidFill>
                <a:latin typeface="Aptos"/>
              </a:rPr>
              <a:t>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3246120"/>
            <a:ext cx="51663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27648" y="3392424"/>
            <a:ext cx="47823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324F"/>
                </a:solidFill>
                <a:latin typeface="Aptos"/>
              </a:rPr>
              <a:t>Pemetaan wilayah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7648" y="3776472"/>
            <a:ext cx="4782312" cy="7955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3746"/>
                </a:solidFill>
                <a:latin typeface="Aptos"/>
              </a:rPr>
              <a:t>Kode provinsi dan kode kabupaten/kota ditambahkan agar nama wilayah tidak menjadi satu-satunya pengenal.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4864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900" b="1" dirty="0">
                <a:solidFill>
                  <a:srgbClr val="1976A8"/>
                </a:solidFill>
                <a:latin typeface="Aptos"/>
              </a:rPr>
              <a:t>7</a:t>
            </a:r>
            <a:r>
              <a:rPr sz="900" b="1" i="0" dirty="0">
                <a:solidFill>
                  <a:srgbClr val="1976A8"/>
                </a:solidFill>
                <a:latin typeface="Aptos"/>
              </a:rPr>
              <a:t>  |  GOLD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324F"/>
                </a:solidFill>
                <a:latin typeface="Aptos"/>
              </a:rPr>
              <a:t>GOLD: satu struktur untuk data penduduk dan luas wilayah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303020"/>
            <a:ext cx="6675120" cy="40233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lide4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72062"/>
            <a:ext cx="6629400" cy="328527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43800" y="1371600"/>
            <a:ext cx="38862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0" y="1481328"/>
            <a:ext cx="33832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976A8"/>
                </a:solidFill>
                <a:latin typeface="Aptos"/>
              </a:rPr>
              <a:t>IDENTITAS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700784"/>
            <a:ext cx="33832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324F"/>
                </a:solidFill>
                <a:latin typeface="Aptos"/>
              </a:rPr>
              <a:t>province_name • province_code
city_name • city_code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377440"/>
            <a:ext cx="38862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0" y="2487168"/>
            <a:ext cx="33832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E58A2B"/>
                </a:solidFill>
                <a:latin typeface="Aptos"/>
              </a:rPr>
              <a:t>WAKTU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706624"/>
            <a:ext cx="33832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324F"/>
                </a:solidFill>
                <a:latin typeface="Aptos"/>
              </a:rPr>
              <a:t>tahun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3383280"/>
            <a:ext cx="38862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0" y="3493008"/>
            <a:ext cx="33832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3856D"/>
                </a:solidFill>
                <a:latin typeface="Aptos"/>
              </a:rPr>
              <a:t>UKURAN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712464"/>
            <a:ext cx="33832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dirty="0" err="1">
                <a:solidFill>
                  <a:srgbClr val="16324F"/>
                </a:solidFill>
                <a:latin typeface="Aptos"/>
              </a:rPr>
              <a:t>kategori</a:t>
            </a:r>
            <a:r>
              <a:rPr sz="1200" b="1" i="0" dirty="0">
                <a:solidFill>
                  <a:srgbClr val="16324F"/>
                </a:solidFill>
                <a:latin typeface="Aptos"/>
              </a:rPr>
              <a:t> • </a:t>
            </a:r>
            <a:r>
              <a:rPr sz="1200" b="1" i="0" dirty="0" err="1">
                <a:solidFill>
                  <a:srgbClr val="16324F"/>
                </a:solidFill>
                <a:latin typeface="Aptos"/>
              </a:rPr>
              <a:t>sub_kategori</a:t>
            </a:r>
            <a:r>
              <a:rPr sz="1200" b="1" i="0" dirty="0">
                <a:solidFill>
                  <a:srgbClr val="16324F"/>
                </a:solidFill>
                <a:latin typeface="Aptos"/>
              </a:rPr>
              <a:t>
value • </a:t>
            </a:r>
            <a:r>
              <a:rPr sz="1200" b="1" i="0" dirty="0" err="1">
                <a:solidFill>
                  <a:srgbClr val="16324F"/>
                </a:solidFill>
                <a:latin typeface="Aptos"/>
              </a:rPr>
              <a:t>satuan</a:t>
            </a:r>
            <a:endParaRPr sz="1200" b="1" i="0" dirty="0">
              <a:solidFill>
                <a:srgbClr val="16324F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543800" y="4389120"/>
            <a:ext cx="38862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0" y="4498848"/>
            <a:ext cx="33832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976A8"/>
                </a:solidFill>
                <a:latin typeface="Aptos"/>
              </a:rPr>
              <a:t>TRACEABILITY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718304"/>
            <a:ext cx="33832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324F"/>
                </a:solidFill>
                <a:latin typeface="Aptos"/>
              </a:rPr>
              <a:t>sumber: publikasi, halaman, tautan</a:t>
            </a:r>
          </a:p>
        </p:txBody>
      </p:sp>
      <p:sp>
        <p:nvSpPr>
          <p:cNvPr id="28" name="Rounded Rectangle 44">
            <a:extLst>
              <a:ext uri="{FF2B5EF4-FFF2-40B4-BE49-F238E27FC236}">
                <a16:creationId xmlns:a16="http://schemas.microsoft.com/office/drawing/2014/main" id="{9511CD0E-C7CA-A5A6-7699-091EF28EB6A6}"/>
              </a:ext>
            </a:extLst>
          </p:cNvPr>
          <p:cNvSpPr/>
          <p:nvPr/>
        </p:nvSpPr>
        <p:spPr>
          <a:xfrm>
            <a:off x="640080" y="5594873"/>
            <a:ext cx="10652760" cy="662491"/>
          </a:xfrm>
          <a:prstGeom prst="roundRect">
            <a:avLst>
              <a:gd name="adj" fmla="val 12000"/>
            </a:avLst>
          </a:prstGeom>
          <a:solidFill>
            <a:srgbClr val="EA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D5E68D-6FEE-A2B8-E9EC-AF2D936FEDC6}"/>
              </a:ext>
            </a:extLst>
          </p:cNvPr>
          <p:cNvSpPr txBox="1"/>
          <p:nvPr/>
        </p:nvSpPr>
        <p:spPr>
          <a:xfrm>
            <a:off x="868680" y="5634599"/>
            <a:ext cx="10195560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ID" sz="1200" b="1" dirty="0">
                <a:latin typeface="Aptos" panose="020B0004020202020204" pitchFamily="34" charset="0"/>
              </a:rPr>
              <a:t>Nama </a:t>
            </a:r>
            <a:r>
              <a:rPr lang="en-ID" sz="1200" b="1" dirty="0" err="1">
                <a:latin typeface="Aptos" panose="020B0004020202020204" pitchFamily="34" charset="0"/>
              </a:rPr>
              <a:t>kolom</a:t>
            </a:r>
            <a:r>
              <a:rPr lang="en-ID" sz="1200" b="1" dirty="0">
                <a:latin typeface="Aptos" panose="020B0004020202020204" pitchFamily="34" charset="0"/>
              </a:rPr>
              <a:t> </a:t>
            </a:r>
            <a:r>
              <a:rPr lang="en-ID" sz="1200" b="1" dirty="0" err="1">
                <a:latin typeface="Aptos" panose="020B0004020202020204" pitchFamily="34" charset="0"/>
              </a:rPr>
              <a:t>menggunakan</a:t>
            </a:r>
            <a:r>
              <a:rPr lang="en-ID" sz="1200" b="1" dirty="0">
                <a:latin typeface="Aptos" panose="020B0004020202020204" pitchFamily="34" charset="0"/>
              </a:rPr>
              <a:t> </a:t>
            </a:r>
            <a:r>
              <a:rPr lang="en-ID" sz="1200" b="1" dirty="0" err="1">
                <a:latin typeface="Aptos" panose="020B0004020202020204" pitchFamily="34" charset="0"/>
              </a:rPr>
              <a:t>huruf</a:t>
            </a:r>
            <a:r>
              <a:rPr lang="en-ID" sz="1200" b="1" dirty="0">
                <a:latin typeface="Aptos" panose="020B0004020202020204" pitchFamily="34" charset="0"/>
              </a:rPr>
              <a:t> </a:t>
            </a:r>
            <a:r>
              <a:rPr lang="en-ID" sz="1200" b="1" dirty="0" err="1">
                <a:latin typeface="Aptos" panose="020B0004020202020204" pitchFamily="34" charset="0"/>
              </a:rPr>
              <a:t>kecil</a:t>
            </a:r>
            <a:r>
              <a:rPr lang="en-ID" sz="1200" b="1" dirty="0">
                <a:latin typeface="Aptos" panose="020B0004020202020204" pitchFamily="34" charset="0"/>
              </a:rPr>
              <a:t> (</a:t>
            </a:r>
            <a:r>
              <a:rPr lang="en-ID" sz="1200" b="1" i="1" dirty="0">
                <a:latin typeface="Aptos" panose="020B0004020202020204" pitchFamily="34" charset="0"/>
              </a:rPr>
              <a:t>lowercase</a:t>
            </a:r>
            <a:r>
              <a:rPr lang="en-ID" sz="1200" b="1" dirty="0">
                <a:latin typeface="Aptos" panose="020B0004020202020204" pitchFamily="34" charset="0"/>
              </a:rPr>
              <a:t>), </a:t>
            </a:r>
            <a:r>
              <a:rPr lang="en-ID" sz="1200" b="1" dirty="0" err="1">
                <a:latin typeface="Aptos" panose="020B0004020202020204" pitchFamily="34" charset="0"/>
              </a:rPr>
              <a:t>tanpa</a:t>
            </a:r>
            <a:r>
              <a:rPr lang="en-ID" sz="1200" b="1" dirty="0">
                <a:latin typeface="Aptos" panose="020B0004020202020204" pitchFamily="34" charset="0"/>
              </a:rPr>
              <a:t> </a:t>
            </a:r>
            <a:r>
              <a:rPr lang="en-ID" sz="1200" b="1" dirty="0" err="1">
                <a:latin typeface="Aptos" panose="020B0004020202020204" pitchFamily="34" charset="0"/>
              </a:rPr>
              <a:t>spasi</a:t>
            </a:r>
            <a:r>
              <a:rPr lang="en-ID" sz="1200" b="1" dirty="0">
                <a:latin typeface="Aptos" panose="020B0004020202020204" pitchFamily="34" charset="0"/>
              </a:rPr>
              <a:t>, dan </a:t>
            </a:r>
            <a:r>
              <a:rPr lang="en-ID" sz="1200" b="1" dirty="0" err="1">
                <a:latin typeface="Aptos" panose="020B0004020202020204" pitchFamily="34" charset="0"/>
              </a:rPr>
              <a:t>menggunakan</a:t>
            </a:r>
            <a:r>
              <a:rPr lang="en-ID" sz="1200" b="1" dirty="0">
                <a:latin typeface="Aptos" panose="020B0004020202020204" pitchFamily="34" charset="0"/>
              </a:rPr>
              <a:t> underscore (</a:t>
            </a:r>
            <a:r>
              <a:rPr lang="en-ID" b="1" dirty="0">
                <a:latin typeface="Aptos" panose="020B0004020202020204" pitchFamily="34" charset="0"/>
              </a:rPr>
              <a:t>_</a:t>
            </a:r>
            <a:r>
              <a:rPr lang="en-ID" sz="1200" b="1" dirty="0">
                <a:latin typeface="Aptos" panose="020B0004020202020204" pitchFamily="34" charset="0"/>
              </a:rPr>
              <a:t>) </a:t>
            </a:r>
            <a:r>
              <a:rPr lang="en-ID" sz="1200" b="1" dirty="0" err="1">
                <a:latin typeface="Aptos" panose="020B0004020202020204" pitchFamily="34" charset="0"/>
              </a:rPr>
              <a:t>sebagai</a:t>
            </a:r>
            <a:r>
              <a:rPr lang="en-ID" sz="1200" b="1" dirty="0">
                <a:latin typeface="Aptos" panose="020B0004020202020204" pitchFamily="34" charset="0"/>
              </a:rPr>
              <a:t> </a:t>
            </a:r>
            <a:r>
              <a:rPr lang="en-ID" sz="1200" b="1" dirty="0" err="1">
                <a:latin typeface="Aptos" panose="020B0004020202020204" pitchFamily="34" charset="0"/>
              </a:rPr>
              <a:t>pemisah</a:t>
            </a:r>
            <a:r>
              <a:rPr lang="en-ID" sz="1200" b="1" dirty="0">
                <a:latin typeface="Aptos" panose="020B0004020202020204" pitchFamily="34" charset="0"/>
              </a:rPr>
              <a:t> kata. Tidak </a:t>
            </a:r>
            <a:r>
              <a:rPr lang="en-ID" sz="1200" b="1" dirty="0" err="1">
                <a:latin typeface="Aptos" panose="020B0004020202020204" pitchFamily="34" charset="0"/>
              </a:rPr>
              <a:t>ada</a:t>
            </a:r>
            <a:r>
              <a:rPr lang="en-ID" sz="1200" b="1" dirty="0">
                <a:latin typeface="Aptos" panose="020B0004020202020204" pitchFamily="34" charset="0"/>
              </a:rPr>
              <a:t> </a:t>
            </a:r>
            <a:r>
              <a:rPr lang="en-ID" sz="1200" b="1" dirty="0" err="1">
                <a:latin typeface="Aptos" panose="020B0004020202020204" pitchFamily="34" charset="0"/>
              </a:rPr>
              <a:t>simbol</a:t>
            </a:r>
            <a:r>
              <a:rPr lang="en-ID" sz="1200" b="1" dirty="0">
                <a:latin typeface="Aptos" panose="020B0004020202020204" pitchFamily="34" charset="0"/>
              </a:rPr>
              <a:t> lain yang </a:t>
            </a:r>
            <a:r>
              <a:rPr lang="en-ID" sz="1200" b="1" dirty="0" err="1">
                <a:latin typeface="Aptos" panose="020B0004020202020204" pitchFamily="34" charset="0"/>
              </a:rPr>
              <a:t>digunakan</a:t>
            </a:r>
            <a:r>
              <a:rPr lang="en-ID" sz="1200" b="1" dirty="0">
                <a:latin typeface="Aptos" panose="020B0004020202020204" pitchFamily="34" charset="0"/>
              </a:rPr>
              <a:t> </a:t>
            </a:r>
            <a:r>
              <a:rPr lang="en-ID" sz="1200" b="1" dirty="0" err="1">
                <a:latin typeface="Aptos" panose="020B0004020202020204" pitchFamily="34" charset="0"/>
              </a:rPr>
              <a:t>sebagai</a:t>
            </a:r>
            <a:r>
              <a:rPr lang="en-ID" sz="1200" b="1" dirty="0">
                <a:latin typeface="Aptos" panose="020B0004020202020204" pitchFamily="34" charset="0"/>
              </a:rPr>
              <a:t> </a:t>
            </a:r>
            <a:r>
              <a:rPr lang="en-ID" sz="1200" b="1" dirty="0" err="1">
                <a:latin typeface="Aptos" panose="020B0004020202020204" pitchFamily="34" charset="0"/>
              </a:rPr>
              <a:t>pemisah</a:t>
            </a:r>
            <a:r>
              <a:rPr lang="en-ID" sz="1200" b="1" dirty="0">
                <a:latin typeface="Aptos" panose="020B0004020202020204" pitchFamily="34" charset="0"/>
              </a:rPr>
              <a:t> nama </a:t>
            </a:r>
            <a:r>
              <a:rPr lang="en-ID" sz="1200" b="1" dirty="0" err="1">
                <a:latin typeface="Aptos" panose="020B0004020202020204" pitchFamily="34" charset="0"/>
              </a:rPr>
              <a:t>kolom</a:t>
            </a:r>
            <a:r>
              <a:rPr lang="en-ID" sz="1200" b="1" dirty="0">
                <a:latin typeface="Aptos" panose="020B00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4864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900" b="1" dirty="0">
                <a:solidFill>
                  <a:srgbClr val="1976A8"/>
                </a:solidFill>
                <a:latin typeface="Aptos"/>
              </a:rPr>
              <a:t>8</a:t>
            </a:r>
            <a:r>
              <a:rPr sz="900" b="1" i="0" dirty="0">
                <a:solidFill>
                  <a:srgbClr val="1976A8"/>
                </a:solidFill>
                <a:latin typeface="Aptos"/>
              </a:rPr>
              <a:t>  |  QUALITY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85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2500" b="1" i="0" dirty="0">
                <a:solidFill>
                  <a:srgbClr val="16324F"/>
                </a:solidFill>
                <a:latin typeface="Aptos"/>
              </a:rPr>
              <a:t>Hasil Quality Check pada Dataset GOLD</a:t>
            </a:r>
            <a:endParaRPr sz="2500" b="1" i="0" dirty="0">
              <a:solidFill>
                <a:srgbClr val="16324F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536192"/>
            <a:ext cx="17830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976A8"/>
                </a:solidFill>
                <a:latin typeface="Aptos"/>
              </a:rPr>
              <a:t>486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84248"/>
            <a:ext cx="17830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6324F"/>
                </a:solidFill>
                <a:latin typeface="Aptos"/>
              </a:rPr>
              <a:t>baris GOLD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94560"/>
            <a:ext cx="178308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27383"/>
                </a:solidFill>
                <a:latin typeface="Aptos"/>
              </a:rPr>
              <a:t>total record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2072" y="137160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71800" y="1536192"/>
            <a:ext cx="17830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976A8"/>
                </a:solidFill>
                <a:latin typeface="Aptos"/>
              </a:rPr>
              <a:t>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1984248"/>
            <a:ext cx="17830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6324F"/>
                </a:solidFill>
                <a:latin typeface="Aptos"/>
              </a:rPr>
              <a:t>kabupaten/kota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194560"/>
            <a:ext cx="178308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27383"/>
                </a:solidFill>
                <a:latin typeface="Aptos"/>
              </a:rPr>
              <a:t>cakupan wilayah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9784" y="137160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39512" y="1536192"/>
            <a:ext cx="17830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976A8"/>
                </a:solidFill>
                <a:latin typeface="Aptos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9512" y="1984248"/>
            <a:ext cx="17830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6324F"/>
                </a:solidFill>
                <a:latin typeface="Aptos"/>
              </a:rPr>
              <a:t>tahun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2194560"/>
            <a:ext cx="178308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27383"/>
                </a:solidFill>
                <a:latin typeface="Aptos"/>
              </a:rPr>
              <a:t>2021–2026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97496" y="137160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07223" y="1536192"/>
            <a:ext cx="17830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23856D"/>
                </a:solidFill>
                <a:latin typeface="Aptos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7223" y="1984248"/>
            <a:ext cx="17830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6324F"/>
                </a:solidFill>
                <a:latin typeface="Aptos"/>
              </a:rPr>
              <a:t>duplikasi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65208" y="137160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9774936" y="1536192"/>
            <a:ext cx="17830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23856D"/>
                </a:solidFill>
                <a:latin typeface="Aptos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4936" y="1984248"/>
            <a:ext cx="17830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6324F"/>
                </a:solidFill>
                <a:latin typeface="Aptos"/>
              </a:rPr>
              <a:t>nilai kosong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2971800"/>
            <a:ext cx="51663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7" y="3118104"/>
            <a:ext cx="47823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324F"/>
                </a:solidFill>
                <a:latin typeface="Aptos"/>
              </a:rPr>
              <a:t>Kelengkapan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3448362"/>
            <a:ext cx="4782312" cy="87408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Berdasarkan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pemeriksaan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 yang 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dilakukan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, dataset GOLD 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memiliki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 486 baris yang 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mencakup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 27 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kabupaten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/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kota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selama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periode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 2021–2026. Tidak 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ditemukan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duplikasi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atau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nilai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kosong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 pada 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pemeriksaan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 yang 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dilaporkan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.</a:t>
            </a:r>
            <a:endParaRPr sz="1300" b="0" i="0" dirty="0">
              <a:solidFill>
                <a:srgbClr val="253746"/>
              </a:solidFill>
              <a:latin typeface="Apto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126480" y="2971800"/>
            <a:ext cx="51663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27648" y="3118104"/>
            <a:ext cx="47823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324F"/>
                </a:solidFill>
                <a:latin typeface="Aptos"/>
              </a:rPr>
              <a:t>Atribut luas wilayah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3502152"/>
            <a:ext cx="4782312" cy="6740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300" b="0" i="0" dirty="0">
                <a:solidFill>
                  <a:srgbClr val="253746"/>
                </a:solidFill>
                <a:latin typeface="Aptos"/>
              </a:rPr>
              <a:t>Nilai 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luas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 wilayah 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dari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sumber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 yang 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digunakan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direplikasi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untuk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setiap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tahun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 2021–2026 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karena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 data 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luas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 wilayah 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cenderung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tidak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berubah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kecuali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ada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ID" sz="1300" b="0" i="0" dirty="0" err="1">
                <a:solidFill>
                  <a:srgbClr val="253746"/>
                </a:solidFill>
                <a:latin typeface="Aptos"/>
              </a:rPr>
              <a:t>pemekaran</a:t>
            </a:r>
            <a:r>
              <a:rPr lang="en-ID" sz="1300" b="0" i="0" dirty="0">
                <a:solidFill>
                  <a:srgbClr val="253746"/>
                </a:solidFill>
                <a:latin typeface="Aptos"/>
              </a:rPr>
              <a:t> wilayah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800600"/>
            <a:ext cx="10652760" cy="749808"/>
          </a:xfrm>
          <a:prstGeom prst="roundRect">
            <a:avLst>
              <a:gd name="adj" fmla="val 12000"/>
            </a:avLst>
          </a:prstGeom>
          <a:solidFill>
            <a:srgbClr val="FF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4965192"/>
            <a:ext cx="101498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324F"/>
                </a:solidFill>
                <a:latin typeface="Aptos"/>
              </a:rPr>
              <a:t>Interpretasi QC: pengulangan luas wilayah bukan duplikasi record jika kunci datanya mencakup wilayah + tahun + kategori. Validasi tetap perlu mengikuti definisi kunci unik yang dipakai.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4864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900" b="1" dirty="0">
                <a:solidFill>
                  <a:srgbClr val="1976A8"/>
                </a:solidFill>
                <a:latin typeface="Aptos"/>
              </a:rPr>
              <a:t>9</a:t>
            </a:r>
            <a:r>
              <a:rPr sz="900" b="1" i="0" dirty="0">
                <a:solidFill>
                  <a:srgbClr val="1976A8"/>
                </a:solidFill>
                <a:latin typeface="Aptos"/>
              </a:rPr>
              <a:t>  |  ANALYTICAL POTENTIAL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324F"/>
                </a:solidFill>
                <a:latin typeface="Aptos"/>
              </a:rPr>
              <a:t>Apa yang bisa dikembangkan dari GOLD?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5212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472184"/>
            <a:ext cx="482803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324F"/>
                </a:solidFill>
                <a:latin typeface="Aptos"/>
              </a:rPr>
              <a:t>Total penduduk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56231"/>
            <a:ext cx="4828032" cy="5212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53746"/>
                </a:solidFill>
                <a:latin typeface="Aptos"/>
              </a:rPr>
              <a:t>Penduduk laki-laki + penduduk perempuan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25880"/>
            <a:ext cx="5212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1472184"/>
            <a:ext cx="482803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324F"/>
                </a:solidFill>
                <a:latin typeface="Aptos"/>
              </a:rPr>
              <a:t>Kepadatan penduduk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1856231"/>
            <a:ext cx="4828032" cy="5212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53746"/>
                </a:solidFill>
                <a:latin typeface="Aptos"/>
              </a:rPr>
              <a:t>Total penduduk ÷ luas wilayah (km²)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743200"/>
            <a:ext cx="5212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2889504"/>
            <a:ext cx="482803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324F"/>
                </a:solidFill>
                <a:latin typeface="Aptos"/>
              </a:rPr>
              <a:t>Distribusi penduduk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273552"/>
            <a:ext cx="4828032" cy="5212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53746"/>
                </a:solidFill>
                <a:latin typeface="Aptos"/>
              </a:rPr>
              <a:t>Penduduk wilayah ÷ total penduduk provinsi × 100%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743200"/>
            <a:ext cx="5212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73368" y="2889504"/>
            <a:ext cx="482803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324F"/>
                </a:solidFill>
                <a:latin typeface="Aptos"/>
              </a:rPr>
              <a:t>Laju pertumbuhan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6373368" y="3273552"/>
                <a:ext cx="4828032" cy="513539"/>
              </a:xfrm>
              <a:prstGeom prst="rect">
                <a:avLst/>
              </a:prstGeom>
              <a:noFill/>
            </p:spPr>
            <p:txBody>
              <a:bodyPr wrap="square" lIns="36576" tIns="36576" rIns="36576" bIns="36576" anchor="t">
                <a:spAutoFit/>
              </a:bodyPr>
              <a:lstStyle/>
              <a:p>
                <a:pPr algn="l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ID" sz="1400" b="0" i="0" dirty="0" smtClean="0">
                          <a:solidFill>
                            <a:srgbClr val="253746"/>
                          </a:solidFill>
                          <a:latin typeface="Cambria Math" panose="02040503050406030204" pitchFamily="18" charset="0"/>
                        </a:rPr>
                        <m:t>Pertumbuhan (%)</m:t>
                      </m:r>
                      <m:r>
                        <a:rPr lang="en-ID" sz="1400" b="0" i="0" dirty="0">
                          <a:solidFill>
                            <a:srgbClr val="25374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D" sz="1400" b="0" i="1" dirty="0">
                              <a:solidFill>
                                <a:srgbClr val="25374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D" sz="1400" b="0" i="0" dirty="0">
                                  <a:solidFill>
                                    <a:srgbClr val="25374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D" sz="1400" b="0" i="0" dirty="0">
                                  <a:solidFill>
                                    <a:srgbClr val="253746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ID" sz="1400" b="0" i="0" dirty="0">
                                  <a:solidFill>
                                    <a:srgbClr val="253746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ID" sz="1400" b="0" i="0" dirty="0">
                              <a:solidFill>
                                <a:srgbClr val="25374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D" sz="1400" b="0" i="0" dirty="0">
                                  <a:solidFill>
                                    <a:srgbClr val="25374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D" sz="1400" b="0" i="0" dirty="0">
                                  <a:solidFill>
                                    <a:srgbClr val="253746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ID" sz="1400" b="0" i="0" dirty="0">
                                  <a:solidFill>
                                    <a:srgbClr val="253746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ID" sz="1400" b="0" i="0" dirty="0">
                                  <a:solidFill>
                                    <a:srgbClr val="253746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D" sz="1400" b="0" i="0" dirty="0">
                                  <a:solidFill>
                                    <a:srgbClr val="25374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D" sz="1400" b="0" i="0" dirty="0">
                                  <a:solidFill>
                                    <a:srgbClr val="253746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ID" sz="1400" b="0" i="0" dirty="0">
                                  <a:solidFill>
                                    <a:srgbClr val="253746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ID" sz="1400" b="0" i="0" dirty="0">
                                  <a:solidFill>
                                    <a:srgbClr val="253746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ID" sz="1400" b="0" i="0" dirty="0">
                          <a:solidFill>
                            <a:srgbClr val="253746"/>
                          </a:solidFill>
                          <a:latin typeface="Cambria Math" panose="02040503050406030204" pitchFamily="18" charset="0"/>
                        </a:rPr>
                        <m:t>×100%</m:t>
                      </m:r>
                    </m:oMath>
                  </m:oMathPara>
                </a14:m>
                <a:endParaRPr sz="1400" b="0" i="0" dirty="0">
                  <a:solidFill>
                    <a:srgbClr val="253746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368" y="3273552"/>
                <a:ext cx="4828032" cy="513539"/>
              </a:xfrm>
              <a:prstGeom prst="rect">
                <a:avLst/>
              </a:prstGeom>
              <a:blipFill>
                <a:blip r:embed="rId2"/>
                <a:stretch>
                  <a:fillRect l="-63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ounded Rectangle 23"/>
          <p:cNvSpPr/>
          <p:nvPr/>
        </p:nvSpPr>
        <p:spPr>
          <a:xfrm>
            <a:off x="640080" y="4343400"/>
            <a:ext cx="10744200" cy="914400"/>
          </a:xfrm>
          <a:prstGeom prst="roundRect">
            <a:avLst>
              <a:gd name="adj" fmla="val 12000"/>
            </a:avLst>
          </a:prstGeom>
          <a:solidFill>
            <a:srgbClr val="EA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4648250"/>
            <a:ext cx="10195560" cy="30469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 dirty="0">
                <a:solidFill>
                  <a:srgbClr val="16324F"/>
                </a:solidFill>
                <a:latin typeface="Aptos"/>
              </a:rPr>
              <a:t>Status: </a:t>
            </a:r>
            <a:r>
              <a:rPr sz="1500" b="1" i="0" dirty="0" err="1">
                <a:solidFill>
                  <a:srgbClr val="16324F"/>
                </a:solidFill>
                <a:latin typeface="Aptos"/>
              </a:rPr>
              <a:t>indikator</a:t>
            </a:r>
            <a:r>
              <a:rPr sz="1500" b="1" i="0" dirty="0">
                <a:solidFill>
                  <a:srgbClr val="16324F"/>
                </a:solidFill>
                <a:latin typeface="Aptos"/>
              </a:rPr>
              <a:t> di </a:t>
            </a:r>
            <a:r>
              <a:rPr sz="1500" b="1" i="0" dirty="0" err="1">
                <a:solidFill>
                  <a:srgbClr val="16324F"/>
                </a:solidFill>
                <a:latin typeface="Aptos"/>
              </a:rPr>
              <a:t>atas</a:t>
            </a:r>
            <a:r>
              <a:rPr sz="1500" b="1" i="0" dirty="0">
                <a:solidFill>
                  <a:srgbClr val="16324F"/>
                </a:solidFill>
                <a:latin typeface="Aptos"/>
              </a:rPr>
              <a:t> </a:t>
            </a:r>
            <a:r>
              <a:rPr sz="1500" b="1" i="0" dirty="0" err="1">
                <a:solidFill>
                  <a:srgbClr val="16324F"/>
                </a:solidFill>
                <a:latin typeface="Aptos"/>
              </a:rPr>
              <a:t>adalah</a:t>
            </a:r>
            <a:r>
              <a:rPr sz="1500" b="1" i="0" dirty="0">
                <a:solidFill>
                  <a:srgbClr val="16324F"/>
                </a:solidFill>
                <a:latin typeface="Aptos"/>
              </a:rPr>
              <a:t> </a:t>
            </a:r>
            <a:r>
              <a:rPr sz="1500" b="1" i="0" dirty="0" err="1">
                <a:solidFill>
                  <a:srgbClr val="16324F"/>
                </a:solidFill>
                <a:latin typeface="Aptos"/>
              </a:rPr>
              <a:t>peluang</a:t>
            </a:r>
            <a:r>
              <a:rPr sz="1500" b="1" i="0" dirty="0">
                <a:solidFill>
                  <a:srgbClr val="16324F"/>
                </a:solidFill>
                <a:latin typeface="Aptos"/>
              </a:rPr>
              <a:t> </a:t>
            </a:r>
            <a:r>
              <a:rPr sz="1500" b="1" i="0" dirty="0" err="1">
                <a:solidFill>
                  <a:srgbClr val="16324F"/>
                </a:solidFill>
                <a:latin typeface="Aptos"/>
              </a:rPr>
              <a:t>pengembangan</a:t>
            </a:r>
            <a:r>
              <a:rPr sz="1500" b="1" i="0" dirty="0">
                <a:solidFill>
                  <a:srgbClr val="16324F"/>
                </a:solidFill>
                <a:latin typeface="Aptos"/>
              </a:rPr>
              <a:t>. </a:t>
            </a:r>
            <a:r>
              <a:rPr sz="1500" b="1" i="0" dirty="0" err="1">
                <a:solidFill>
                  <a:srgbClr val="16324F"/>
                </a:solidFill>
                <a:latin typeface="Aptos"/>
              </a:rPr>
              <a:t>Perhitungannya</a:t>
            </a:r>
            <a:r>
              <a:rPr sz="1500" b="1" i="0" dirty="0">
                <a:solidFill>
                  <a:srgbClr val="16324F"/>
                </a:solidFill>
                <a:latin typeface="Aptos"/>
              </a:rPr>
              <a:t> </a:t>
            </a:r>
            <a:r>
              <a:rPr sz="1500" b="1" i="0" dirty="0" err="1">
                <a:solidFill>
                  <a:srgbClr val="16324F"/>
                </a:solidFill>
                <a:latin typeface="Aptos"/>
              </a:rPr>
              <a:t>belum</a:t>
            </a:r>
            <a:r>
              <a:rPr sz="1500" b="1" i="0" dirty="0">
                <a:solidFill>
                  <a:srgbClr val="16324F"/>
                </a:solidFill>
                <a:latin typeface="Aptos"/>
              </a:rPr>
              <a:t> </a:t>
            </a:r>
            <a:r>
              <a:rPr sz="1500" b="1" i="0" dirty="0" err="1">
                <a:solidFill>
                  <a:srgbClr val="16324F"/>
                </a:solidFill>
                <a:latin typeface="Aptos"/>
              </a:rPr>
              <a:t>dilakukan</a:t>
            </a:r>
            <a:r>
              <a:rPr sz="1500" b="1" i="0" dirty="0">
                <a:solidFill>
                  <a:srgbClr val="16324F"/>
                </a:solidFill>
                <a:latin typeface="Aptos"/>
              </a:rPr>
              <a:t> </a:t>
            </a:r>
            <a:r>
              <a:rPr sz="1500" b="1" i="0" dirty="0" err="1">
                <a:solidFill>
                  <a:srgbClr val="16324F"/>
                </a:solidFill>
                <a:latin typeface="Aptos"/>
              </a:rPr>
              <a:t>dalam</a:t>
            </a:r>
            <a:r>
              <a:rPr sz="1500" b="1" i="0" dirty="0">
                <a:solidFill>
                  <a:srgbClr val="16324F"/>
                </a:solidFill>
                <a:latin typeface="Aptos"/>
              </a:rPr>
              <a:t> </a:t>
            </a:r>
            <a:r>
              <a:rPr sz="1500" b="1" i="0" dirty="0" err="1">
                <a:solidFill>
                  <a:srgbClr val="16324F"/>
                </a:solidFill>
                <a:latin typeface="Aptos"/>
              </a:rPr>
              <a:t>proyek</a:t>
            </a:r>
            <a:r>
              <a:rPr sz="1500" b="1" i="0" dirty="0">
                <a:solidFill>
                  <a:srgbClr val="16324F"/>
                </a:solidFill>
                <a:latin typeface="Aptos"/>
              </a:rPr>
              <a:t> </a:t>
            </a:r>
            <a:r>
              <a:rPr lang="en-US" sz="1500" b="1" i="0" dirty="0" err="1">
                <a:solidFill>
                  <a:srgbClr val="16324F"/>
                </a:solidFill>
                <a:latin typeface="Aptos"/>
              </a:rPr>
              <a:t>ini</a:t>
            </a:r>
            <a:endParaRPr sz="1500" b="1" i="0" dirty="0">
              <a:solidFill>
                <a:srgbClr val="16324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4864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900" b="1" dirty="0">
                <a:solidFill>
                  <a:srgbClr val="1976A8"/>
                </a:solidFill>
                <a:latin typeface="Aptos"/>
              </a:rPr>
              <a:t>10</a:t>
            </a:r>
            <a:r>
              <a:rPr sz="900" b="1" i="0" dirty="0">
                <a:solidFill>
                  <a:srgbClr val="1976A8"/>
                </a:solidFill>
                <a:latin typeface="Aptos"/>
              </a:rPr>
              <a:t>  |  PROJECT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324F"/>
                </a:solidFill>
                <a:latin typeface="Aptos"/>
              </a:rPr>
              <a:t>Hasil akhir: dataset siap untuk tahap analisis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2788920" cy="3474720"/>
          </a:xfrm>
          <a:prstGeom prst="roundRect">
            <a:avLst>
              <a:gd name="adj" fmla="val 12000"/>
            </a:avLst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2240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B9D6E6"/>
                </a:solidFill>
                <a:latin typeface="Aptos"/>
              </a:rPr>
              <a:t>GOLD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224028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ptos"/>
              </a:rPr>
              <a:t>486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22402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baris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224028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DCEAF2"/>
                </a:solidFill>
                <a:latin typeface="Aptos"/>
              </a:rPr>
              <a:t>27 wilayah
6 tahun (2021–2026)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26179" y="1303020"/>
            <a:ext cx="7543800" cy="35204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lide4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237" y="1325880"/>
            <a:ext cx="7011684" cy="347471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14400" y="5212079"/>
            <a:ext cx="2971800" cy="117042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97280" y="5664705"/>
            <a:ext cx="777240" cy="310896"/>
          </a:xfrm>
          <a:prstGeom prst="roundRect">
            <a:avLst>
              <a:gd name="adj" fmla="val 12000"/>
            </a:avLst>
          </a:prstGeom>
          <a:solidFill>
            <a:srgbClr val="FF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5683416"/>
            <a:ext cx="685800" cy="2277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 dirty="0">
                <a:solidFill>
                  <a:schemeClr val="accent6">
                    <a:lumMod val="75000"/>
                  </a:schemeClr>
                </a:solidFill>
                <a:latin typeface="Apto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RAW</a:t>
            </a:r>
            <a:endParaRPr sz="1000" b="1" i="0" dirty="0">
              <a:solidFill>
                <a:schemeClr val="accent6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996440" y="5379743"/>
            <a:ext cx="1737360" cy="9202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100" b="1" i="0" dirty="0">
                <a:solidFill>
                  <a:srgbClr val="16324F"/>
                </a:solidFill>
                <a:latin typeface="Aptos"/>
              </a:rPr>
              <a:t>Source Data &amp; Extraction</a:t>
            </a:r>
          </a:p>
          <a:p>
            <a:pPr algn="l">
              <a:spcAft>
                <a:spcPts val="0"/>
              </a:spcAft>
            </a:pPr>
            <a:r>
              <a:rPr lang="en-ID" sz="1100" i="0" dirty="0">
                <a:solidFill>
                  <a:srgbClr val="16324F"/>
                </a:solidFill>
                <a:latin typeface="Aptos"/>
              </a:rPr>
              <a:t>Data </a:t>
            </a:r>
            <a:r>
              <a:rPr lang="en-ID" sz="1100" i="0" dirty="0" err="1">
                <a:solidFill>
                  <a:srgbClr val="16324F"/>
                </a:solidFill>
                <a:latin typeface="Aptos"/>
              </a:rPr>
              <a:t>hasil</a:t>
            </a:r>
            <a:r>
              <a:rPr lang="en-ID" sz="1100" i="0" dirty="0">
                <a:solidFill>
                  <a:srgbClr val="16324F"/>
                </a:solidFill>
                <a:latin typeface="Aptos"/>
              </a:rPr>
              <a:t> </a:t>
            </a:r>
            <a:r>
              <a:rPr lang="en-ID" sz="1100" i="0" dirty="0" err="1">
                <a:solidFill>
                  <a:srgbClr val="16324F"/>
                </a:solidFill>
                <a:latin typeface="Aptos"/>
              </a:rPr>
              <a:t>pengambilan</a:t>
            </a:r>
            <a:r>
              <a:rPr lang="en-ID" sz="1100" i="0" dirty="0">
                <a:solidFill>
                  <a:srgbClr val="16324F"/>
                </a:solidFill>
                <a:latin typeface="Aptos"/>
              </a:rPr>
              <a:t> </a:t>
            </a:r>
            <a:r>
              <a:rPr lang="en-ID" sz="1100" i="0" dirty="0" err="1">
                <a:solidFill>
                  <a:srgbClr val="16324F"/>
                </a:solidFill>
                <a:latin typeface="Aptos"/>
              </a:rPr>
              <a:t>dari</a:t>
            </a:r>
            <a:r>
              <a:rPr lang="en-ID" sz="1100" i="0" dirty="0">
                <a:solidFill>
                  <a:srgbClr val="16324F"/>
                </a:solidFill>
                <a:latin typeface="Aptos"/>
              </a:rPr>
              <a:t> </a:t>
            </a:r>
            <a:r>
              <a:rPr lang="en-ID" sz="1100" i="0" dirty="0" err="1">
                <a:solidFill>
                  <a:srgbClr val="16324F"/>
                </a:solidFill>
                <a:latin typeface="Aptos"/>
              </a:rPr>
              <a:t>publikasi</a:t>
            </a:r>
            <a:r>
              <a:rPr lang="en-ID" sz="1100" i="0" dirty="0">
                <a:solidFill>
                  <a:srgbClr val="16324F"/>
                </a:solidFill>
                <a:latin typeface="Aptos"/>
              </a:rPr>
              <a:t> BPS, </a:t>
            </a:r>
            <a:r>
              <a:rPr lang="en-ID" sz="1100" i="0" dirty="0" err="1">
                <a:solidFill>
                  <a:srgbClr val="16324F"/>
                </a:solidFill>
                <a:latin typeface="Aptos"/>
              </a:rPr>
              <a:t>beserta</a:t>
            </a:r>
            <a:r>
              <a:rPr lang="en-ID" sz="1100" i="0" dirty="0">
                <a:solidFill>
                  <a:srgbClr val="16324F"/>
                </a:solidFill>
                <a:latin typeface="Aptos"/>
              </a:rPr>
              <a:t> </a:t>
            </a:r>
            <a:r>
              <a:rPr lang="en-ID" sz="1100" i="0" dirty="0" err="1">
                <a:solidFill>
                  <a:srgbClr val="16324F"/>
                </a:solidFill>
                <a:latin typeface="Aptos"/>
              </a:rPr>
              <a:t>referensi</a:t>
            </a:r>
            <a:r>
              <a:rPr lang="en-ID" sz="1100" i="0" dirty="0">
                <a:solidFill>
                  <a:srgbClr val="16324F"/>
                </a:solidFill>
                <a:latin typeface="Aptos"/>
              </a:rPr>
              <a:t> </a:t>
            </a:r>
            <a:r>
              <a:rPr lang="en-ID" sz="1100" i="0" dirty="0" err="1">
                <a:solidFill>
                  <a:srgbClr val="16324F"/>
                </a:solidFill>
                <a:latin typeface="Aptos"/>
              </a:rPr>
              <a:t>sumber</a:t>
            </a:r>
            <a:r>
              <a:rPr lang="en-ID" sz="1100" i="0" dirty="0">
                <a:solidFill>
                  <a:srgbClr val="16324F"/>
                </a:solidFill>
                <a:latin typeface="Aptos"/>
              </a:rPr>
              <a:t> yang </a:t>
            </a:r>
            <a:r>
              <a:rPr lang="en-ID" sz="1100" i="0" dirty="0" err="1">
                <a:solidFill>
                  <a:srgbClr val="16324F"/>
                </a:solidFill>
                <a:latin typeface="Aptos"/>
              </a:rPr>
              <a:t>digunakan</a:t>
            </a:r>
            <a:r>
              <a:rPr lang="en-ID" sz="1100" i="0" dirty="0">
                <a:solidFill>
                  <a:srgbClr val="16324F"/>
                </a:solidFill>
                <a:latin typeface="Aptos"/>
              </a:rPr>
              <a:t>.</a:t>
            </a:r>
            <a:endParaRPr sz="1100" i="0" dirty="0">
              <a:solidFill>
                <a:srgbClr val="16324F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72000" y="5212080"/>
            <a:ext cx="2971800" cy="11704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754880" y="5664705"/>
            <a:ext cx="777240" cy="310896"/>
          </a:xfrm>
          <a:prstGeom prst="roundRect">
            <a:avLst>
              <a:gd name="adj" fmla="val 12000"/>
            </a:avLst>
          </a:prstGeom>
          <a:solidFill>
            <a:srgbClr val="EA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00600" y="5683416"/>
            <a:ext cx="685800" cy="2277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 dirty="0">
                <a:solidFill>
                  <a:srgbClr val="1976A8"/>
                </a:solidFill>
                <a:latin typeface="Aptos"/>
                <a:hlinkClick r:id="rId4"/>
              </a:rPr>
              <a:t>GOLD</a:t>
            </a:r>
            <a:endParaRPr sz="1000" b="1" i="0" dirty="0">
              <a:solidFill>
                <a:srgbClr val="1976A8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23560" y="5271759"/>
            <a:ext cx="1920240" cy="108952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100" b="1" i="0" dirty="0">
                <a:solidFill>
                  <a:srgbClr val="16324F"/>
                </a:solidFill>
                <a:latin typeface="Aptos"/>
              </a:rPr>
              <a:t>Cleaned &amp; Standardized Dataset</a:t>
            </a:r>
          </a:p>
          <a:p>
            <a:pPr algn="l">
              <a:spcAft>
                <a:spcPts val="0"/>
              </a:spcAft>
            </a:pPr>
            <a:r>
              <a:rPr lang="en-ID" sz="1100" i="0" dirty="0">
                <a:solidFill>
                  <a:srgbClr val="16324F"/>
                </a:solidFill>
                <a:latin typeface="Aptos"/>
              </a:rPr>
              <a:t>Dataset final yang </a:t>
            </a:r>
            <a:r>
              <a:rPr lang="en-ID" sz="1100" i="0" dirty="0" err="1">
                <a:solidFill>
                  <a:srgbClr val="16324F"/>
                </a:solidFill>
                <a:latin typeface="Aptos"/>
              </a:rPr>
              <a:t>telah</a:t>
            </a:r>
            <a:r>
              <a:rPr lang="en-ID" sz="1100" i="0" dirty="0">
                <a:solidFill>
                  <a:srgbClr val="16324F"/>
                </a:solidFill>
                <a:latin typeface="Aptos"/>
              </a:rPr>
              <a:t> </a:t>
            </a:r>
            <a:r>
              <a:rPr lang="en-ID" sz="1100" i="0" dirty="0" err="1">
                <a:solidFill>
                  <a:srgbClr val="16324F"/>
                </a:solidFill>
                <a:latin typeface="Aptos"/>
              </a:rPr>
              <a:t>distandardisasi</a:t>
            </a:r>
            <a:r>
              <a:rPr lang="en-ID" sz="1100" i="0" dirty="0">
                <a:solidFill>
                  <a:srgbClr val="16324F"/>
                </a:solidFill>
                <a:latin typeface="Aptos"/>
              </a:rPr>
              <a:t>, </a:t>
            </a:r>
            <a:r>
              <a:rPr lang="en-ID" sz="1100" i="0" dirty="0" err="1">
                <a:solidFill>
                  <a:srgbClr val="16324F"/>
                </a:solidFill>
                <a:latin typeface="Aptos"/>
              </a:rPr>
              <a:t>dipetakan</a:t>
            </a:r>
            <a:r>
              <a:rPr lang="en-ID" sz="1100" i="0" dirty="0">
                <a:solidFill>
                  <a:srgbClr val="16324F"/>
                </a:solidFill>
                <a:latin typeface="Aptos"/>
              </a:rPr>
              <a:t> </a:t>
            </a:r>
            <a:r>
              <a:rPr lang="en-ID" sz="1100" i="0" dirty="0" err="1">
                <a:solidFill>
                  <a:srgbClr val="16324F"/>
                </a:solidFill>
                <a:latin typeface="Aptos"/>
              </a:rPr>
              <a:t>ke</a:t>
            </a:r>
            <a:r>
              <a:rPr lang="en-ID" sz="1100" i="0" dirty="0">
                <a:solidFill>
                  <a:srgbClr val="16324F"/>
                </a:solidFill>
                <a:latin typeface="Aptos"/>
              </a:rPr>
              <a:t> </a:t>
            </a:r>
            <a:r>
              <a:rPr lang="en-ID" sz="1100" i="0" dirty="0" err="1">
                <a:solidFill>
                  <a:srgbClr val="16324F"/>
                </a:solidFill>
                <a:latin typeface="Aptos"/>
              </a:rPr>
              <a:t>kode</a:t>
            </a:r>
            <a:r>
              <a:rPr lang="en-ID" sz="1100" i="0" dirty="0">
                <a:solidFill>
                  <a:srgbClr val="16324F"/>
                </a:solidFill>
                <a:latin typeface="Aptos"/>
              </a:rPr>
              <a:t> wilayah, dan </a:t>
            </a:r>
            <a:r>
              <a:rPr lang="en-ID" sz="1100" i="0" dirty="0" err="1">
                <a:solidFill>
                  <a:srgbClr val="16324F"/>
                </a:solidFill>
                <a:latin typeface="Aptos"/>
              </a:rPr>
              <a:t>diperiksa</a:t>
            </a:r>
            <a:r>
              <a:rPr lang="en-ID" sz="1100" i="0" dirty="0">
                <a:solidFill>
                  <a:srgbClr val="16324F"/>
                </a:solidFill>
                <a:latin typeface="Aptos"/>
              </a:rPr>
              <a:t> </a:t>
            </a:r>
            <a:r>
              <a:rPr lang="en-ID" sz="1100" i="0" dirty="0" err="1">
                <a:solidFill>
                  <a:srgbClr val="16324F"/>
                </a:solidFill>
                <a:latin typeface="Aptos"/>
              </a:rPr>
              <a:t>kualitasnya</a:t>
            </a:r>
            <a:r>
              <a:rPr lang="en-ID" sz="1100" i="0" dirty="0">
                <a:solidFill>
                  <a:srgbClr val="16324F"/>
                </a:solidFill>
                <a:latin typeface="Aptos"/>
              </a:rPr>
              <a:t>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5254657"/>
            <a:ext cx="2971800" cy="11704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12480" y="5664705"/>
            <a:ext cx="777240" cy="310896"/>
          </a:xfrm>
          <a:prstGeom prst="roundRect">
            <a:avLst>
              <a:gd name="adj" fmla="val 12000"/>
            </a:avLst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58200" y="5696709"/>
            <a:ext cx="68580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3856D"/>
                </a:solidFill>
                <a:latin typeface="Aptos"/>
              </a:rPr>
              <a:t>NEXT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1640" y="5610314"/>
            <a:ext cx="1737360" cy="4124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100" b="1" i="0" dirty="0" err="1">
                <a:solidFill>
                  <a:srgbClr val="16324F"/>
                </a:solidFill>
                <a:latin typeface="Aptos"/>
              </a:rPr>
              <a:t>Analisis</a:t>
            </a:r>
            <a:r>
              <a:rPr lang="en-ID" sz="1100" b="1" i="0" dirty="0">
                <a:solidFill>
                  <a:srgbClr val="16324F"/>
                </a:solidFill>
                <a:latin typeface="Aptos"/>
              </a:rPr>
              <a:t> </a:t>
            </a:r>
            <a:r>
              <a:rPr lang="en-ID" sz="1100" b="1" i="0" dirty="0" err="1">
                <a:solidFill>
                  <a:srgbClr val="16324F"/>
                </a:solidFill>
                <a:latin typeface="Aptos"/>
              </a:rPr>
              <a:t>indikator</a:t>
            </a:r>
            <a:r>
              <a:rPr lang="en-ID" sz="1100" b="1" i="0" dirty="0">
                <a:solidFill>
                  <a:srgbClr val="16324F"/>
                </a:solidFill>
                <a:latin typeface="Aptos"/>
              </a:rPr>
              <a:t> </a:t>
            </a:r>
            <a:r>
              <a:rPr lang="en-ID" sz="1100" b="1" i="0" dirty="0" err="1">
                <a:solidFill>
                  <a:srgbClr val="16324F"/>
                </a:solidFill>
                <a:latin typeface="Aptos"/>
              </a:rPr>
              <a:t>turunan</a:t>
            </a:r>
            <a:r>
              <a:rPr lang="en-ID" sz="1100" b="1" i="0" dirty="0">
                <a:solidFill>
                  <a:srgbClr val="16324F"/>
                </a:solidFill>
                <a:latin typeface="Aptos"/>
              </a:rPr>
              <a:t> dan </a:t>
            </a:r>
            <a:r>
              <a:rPr lang="en-ID" sz="1100" b="1" i="0" dirty="0" err="1">
                <a:solidFill>
                  <a:srgbClr val="16324F"/>
                </a:solidFill>
                <a:latin typeface="Aptos"/>
              </a:rPr>
              <a:t>visualisasi</a:t>
            </a:r>
            <a:r>
              <a:rPr lang="en-ID" sz="1100" b="1" i="0" dirty="0">
                <a:solidFill>
                  <a:srgbClr val="16324F"/>
                </a:solidFill>
                <a:latin typeface="Aptos"/>
              </a:rPr>
              <a:t> data.</a:t>
            </a:r>
            <a:endParaRPr sz="1100" b="1" i="0" dirty="0">
              <a:solidFill>
                <a:srgbClr val="16324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4864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900" b="1" dirty="0">
                <a:solidFill>
                  <a:srgbClr val="1976A8"/>
                </a:solidFill>
                <a:latin typeface="Aptos"/>
              </a:rPr>
              <a:t>11</a:t>
            </a:r>
            <a:r>
              <a:rPr sz="900" b="1" i="0" dirty="0">
                <a:solidFill>
                  <a:srgbClr val="1976A8"/>
                </a:solidFill>
                <a:latin typeface="Aptos"/>
              </a:rPr>
              <a:t>  | 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6324F"/>
                </a:solidFill>
                <a:latin typeface="Aptos"/>
              </a:rPr>
              <a:t>Kesimpulan, batasan, dan langkah berikutnya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42900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563624"/>
            <a:ext cx="304495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324F"/>
                </a:solidFill>
                <a:latin typeface="Aptos"/>
              </a:rPr>
              <a:t>Yang sudah dikerjakan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47672"/>
            <a:ext cx="3044952" cy="10741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 dirty="0">
                <a:solidFill>
                  <a:srgbClr val="253746"/>
                </a:solidFill>
                <a:latin typeface="Aptos"/>
              </a:rPr>
              <a:t>• </a:t>
            </a:r>
            <a:r>
              <a:rPr sz="1300" b="0" i="0" dirty="0" err="1">
                <a:solidFill>
                  <a:srgbClr val="253746"/>
                </a:solidFill>
                <a:latin typeface="Aptos"/>
              </a:rPr>
              <a:t>Pengumpulan</a:t>
            </a:r>
            <a:r>
              <a:rPr sz="1300" b="0" i="0" dirty="0">
                <a:solidFill>
                  <a:srgbClr val="253746"/>
                </a:solidFill>
                <a:latin typeface="Aptos"/>
              </a:rPr>
              <a:t> data BPS
• Cleaning dan </a:t>
            </a:r>
            <a:r>
              <a:rPr sz="1300" b="0" i="0" dirty="0" err="1">
                <a:solidFill>
                  <a:srgbClr val="253746"/>
                </a:solidFill>
                <a:latin typeface="Aptos"/>
              </a:rPr>
              <a:t>standardisasi</a:t>
            </a:r>
            <a:r>
              <a:rPr sz="1300" b="0" i="0" dirty="0">
                <a:solidFill>
                  <a:srgbClr val="253746"/>
                </a:solidFill>
                <a:latin typeface="Aptos"/>
              </a:rPr>
              <a:t>
• </a:t>
            </a:r>
            <a:r>
              <a:rPr sz="1300" b="0" i="0" dirty="0" err="1">
                <a:solidFill>
                  <a:srgbClr val="253746"/>
                </a:solidFill>
                <a:latin typeface="Aptos"/>
              </a:rPr>
              <a:t>Pemetaan</a:t>
            </a:r>
            <a:r>
              <a:rPr sz="13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253746"/>
                </a:solidFill>
                <a:latin typeface="Aptos"/>
              </a:rPr>
              <a:t>kode</a:t>
            </a:r>
            <a:r>
              <a:rPr sz="1300" b="0" i="0" dirty="0">
                <a:solidFill>
                  <a:srgbClr val="253746"/>
                </a:solidFill>
                <a:latin typeface="Aptos"/>
              </a:rPr>
              <a:t> wilayah
• </a:t>
            </a:r>
            <a:r>
              <a:rPr sz="1300" b="0" i="0" dirty="0" err="1">
                <a:solidFill>
                  <a:srgbClr val="253746"/>
                </a:solidFill>
                <a:latin typeface="Aptos"/>
              </a:rPr>
              <a:t>Penyusunan</a:t>
            </a:r>
            <a:r>
              <a:rPr sz="1300" b="0" i="0" dirty="0">
                <a:solidFill>
                  <a:srgbClr val="253746"/>
                </a:solidFill>
                <a:latin typeface="Aptos"/>
              </a:rPr>
              <a:t> </a:t>
            </a:r>
            <a:r>
              <a:rPr lang="en-US" sz="1300" b="0" i="0" dirty="0">
                <a:solidFill>
                  <a:srgbClr val="253746"/>
                </a:solidFill>
                <a:latin typeface="Aptos"/>
              </a:rPr>
              <a:t>dataset </a:t>
            </a:r>
            <a:r>
              <a:rPr sz="1300" b="0" i="0" dirty="0">
                <a:solidFill>
                  <a:srgbClr val="253746"/>
                </a:solidFill>
                <a:latin typeface="Aptos"/>
              </a:rPr>
              <a:t>GOLD + Q</a:t>
            </a:r>
            <a:r>
              <a:rPr lang="en-US" sz="1300" b="0" i="0" dirty="0">
                <a:solidFill>
                  <a:srgbClr val="253746"/>
                </a:solidFill>
                <a:latin typeface="Aptos"/>
              </a:rPr>
              <a:t>uality </a:t>
            </a:r>
            <a:r>
              <a:rPr sz="1300" b="0" i="0" dirty="0">
                <a:solidFill>
                  <a:srgbClr val="253746"/>
                </a:solidFill>
                <a:latin typeface="Aptos"/>
              </a:rPr>
              <a:t>C</a:t>
            </a:r>
            <a:r>
              <a:rPr lang="en-US" sz="1300" b="0" i="0" dirty="0">
                <a:solidFill>
                  <a:srgbClr val="253746"/>
                </a:solidFill>
                <a:latin typeface="Aptos"/>
              </a:rPr>
              <a:t>heck</a:t>
            </a:r>
            <a:endParaRPr sz="1300" b="0" i="0" dirty="0">
              <a:solidFill>
                <a:srgbClr val="253746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42900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563624"/>
            <a:ext cx="304495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324F"/>
                </a:solidFill>
                <a:latin typeface="Aptos"/>
              </a:rPr>
              <a:t>Batasan yang dicatat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947672"/>
            <a:ext cx="3044952" cy="1389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3746"/>
                </a:solidFill>
                <a:latin typeface="Aptos"/>
              </a:rPr>
              <a:t>• GOLD mencakup 2021–2026
• Luas wilayah bersifat tetap pada tiap wilayah
• Indikator turunan belum dihitung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17320"/>
            <a:ext cx="342900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8" y="1563624"/>
            <a:ext cx="304495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324F"/>
                </a:solidFill>
                <a:latin typeface="Aptos"/>
              </a:rPr>
              <a:t>Langkah berikutnya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1947672"/>
            <a:ext cx="3044952" cy="1389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53746"/>
                </a:solidFill>
                <a:latin typeface="Aptos"/>
              </a:rPr>
              <a:t>• Dokumentasi data dictionary
• Validasi silang sampel ke PDF
• Hitung indikator turunan
• Visualisasi tren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69080"/>
            <a:ext cx="109270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279392"/>
            <a:ext cx="10332720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6324F"/>
                </a:solidFill>
                <a:latin typeface="Aptos"/>
              </a:rPr>
              <a:t>Nilai utama proyek: dataset lebih terstruktur dan dapat ditelusuri, sehingga proses analisis berikutnya dapat dimulai dari data yang lebih konsisten.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69280"/>
            <a:ext cx="1051560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1" dirty="0">
                <a:solidFill>
                  <a:srgbClr val="1976A8"/>
                </a:solidFill>
                <a:latin typeface="Aptos"/>
              </a:rPr>
              <a:t>Data cleaning yang </a:t>
            </a:r>
            <a:r>
              <a:rPr sz="1200" b="1" i="1" dirty="0" err="1">
                <a:solidFill>
                  <a:srgbClr val="1976A8"/>
                </a:solidFill>
                <a:latin typeface="Aptos"/>
              </a:rPr>
              <a:t>baik</a:t>
            </a:r>
            <a:r>
              <a:rPr sz="1200" b="1" i="1" dirty="0">
                <a:solidFill>
                  <a:srgbClr val="1976A8"/>
                </a:solidFill>
                <a:latin typeface="Aptos"/>
              </a:rPr>
              <a:t> </a:t>
            </a:r>
            <a:r>
              <a:rPr sz="1200" b="1" i="1" dirty="0" err="1">
                <a:solidFill>
                  <a:srgbClr val="1976A8"/>
                </a:solidFill>
                <a:latin typeface="Aptos"/>
              </a:rPr>
              <a:t>tidak</a:t>
            </a:r>
            <a:r>
              <a:rPr sz="1200" b="1" i="1" dirty="0">
                <a:solidFill>
                  <a:srgbClr val="1976A8"/>
                </a:solidFill>
                <a:latin typeface="Aptos"/>
              </a:rPr>
              <a:t> </a:t>
            </a:r>
            <a:r>
              <a:rPr sz="1200" b="1" i="1" dirty="0" err="1">
                <a:solidFill>
                  <a:srgbClr val="1976A8"/>
                </a:solidFill>
                <a:latin typeface="Aptos"/>
              </a:rPr>
              <a:t>menghilangkan</a:t>
            </a:r>
            <a:r>
              <a:rPr sz="1200" b="1" i="1" dirty="0">
                <a:solidFill>
                  <a:srgbClr val="1976A8"/>
                </a:solidFill>
                <a:latin typeface="Aptos"/>
              </a:rPr>
              <a:t> </a:t>
            </a:r>
            <a:r>
              <a:rPr sz="1200" b="1" i="1" dirty="0" err="1">
                <a:solidFill>
                  <a:srgbClr val="1976A8"/>
                </a:solidFill>
                <a:latin typeface="Aptos"/>
              </a:rPr>
              <a:t>konteks</a:t>
            </a:r>
            <a:r>
              <a:rPr sz="1200" b="1" i="1" dirty="0">
                <a:solidFill>
                  <a:srgbClr val="1976A8"/>
                </a:solidFill>
                <a:latin typeface="Aptos"/>
              </a:rPr>
              <a:t> </a:t>
            </a:r>
            <a:r>
              <a:rPr sz="1200" b="1" i="1" dirty="0" err="1">
                <a:solidFill>
                  <a:srgbClr val="1976A8"/>
                </a:solidFill>
                <a:latin typeface="Aptos"/>
              </a:rPr>
              <a:t>sumber</a:t>
            </a:r>
            <a:r>
              <a:rPr lang="en-US" sz="1200" b="1" i="1" dirty="0">
                <a:solidFill>
                  <a:srgbClr val="1976A8"/>
                </a:solidFill>
                <a:latin typeface="Aptos"/>
              </a:rPr>
              <a:t>, </a:t>
            </a:r>
            <a:r>
              <a:rPr lang="en-US" sz="1200" b="1" i="1" dirty="0" err="1">
                <a:solidFill>
                  <a:srgbClr val="1976A8"/>
                </a:solidFill>
                <a:latin typeface="Aptos"/>
              </a:rPr>
              <a:t>tetapi</a:t>
            </a:r>
            <a:r>
              <a:rPr lang="en-US" sz="1200" b="1" i="1" dirty="0">
                <a:solidFill>
                  <a:srgbClr val="1976A8"/>
                </a:solidFill>
                <a:latin typeface="Aptos"/>
              </a:rPr>
              <a:t> </a:t>
            </a:r>
            <a:r>
              <a:rPr sz="1200" b="1" i="1" dirty="0" err="1">
                <a:solidFill>
                  <a:srgbClr val="1976A8"/>
                </a:solidFill>
                <a:latin typeface="Aptos"/>
              </a:rPr>
              <a:t>membuat</a:t>
            </a:r>
            <a:r>
              <a:rPr sz="1200" b="1" i="1" dirty="0">
                <a:solidFill>
                  <a:srgbClr val="1976A8"/>
                </a:solidFill>
                <a:latin typeface="Aptos"/>
              </a:rPr>
              <a:t> </a:t>
            </a:r>
            <a:r>
              <a:rPr sz="1200" b="1" i="1" dirty="0" err="1">
                <a:solidFill>
                  <a:srgbClr val="1976A8"/>
                </a:solidFill>
                <a:latin typeface="Aptos"/>
              </a:rPr>
              <a:t>konteks</a:t>
            </a:r>
            <a:r>
              <a:rPr sz="1200" b="1" i="1" dirty="0">
                <a:solidFill>
                  <a:srgbClr val="1976A8"/>
                </a:solidFill>
                <a:latin typeface="Aptos"/>
              </a:rPr>
              <a:t> </a:t>
            </a:r>
            <a:r>
              <a:rPr sz="1200" b="1" i="1" dirty="0" err="1">
                <a:solidFill>
                  <a:srgbClr val="1976A8"/>
                </a:solidFill>
                <a:latin typeface="Aptos"/>
              </a:rPr>
              <a:t>itu</a:t>
            </a:r>
            <a:r>
              <a:rPr sz="1200" b="1" i="1" dirty="0">
                <a:solidFill>
                  <a:srgbClr val="1976A8"/>
                </a:solidFill>
                <a:latin typeface="Aptos"/>
              </a:rPr>
              <a:t> </a:t>
            </a:r>
            <a:r>
              <a:rPr sz="1200" b="1" i="1" dirty="0" err="1">
                <a:solidFill>
                  <a:srgbClr val="1976A8"/>
                </a:solidFill>
                <a:latin typeface="Aptos"/>
              </a:rPr>
              <a:t>tetap</a:t>
            </a:r>
            <a:r>
              <a:rPr sz="1200" b="1" i="1" dirty="0">
                <a:solidFill>
                  <a:srgbClr val="1976A8"/>
                </a:solidFill>
                <a:latin typeface="Aptos"/>
              </a:rPr>
              <a:t> </a:t>
            </a:r>
            <a:r>
              <a:rPr sz="1200" b="1" i="1" dirty="0" err="1">
                <a:solidFill>
                  <a:srgbClr val="1976A8"/>
                </a:solidFill>
                <a:latin typeface="Aptos"/>
              </a:rPr>
              <a:t>bisa</a:t>
            </a:r>
            <a:r>
              <a:rPr sz="1200" b="1" i="1" dirty="0">
                <a:solidFill>
                  <a:srgbClr val="1976A8"/>
                </a:solidFill>
                <a:latin typeface="Aptos"/>
              </a:rPr>
              <a:t> </a:t>
            </a:r>
            <a:r>
              <a:rPr sz="1200" b="1" i="1" dirty="0" err="1">
                <a:solidFill>
                  <a:srgbClr val="1976A8"/>
                </a:solidFill>
                <a:latin typeface="Aptos"/>
              </a:rPr>
              <a:t>dilacak</a:t>
            </a:r>
            <a:r>
              <a:rPr sz="1200" b="1" i="1" dirty="0">
                <a:solidFill>
                  <a:srgbClr val="1976A8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6858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E5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6858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197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0704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ptos"/>
              </a:rPr>
              <a:t>FROM RAW DATA TO TRUSTWORTHY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240280"/>
            <a:ext cx="987552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DCEAF2"/>
                </a:solidFill>
                <a:latin typeface="Aptos"/>
              </a:rPr>
              <a:t>Data yang terstruktur dan terlacak sumbernya adalah fondasi analisis yang dapat dipercaya.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840480"/>
            <a:ext cx="2834640" cy="658368"/>
          </a:xfrm>
          <a:prstGeom prst="roundRect">
            <a:avLst>
              <a:gd name="adj" fmla="val 12000"/>
            </a:avLst>
          </a:prstGeom>
          <a:solidFill>
            <a:srgbClr val="24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4023360"/>
            <a:ext cx="26517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E58A2B"/>
                </a:solidFill>
                <a:latin typeface="Aptos"/>
              </a:rPr>
              <a:t>CLEAN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3840480"/>
            <a:ext cx="2834640" cy="658368"/>
          </a:xfrm>
          <a:prstGeom prst="roundRect">
            <a:avLst>
              <a:gd name="adj" fmla="val 12000"/>
            </a:avLst>
          </a:prstGeom>
          <a:solidFill>
            <a:srgbClr val="24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60520" y="4023360"/>
            <a:ext cx="26517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976A8"/>
                </a:solidFill>
                <a:latin typeface="Aptos"/>
              </a:rPr>
              <a:t>CONSISTENT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3840480"/>
            <a:ext cx="2834640" cy="658368"/>
          </a:xfrm>
          <a:prstGeom prst="roundRect">
            <a:avLst>
              <a:gd name="adj" fmla="val 12000"/>
            </a:avLst>
          </a:prstGeom>
          <a:solidFill>
            <a:srgbClr val="24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52360" y="4023360"/>
            <a:ext cx="26517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3856D"/>
                </a:solidFill>
                <a:latin typeface="Aptos"/>
              </a:rPr>
              <a:t>TRACEABLE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97880"/>
            <a:ext cx="9601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9D6E6"/>
                </a:solidFill>
                <a:latin typeface="Aptos"/>
              </a:rPr>
              <a:t>West Java Population Data Cleaning &amp; Standardization  |  Google Sheets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1174</Words>
  <Application>Microsoft Office PowerPoint</Application>
  <PresentationFormat>Widescreen</PresentationFormat>
  <Paragraphs>196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 Java Population Data Cleaning &amp; Standardization</dc:title>
  <dc:subject>Data cleaning portfolio project using Google Sheets and BPS West Java publications</dc:subject>
  <dc:creator>Wildan Amri</dc:creator>
  <cp:keywords>Data Cleaning, Google Sheets, BPS, Population, West Java, Data Analyst</cp:keywords>
  <dc:description>generated using python-pptx</dc:description>
  <cp:lastModifiedBy>Wildan Khoirul Amri</cp:lastModifiedBy>
  <cp:revision>6</cp:revision>
  <dcterms:created xsi:type="dcterms:W3CDTF">2013-01-27T09:14:16Z</dcterms:created>
  <dcterms:modified xsi:type="dcterms:W3CDTF">2026-10-27T08:27:31Z</dcterms:modified>
  <cp:category/>
</cp:coreProperties>
</file>